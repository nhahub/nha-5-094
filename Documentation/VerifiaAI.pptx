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7545a655854fcd" /><Relationship Type="http://schemas.openxmlformats.org/officeDocument/2006/relationships/extended-properties" Target="/docProps/app.xml" Id="R63d6b8db465f4a77" /><Relationship Type="http://schemas.openxmlformats.org/officeDocument/2006/relationships/officeDocument" Target="/ppt/presentation.xml" Id="R5114ea5061eb4d9a" /></Relationships>
</file>

<file path=ppt/presentation.xml><?xml version="1.0" encoding="utf-8"?>
<p:presentation xmlns:p="http://schemas.openxmlformats.org/presentationml/2006/main">
  <p:sldMasterIdLst>
    <p:sldMasterId xmlns:r="http://schemas.openxmlformats.org/officeDocument/2006/relationships" id="2147483648" r:id="Rc01d6b8f3d3f4f8d"/>
  </p:sldMasterIdLst>
  <p:notesMasterIdLst>
    <p:notesMasterId xmlns:r="http://schemas.openxmlformats.org/officeDocument/2006/relationships" r:id="Rd220442afa924b47"/>
  </p:notesMasterIdLst>
  <p:sldIdLst>
    <p:sldId xmlns:r="http://schemas.openxmlformats.org/officeDocument/2006/relationships" id="256" r:id="R6a654aaea2ba4637"/>
    <p:sldId xmlns:r="http://schemas.openxmlformats.org/officeDocument/2006/relationships" id="257" r:id="Rd8b9e251f84341af"/>
    <p:sldId xmlns:r="http://schemas.openxmlformats.org/officeDocument/2006/relationships" id="258" r:id="R4da0287d4700402c"/>
    <p:sldId xmlns:r="http://schemas.openxmlformats.org/officeDocument/2006/relationships" id="259" r:id="R49aec05c8eca4212"/>
    <p:sldId xmlns:r="http://schemas.openxmlformats.org/officeDocument/2006/relationships" id="260" r:id="R6e48b80421cf415f"/>
    <p:sldId xmlns:r="http://schemas.openxmlformats.org/officeDocument/2006/relationships" id="261" r:id="R4aeb148ec4464f2c"/>
    <p:sldId xmlns:r="http://schemas.openxmlformats.org/officeDocument/2006/relationships" id="262" r:id="Rdcc2516140b14a6f"/>
    <p:sldId xmlns:r="http://schemas.openxmlformats.org/officeDocument/2006/relationships" id="263" r:id="Rfe28d084e2f848ba"/>
    <p:sldId xmlns:r="http://schemas.openxmlformats.org/officeDocument/2006/relationships" id="264" r:id="R87de2839396b44e6"/>
    <p:sldId xmlns:r="http://schemas.openxmlformats.org/officeDocument/2006/relationships" id="265" r:id="R42aaa2ab41174c0b"/>
    <p:sldId xmlns:r="http://schemas.openxmlformats.org/officeDocument/2006/relationships" id="266" r:id="R77622597888948fd"/>
    <p:sldId xmlns:r="http://schemas.openxmlformats.org/officeDocument/2006/relationships" id="267" r:id="R977efc026e7e46e8"/>
    <p:sldId xmlns:r="http://schemas.openxmlformats.org/officeDocument/2006/relationships" id="268" r:id="R24289dae62cb47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f9e5256c9d4909" /><Relationship Type="http://schemas.openxmlformats.org/officeDocument/2006/relationships/slideMaster" Target="/ppt/slideMasters/slideMaster1.xml" Id="Rc01d6b8f3d3f4f8d" /><Relationship Type="http://schemas.openxmlformats.org/officeDocument/2006/relationships/notesMaster" Target="/ppt/notesMasters/notesMaster1.xml" Id="Rd220442afa924b47" /><Relationship Type="http://schemas.openxmlformats.org/officeDocument/2006/relationships/presProps" Target="/ppt/presProps.xml" Id="Raa0929ecad9c4e25" /><Relationship Type="http://schemas.openxmlformats.org/officeDocument/2006/relationships/tableStyles" Target="/ppt/tableStyles.xml" Id="Red0275528bad4a67" /><Relationship Type="http://schemas.openxmlformats.org/officeDocument/2006/relationships/slide" Target="/ppt/slides/slide1.xml" Id="R6a654aaea2ba4637" /><Relationship Type="http://schemas.openxmlformats.org/officeDocument/2006/relationships/slide" Target="/ppt/slides/slide2.xml" Id="Rd8b9e251f84341af" /><Relationship Type="http://schemas.openxmlformats.org/officeDocument/2006/relationships/slide" Target="/ppt/slides/slide3.xml" Id="R4da0287d4700402c" /><Relationship Type="http://schemas.openxmlformats.org/officeDocument/2006/relationships/slide" Target="/ppt/slides/slide4.xml" Id="R49aec05c8eca4212" /><Relationship Type="http://schemas.openxmlformats.org/officeDocument/2006/relationships/slide" Target="/ppt/slides/slide5.xml" Id="R6e48b80421cf415f" /><Relationship Type="http://schemas.openxmlformats.org/officeDocument/2006/relationships/slide" Target="/ppt/slides/slide6.xml" Id="R4aeb148ec4464f2c" /><Relationship Type="http://schemas.openxmlformats.org/officeDocument/2006/relationships/slide" Target="/ppt/slides/slide7.xml" Id="Rdcc2516140b14a6f" /><Relationship Type="http://schemas.openxmlformats.org/officeDocument/2006/relationships/slide" Target="/ppt/slides/slide8.xml" Id="Rfe28d084e2f848ba" /><Relationship Type="http://schemas.openxmlformats.org/officeDocument/2006/relationships/slide" Target="/ppt/slides/slide9.xml" Id="R87de2839396b44e6" /><Relationship Type="http://schemas.openxmlformats.org/officeDocument/2006/relationships/slide" Target="/ppt/slides/slide10.xml" Id="R42aaa2ab41174c0b" /><Relationship Type="http://schemas.openxmlformats.org/officeDocument/2006/relationships/slide" Target="/ppt/slides/slide11.xml" Id="R77622597888948fd" /><Relationship Type="http://schemas.openxmlformats.org/officeDocument/2006/relationships/slide" Target="/ppt/slides/slide12.xml" Id="R977efc026e7e46e8" /><Relationship Type="http://schemas.openxmlformats.org/officeDocument/2006/relationships/slide" Target="/ppt/slides/slide13.xml" Id="R24289dae62cb47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bfffad378d4e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8734b695f642a9" /><Relationship Type="http://schemas.openxmlformats.org/officeDocument/2006/relationships/notesMaster" Target="/ppt/notesMasters/notesMaster1.xml" Id="R98e3266956f540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fb44ccabe74007" /><Relationship Type="http://schemas.openxmlformats.org/officeDocument/2006/relationships/notesMaster" Target="/ppt/notesMasters/notesMaster1.xml" Id="R927bfdf3045247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34bbe8f0d141d1" /><Relationship Type="http://schemas.openxmlformats.org/officeDocument/2006/relationships/notesMaster" Target="/ppt/notesMasters/notesMaster1.xml" Id="R1c59444b3a6c49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46d8ec2e5144e2" /><Relationship Type="http://schemas.openxmlformats.org/officeDocument/2006/relationships/notesMaster" Target="/ppt/notesMasters/notesMaster1.xml" Id="R8aeb5aca5e8040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de8b73f34742c3" /><Relationship Type="http://schemas.openxmlformats.org/officeDocument/2006/relationships/notesMaster" Target="/ppt/notesMasters/notesMaster1.xml" Id="Re2a27a1663be48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c1526be7244412" /><Relationship Type="http://schemas.openxmlformats.org/officeDocument/2006/relationships/notesMaster" Target="/ppt/notesMasters/notesMaster1.xml" Id="R906f28daf27541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cd96a5629f4d2b" /><Relationship Type="http://schemas.openxmlformats.org/officeDocument/2006/relationships/notesMaster" Target="/ppt/notesMasters/notesMaster1.xml" Id="R9b63a8268ed34e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0b922d78d5414d" /><Relationship Type="http://schemas.openxmlformats.org/officeDocument/2006/relationships/notesMaster" Target="/ppt/notesMasters/notesMaster1.xml" Id="Rad116f4a6f0b4e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38d5afafdd4e17" /><Relationship Type="http://schemas.openxmlformats.org/officeDocument/2006/relationships/notesMaster" Target="/ppt/notesMasters/notesMaster1.xml" Id="R34110a42ba5444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f1972b7a364ece" /><Relationship Type="http://schemas.openxmlformats.org/officeDocument/2006/relationships/notesMaster" Target="/ppt/notesMasters/notesMaster1.xml" Id="Rc2cddf4086974b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9764842b0e42d2" /><Relationship Type="http://schemas.openxmlformats.org/officeDocument/2006/relationships/notesMaster" Target="/ppt/notesMasters/notesMaster1.xml" Id="R3b83e4131f7746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d3a920c47e420d" /><Relationship Type="http://schemas.openxmlformats.org/officeDocument/2006/relationships/notesMaster" Target="/ppt/notesMasters/notesMaster1.xml" Id="Rd3e4289d15db47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5d222c6e974c13" /><Relationship Type="http://schemas.openxmlformats.org/officeDocument/2006/relationships/notesMaster" Target="/ppt/notesMasters/notesMaster1.xml" Id="Rcf8a70e0cde74e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rather than a feature list. Organizations often rely on documents to make decisions, but reliable processing requires more than reading files: it requires combining evidence, applying checks, and handling exceptions. Ask: how can AI help while keeping the result explainable and controlled? Explain that the talk follows the reasoning behind Verifia.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scope clearly. Verifia targets case-based operations that gather evidence, check requirements, and route decisions. The pattern spans trade, procurement, finance, compliance, and insurance. Import/export is the demonstration process, not the whole product. Generic behavior comes from configuring process stages, requirements, rules, calculations, document schemas, and permitted tools in one shared platform. This is intentionally bounded: it is not a claim to automate every organizational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shipment as a concrete example. The purchase order, invoice, packing list, and internal inventory or payment records each describe part of the transaction. The operational task is to combine their claims and determine whether the case is complete and consistent. A single file rarely contains enough information to establish that.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fact can appear in different formats and locations. Verifia needs to normalize and structure values, but it also needs to retain source text and location. That provenance lets a reviewer check whether the system read the document correctly. We treat the source reference as part of the result, not optional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checks depend on one another. Comparisons rely on extraction; calculations rely on valid inputs and explicit rules; a next-step decision may rely on records and authority. Errors can cascade, while missing information can make later steps impossible. The architecture must therefore track dependencies and route unresolved issues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AI can help with variable wording and layouts. In the current document-processing foundation, the model adapter classifies files and extracts fields into configured schemas. The output includes confidence and citations to source blocks, which are then validated against schema and evidence requirements. This is a bounded model task. The automated tests use a deterministic fake adapter; live Ollama quality has not been evaluated on representative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reason to consider multiple agents is that interpreting documents, checking requirements, and choosing a valid workflow step are different responsibilities. Specialized roles can have explicit contracts and exchange structured results through shared case state or events. The number of agents should follow the actual division of work; agents without distinct contracts add overhead. In Verifia, this is the target design. Agent orchestration remains a proposal scaffold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Generative AI interprets varied content; the Tool Gateway controls permitted tool use; deterministic services perform checks that can be specified as rules or calculations; workflow validation controls state changes; human tasks handle exceptions and approvals. Evidence and events preserve the trace. The Tool Gateway and deterministic foundations are implemented. Agent-to-gateway integration is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discrepancy without inventing values. The invoice and purchase order totals are extracted with citations; a configured check compares them; the discrepancy is recorded alongside its evidence; and a pending document review task is created. The task is currently unassigned, so reviewer routing is future work. This avoids silently converting uncertain model output into a final business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contains configurable case and process foundations, workflow validation, rules, calculations, verification, and a policy-enforced Tool Gateway with execution records. Document uploads are versioned; processing includes parsers, OCR adapter contracts, configurable classification and extraction, citations, provenance, and review-task creation. The latest backend suite passed 63 tests. The document tests use generated fixtures and a deterministic fake adapter, so they validate contracts and behavior, not real-world model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candid about current limitations. The environment lacks the Tesseract executable, so OCR has been tested through a mocked adapter. Ollama has not been evaluated on representative files. Processing runs inline rather than on a durable worker queue. Agent orchestration is not integrated with the Tool Gateway. These items are needed to evaluate the target system, including quality, exception handling, and safe transitions.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question. Reliable automation must connect document understanding, evidence and validation, controlled tools and process state, and human judgment with an audit trail. Verifia gives AI a bounded interpretation role, deterministic services responsibility for configured checks, policy a role in tool control, and people a role in exception handling and approval. Invite discussion about the boundary between an AI recommendation and an authorized business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for questions about project scope, architecture, implementation phases, and current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6c313d25144e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651e5fc3b54419" /><Relationship Type="http://schemas.openxmlformats.org/officeDocument/2006/relationships/slideLayout" Target="/ppt/slideLayouts/slideLayout1.xml" Id="Rccdec997c9e84c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dec997c9e84c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6a90fcf8224f5b" /><Relationship Type="http://schemas.openxmlformats.org/officeDocument/2006/relationships/notesSlide" Target="/ppt/notesSlides/notesSlide1.xml" Id="Rac960ebaea8347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f26956ef034c94" /><Relationship Type="http://schemas.openxmlformats.org/officeDocument/2006/relationships/notesSlide" Target="/ppt/notesSlides/notesSlide2.xml" Id="Rf46edbd2e49a48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fd367dfbc54099" /><Relationship Type="http://schemas.openxmlformats.org/officeDocument/2006/relationships/notesSlide" Target="/ppt/notesSlides/notesSlide3.xml" Id="R4a60f44f26054b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5a85db0d014305" /><Relationship Type="http://schemas.openxmlformats.org/officeDocument/2006/relationships/notesSlide" Target="/ppt/notesSlides/notesSlide4.xml" Id="R9eae51c14ae84e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5285428fbc4def" /><Relationship Type="http://schemas.openxmlformats.org/officeDocument/2006/relationships/notesSlide" Target="/ppt/notesSlides/notesSlide5.xml" Id="R7211c8e3fdf842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b5fd347db24847" /><Relationship Type="http://schemas.openxmlformats.org/officeDocument/2006/relationships/notesSlide" Target="/ppt/notesSlides/notesSlide6.xml" Id="R2e2f042ae2c54a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0fcc358d194aa9" /><Relationship Type="http://schemas.openxmlformats.org/officeDocument/2006/relationships/notesSlide" Target="/ppt/notesSlides/notesSlide7.xml" Id="Raf919fe0f92647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e03a975bf74c63" /><Relationship Type="http://schemas.openxmlformats.org/officeDocument/2006/relationships/notesSlide" Target="/ppt/notesSlides/notesSlide8.xml" Id="R5d5a53a2d01e4e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73253385824ea2" /><Relationship Type="http://schemas.openxmlformats.org/officeDocument/2006/relationships/notesSlide" Target="/ppt/notesSlides/notesSlide9.xml" Id="Ra616c08a3d3b4a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5dac6c163f4800" /><Relationship Type="http://schemas.openxmlformats.org/officeDocument/2006/relationships/notesSlide" Target="/ppt/notesSlides/notesSlide10.xml" Id="Ra01b35e344684f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eb37c0e4a341c7" /><Relationship Type="http://schemas.openxmlformats.org/officeDocument/2006/relationships/notesSlide" Target="/ppt/notesSlides/notesSlide11.xml" Id="R1d855a1775524b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b4b1f6ae6048db" /><Relationship Type="http://schemas.openxmlformats.org/officeDocument/2006/relationships/notesSlide" Target="/ppt/notesSlides/notesSlide12.xml" Id="R0efb87855cd64c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011a0832924bdb" /><Relationship Type="http://schemas.openxmlformats.org/officeDocument/2006/relationships/notesSlide" Target="/ppt/notesSlides/notesSlide13.xml" Id="Rddbbdd18ebee4738" /></Relationships>
</file>

<file path=ppt/slides/slide1.xml><?xml version="1.0" encoding="utf-8"?>
<p:sld xmlns:p="http://schemas.openxmlformats.org/presentationml/2006/main">
  <p:cSld>
    <p:bg>
      <p:bgPr>
        <a:solidFill xmlns:a="http://schemas.openxmlformats.org/drawingml/2006/main">
          <a:srgbClr val="10263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B22357D-1340-4C55-A99E-C7AA248F23A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360245-7AA0-480F-83B7-49C184B70117}"/>
              </a:ext>
            </a:extLst>
          </p:cNvPr>
          <p:cNvSpPr>
            <a:spLocks xmlns:a="http://schemas.openxmlformats.org/drawingml/2006/main" noGrp="1"/>
          </p:cNvSpPr>
          <p:nvPr/>
        </p:nvSpPr>
        <p:spPr>
          <a:xfrm xmlns:a="http://schemas.openxmlformats.org/drawingml/2006/main">
            <a:off x="7810500" y="1619250"/>
            <a:ext cx="2857500" cy="819150"/>
          </a:xfrm>
          <a:prstGeom xmlns:a="http://schemas.openxmlformats.org/drawingml/2006/main" prst="roundRect">
            <a:avLst>
              <a:gd name="adj" fmla="val 20930"/>
            </a:avLst>
          </a:prstGeom>
          <a:solidFill xmlns:a="http://schemas.openxmlformats.org/drawingml/2006/main">
            <a:srgbClr val="173B55"/>
          </a:solidFill>
          <a:ln xmlns:a="http://schemas.openxmlformats.org/drawingml/2006/main" w="9525">
            <a:solidFill>
              <a:srgbClr val="356075"/>
            </a:solidFill>
            <a:prstDash val="solid"/>
          </a:ln>
        </p:spPr>
      </p:sp>
      <p:sp>
        <p:nvSpPr>
          <p:cNvPr id="3" name="">
            <a:extLst xmlns:a="http://schemas.openxmlformats.org/drawingml/2006/main">
              <a:ext uri="{FF2B5EF4-FFF2-40B4-BE49-F238E27FC236}">
                <a16:creationId xmlns:a16="http://schemas.microsoft.com/office/drawing/2014/main" id="{1C595C89-FE99-4E7E-8FD5-7FB544610084}"/>
              </a:ext>
            </a:extLst>
          </p:cNvPr>
          <p:cNvSpPr>
            <a:spLocks xmlns:a="http://schemas.openxmlformats.org/drawingml/2006/main" noGrp="1"/>
          </p:cNvSpPr>
          <p:nvPr/>
        </p:nvSpPr>
        <p:spPr>
          <a:xfrm xmlns:a="http://schemas.openxmlformats.org/drawingml/2006/main">
            <a:off x="8039100" y="17526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DOCUMENTS</a:t>
            </a:r>
          </a:p>
        </p:txBody>
      </p:sp>
      <p:sp>
        <p:nvSpPr>
          <p:cNvPr id="4" name="">
            <a:extLst xmlns:a="http://schemas.openxmlformats.org/drawingml/2006/main">
              <a:ext uri="{FF2B5EF4-FFF2-40B4-BE49-F238E27FC236}">
                <a16:creationId xmlns:a16="http://schemas.microsoft.com/office/drawing/2014/main" id="{C41B5DBD-5A5E-49D2-A1EB-9E430EB3ED38}"/>
              </a:ext>
            </a:extLst>
          </p:cNvPr>
          <p:cNvSpPr>
            <a:spLocks xmlns:a="http://schemas.openxmlformats.org/drawingml/2006/main" noGrp="1"/>
          </p:cNvSpPr>
          <p:nvPr/>
        </p:nvSpPr>
        <p:spPr>
          <a:xfrm xmlns:a="http://schemas.openxmlformats.org/drawingml/2006/main">
            <a:off x="8039100" y="1971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Evidence arrives</a:t>
            </a:r>
          </a:p>
        </p:txBody>
      </p:sp>
      <p:sp>
        <p:nvSpPr>
          <p:cNvPr id="5" name="">
            <a:extLst xmlns:a="http://schemas.openxmlformats.org/drawingml/2006/main">
              <a:ext uri="{FF2B5EF4-FFF2-40B4-BE49-F238E27FC236}">
                <a16:creationId xmlns:a16="http://schemas.microsoft.com/office/drawing/2014/main" id="{2F4EBA61-16C0-4E56-B7D8-644CBD955874}"/>
              </a:ext>
            </a:extLst>
          </p:cNvPr>
          <p:cNvSpPr>
            <a:spLocks xmlns:a="http://schemas.openxmlformats.org/drawingml/2006/main" noGrp="1"/>
          </p:cNvSpPr>
          <p:nvPr/>
        </p:nvSpPr>
        <p:spPr>
          <a:xfrm xmlns:a="http://schemas.openxmlformats.org/drawingml/2006/main">
            <a:off x="8334375" y="3019425"/>
            <a:ext cx="2857500" cy="819150"/>
          </a:xfrm>
          <a:prstGeom xmlns:a="http://schemas.openxmlformats.org/drawingml/2006/main" prst="roundRect">
            <a:avLst>
              <a:gd name="adj" fmla="val 20930"/>
            </a:avLst>
          </a:prstGeom>
          <a:solidFill xmlns:a="http://schemas.openxmlformats.org/drawingml/2006/main">
            <a:srgbClr val="173B55"/>
          </a:solidFill>
          <a:ln xmlns:a="http://schemas.openxmlformats.org/drawingml/2006/main" w="9525">
            <a:solidFill>
              <a:srgbClr val="356075"/>
            </a:solidFill>
            <a:prstDash val="solid"/>
          </a:ln>
        </p:spPr>
      </p:sp>
      <p:sp>
        <p:nvSpPr>
          <p:cNvPr id="6" name="">
            <a:extLst xmlns:a="http://schemas.openxmlformats.org/drawingml/2006/main">
              <a:ext uri="{FF2B5EF4-FFF2-40B4-BE49-F238E27FC236}">
                <a16:creationId xmlns:a16="http://schemas.microsoft.com/office/drawing/2014/main" id="{1237394E-B754-415D-9FAF-45B04999DB5B}"/>
              </a:ext>
            </a:extLst>
          </p:cNvPr>
          <p:cNvSpPr>
            <a:spLocks xmlns:a="http://schemas.openxmlformats.org/drawingml/2006/main" noGrp="1"/>
          </p:cNvSpPr>
          <p:nvPr/>
        </p:nvSpPr>
        <p:spPr>
          <a:xfrm xmlns:a="http://schemas.openxmlformats.org/drawingml/2006/main">
            <a:off x="8562975" y="3152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VERIFICATION</a:t>
            </a:r>
          </a:p>
        </p:txBody>
      </p:sp>
      <p:sp>
        <p:nvSpPr>
          <p:cNvPr id="7" name="">
            <a:extLst xmlns:a="http://schemas.openxmlformats.org/drawingml/2006/main">
              <a:ext uri="{FF2B5EF4-FFF2-40B4-BE49-F238E27FC236}">
                <a16:creationId xmlns:a16="http://schemas.microsoft.com/office/drawing/2014/main" id="{F93E3BBD-3C8A-4F20-B770-A51AEB51BAC9}"/>
              </a:ext>
            </a:extLst>
          </p:cNvPr>
          <p:cNvSpPr>
            <a:spLocks xmlns:a="http://schemas.openxmlformats.org/drawingml/2006/main" noGrp="1"/>
          </p:cNvSpPr>
          <p:nvPr/>
        </p:nvSpPr>
        <p:spPr>
          <a:xfrm xmlns:a="http://schemas.openxmlformats.org/drawingml/2006/main">
            <a:off x="8562975" y="3371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Claims are compared</a:t>
            </a:r>
          </a:p>
        </p:txBody>
      </p:sp>
      <p:sp>
        <p:nvSpPr>
          <p:cNvPr id="8" name="">
            <a:extLst xmlns:a="http://schemas.openxmlformats.org/drawingml/2006/main">
              <a:ext uri="{FF2B5EF4-FFF2-40B4-BE49-F238E27FC236}">
                <a16:creationId xmlns:a16="http://schemas.microsoft.com/office/drawing/2014/main" id="{0287F7B8-2981-4BF5-ABAE-1A50502A3E8B}"/>
              </a:ext>
            </a:extLst>
          </p:cNvPr>
          <p:cNvSpPr>
            <a:spLocks xmlns:a="http://schemas.openxmlformats.org/drawingml/2006/main" noGrp="1"/>
          </p:cNvSpPr>
          <p:nvPr/>
        </p:nvSpPr>
        <p:spPr>
          <a:xfrm xmlns:a="http://schemas.openxmlformats.org/drawingml/2006/main">
            <a:off x="7810500" y="4419600"/>
            <a:ext cx="2857500" cy="819150"/>
          </a:xfrm>
          <a:prstGeom xmlns:a="http://schemas.openxmlformats.org/drawingml/2006/main" prst="roundRect">
            <a:avLst>
              <a:gd name="adj" fmla="val 20930"/>
            </a:avLst>
          </a:prstGeom>
          <a:solidFill xmlns:a="http://schemas.openxmlformats.org/drawingml/2006/main">
            <a:srgbClr val="173B55"/>
          </a:solidFill>
          <a:ln xmlns:a="http://schemas.openxmlformats.org/drawingml/2006/main" w="9525">
            <a:solidFill>
              <a:srgbClr val="356075"/>
            </a:solidFill>
            <a:prstDash val="solid"/>
          </a:ln>
        </p:spPr>
      </p:sp>
      <p:sp>
        <p:nvSpPr>
          <p:cNvPr id="9" name="">
            <a:extLst xmlns:a="http://schemas.openxmlformats.org/drawingml/2006/main">
              <a:ext uri="{FF2B5EF4-FFF2-40B4-BE49-F238E27FC236}">
                <a16:creationId xmlns:a16="http://schemas.microsoft.com/office/drawing/2014/main" id="{2794409A-5018-461F-BB4F-B3A5C1E98F71}"/>
              </a:ext>
            </a:extLst>
          </p:cNvPr>
          <p:cNvSpPr>
            <a:spLocks xmlns:a="http://schemas.openxmlformats.org/drawingml/2006/main" noGrp="1"/>
          </p:cNvSpPr>
          <p:nvPr/>
        </p:nvSpPr>
        <p:spPr>
          <a:xfrm xmlns:a="http://schemas.openxmlformats.org/drawingml/2006/main">
            <a:off x="8039100" y="4552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4FFE2A6C-8043-47F4-BB59-1D4A336B5D14}"/>
              </a:ext>
            </a:extLst>
          </p:cNvPr>
          <p:cNvSpPr>
            <a:spLocks xmlns:a="http://schemas.openxmlformats.org/drawingml/2006/main" noGrp="1"/>
          </p:cNvSpPr>
          <p:nvPr/>
        </p:nvSpPr>
        <p:spPr>
          <a:xfrm xmlns:a="http://schemas.openxmlformats.org/drawingml/2006/main">
            <a:off x="8039100" y="47720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Action needs control</a:t>
            </a:r>
          </a:p>
        </p:txBody>
      </p:sp>
      <p:cxnSp>
        <p:nvCxnSpPr>
          <p:cNvPr id="31" name=""/>
          <p:cNvCxnSpPr>
            <a:stCxn xmlns:a="http://schemas.openxmlformats.org/drawingml/2006/main" id="2" idx="2"/>
            <a:endCxn xmlns:a="http://schemas.openxmlformats.org/drawingml/2006/main" id="5" idx="0"/>
          </p:cNvCxnSpPr>
          <p:nvPr/>
        </p:nvCxnSpPr>
        <p:spPr>
          <a:xfrm xmlns:a="http://schemas.openxmlformats.org/drawingml/2006/main">
            <a:off x="9239250" y="2438400"/>
            <a:ext cx="523875" cy="581025"/>
          </a:xfrm>
          <a:prstGeom xmlns:a="http://schemas.openxmlformats.org/drawingml/2006/main" prst="straightConnector1">
            <a:avLst/>
          </a:prstGeom>
          <a:ln xmlns:a="http://schemas.openxmlformats.org/drawingml/2006/main" w="28575">
            <a:solidFill>
              <a:srgbClr val="168C88"/>
            </a:solidFill>
            <a:prstDash val="solid"/>
            <a:tailEnd type="triangle" w="med" len="med"/>
          </a:ln>
        </p:spPr>
      </p:cxnSp>
      <p:cxnSp>
        <p:nvCxnSpPr>
          <p:cNvPr id="32" name=""/>
          <p:cNvCxnSpPr>
            <a:stCxn xmlns:a="http://schemas.openxmlformats.org/drawingml/2006/main" id="5" idx="2"/>
            <a:endCxn xmlns:a="http://schemas.openxmlformats.org/drawingml/2006/main" id="8" idx="0"/>
          </p:cNvCxnSpPr>
          <p:nvPr/>
        </p:nvCxnSpPr>
        <p:spPr>
          <a:xfrm xmlns:a="http://schemas.openxmlformats.org/drawingml/2006/main" flipH="1">
            <a:off x="9239250" y="3838575"/>
            <a:ext cx="523875" cy="581025"/>
          </a:xfrm>
          <a:prstGeom xmlns:a="http://schemas.openxmlformats.org/drawingml/2006/main" prst="straightConnector1">
            <a:avLst/>
          </a:prstGeom>
          <a:ln xmlns:a="http://schemas.openxmlformats.org/drawingml/2006/main" w="28575">
            <a:solidFill>
              <a:srgbClr val="168C88"/>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61B14D7C-A90A-40EC-892D-74102FFAF56B}"/>
              </a:ext>
            </a:extLst>
          </p:cNvPr>
          <p:cNvSpPr>
            <a:spLocks xmlns:a="http://schemas.openxmlformats.org/drawingml/2006/main" noGrp="1"/>
          </p:cNvSpPr>
          <p:nvPr/>
        </p:nvSpPr>
        <p:spPr>
          <a:xfrm xmlns:a="http://schemas.openxmlformats.org/drawingml/2006/main">
            <a:off x="685800" y="781050"/>
            <a:ext cx="1809750" cy="285750"/>
          </a:xfrm>
          <a:prstGeom xmlns:a="http://schemas.openxmlformats.org/drawingml/2006/main" prst="roundRect">
            <a:avLst>
              <a:gd name="adj" fmla="val 50000"/>
            </a:avLst>
          </a:prstGeom>
          <a:solidFill xmlns:a="http://schemas.openxmlformats.org/drawingml/2006/main">
            <a:srgbClr val="2144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448311-729A-441F-A9E7-93ADEA88E5A5}"/>
              </a:ext>
            </a:extLst>
          </p:cNvPr>
          <p:cNvSpPr>
            <a:spLocks xmlns:a="http://schemas.openxmlformats.org/drawingml/2006/main" noGrp="1"/>
          </p:cNvSpPr>
          <p:nvPr/>
        </p:nvSpPr>
        <p:spPr>
          <a:xfrm xmlns:a="http://schemas.openxmlformats.org/drawingml/2006/main">
            <a:off x="781050" y="800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THE PROBLEM FIRST</a:t>
            </a:r>
          </a:p>
        </p:txBody>
      </p:sp>
      <p:sp>
        <p:nvSpPr>
          <p:cNvPr id="15" name="">
            <a:extLst xmlns:a="http://schemas.openxmlformats.org/drawingml/2006/main">
              <a:ext uri="{FF2B5EF4-FFF2-40B4-BE49-F238E27FC236}">
                <a16:creationId xmlns:a16="http://schemas.microsoft.com/office/drawing/2014/main" id="{6869ABD8-6B6F-495C-9C05-633329D5E473}"/>
              </a:ext>
            </a:extLst>
          </p:cNvPr>
          <p:cNvSpPr>
            <a:spLocks xmlns:a="http://schemas.openxmlformats.org/drawingml/2006/main" noGrp="1"/>
          </p:cNvSpPr>
          <p:nvPr/>
        </p:nvSpPr>
        <p:spPr>
          <a:xfrm xmlns:a="http://schemas.openxmlformats.org/drawingml/2006/main">
            <a:off x="685800" y="1476375"/>
            <a:ext cx="6572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a:solidFill>
                  <a:srgbClr val="FFFFFF"/>
                </a:solidFill>
                <a:latin typeface="Arial"/>
                <a:ea typeface="Arial"/>
                <a:cs typeface="Arial"/>
              </a:defRPr>
            </a:pPr>
            <a:r>
              <a:rPr sz="3450" b="1">
                <a:solidFill>
                  <a:srgbClr val="FFFFFF"/>
                </a:solidFill>
                <a:latin typeface="Arial"/>
                <a:ea typeface="Arial"/>
                <a:cs typeface="Arial"/>
              </a:rPr>
              <a:t>Why is reliable</a:t>
            </a:r>
          </a:p>
          <a:p xmlns:a="http://schemas.openxmlformats.org/drawingml/2006/main">
            <a:pPr algn="l">
              <a:lnSpc>
                <a:spcPct val="98000"/>
              </a:lnSpc>
              <a:buNone/>
              <a:defRPr sz="3450" b="1">
                <a:solidFill>
                  <a:srgbClr val="FFFFFF"/>
                </a:solidFill>
                <a:latin typeface="Arial"/>
                <a:ea typeface="Arial"/>
                <a:cs typeface="Arial"/>
              </a:defRPr>
            </a:pPr>
            <a:r>
              <a:rPr sz="3450" b="1">
                <a:solidFill>
                  <a:srgbClr val="FFFFFF"/>
                </a:solidFill>
                <a:latin typeface="Arial"/>
                <a:ea typeface="Arial"/>
                <a:cs typeface="Arial"/>
              </a:rPr>
              <a:t>automation hard for</a:t>
            </a:r>
          </a:p>
          <a:p xmlns:a="http://schemas.openxmlformats.org/drawingml/2006/main">
            <a:pPr algn="l">
              <a:lnSpc>
                <a:spcPct val="98000"/>
              </a:lnSpc>
              <a:buNone/>
              <a:defRPr sz="3450" b="1">
                <a:solidFill>
                  <a:srgbClr val="FFFFFF"/>
                </a:solidFill>
                <a:latin typeface="Arial"/>
                <a:ea typeface="Arial"/>
                <a:cs typeface="Arial"/>
              </a:defRPr>
            </a:pPr>
            <a:r>
              <a:rPr sz="3450" b="1">
                <a:solidFill>
                  <a:srgbClr val="FFFFFF"/>
                </a:solidFill>
                <a:latin typeface="Arial"/>
                <a:ea typeface="Arial"/>
                <a:cs typeface="Arial"/>
              </a:rPr>
              <a:t>document-heavy</a:t>
            </a:r>
          </a:p>
          <a:p xmlns:a="http://schemas.openxmlformats.org/drawingml/2006/main">
            <a:pPr algn="l">
              <a:lnSpc>
                <a:spcPct val="98000"/>
              </a:lnSpc>
              <a:buNone/>
              <a:defRPr sz="3450" b="1">
                <a:solidFill>
                  <a:srgbClr val="FFFFFF"/>
                </a:solidFill>
                <a:latin typeface="Arial"/>
                <a:ea typeface="Arial"/>
                <a:cs typeface="Arial"/>
              </a:defRPr>
            </a:pPr>
            <a:r>
              <a:rPr sz="3450" b="1">
                <a:solidFill>
                  <a:srgbClr val="FFFFFF"/>
                </a:solidFill>
                <a:latin typeface="Arial"/>
                <a:ea typeface="Arial"/>
                <a:cs typeface="Arial"/>
              </a:rPr>
              <a:t>business processes?</a:t>
            </a:r>
          </a:p>
        </p:txBody>
      </p:sp>
      <p:sp>
        <p:nvSpPr>
          <p:cNvPr id="16" name="">
            <a:extLst xmlns:a="http://schemas.openxmlformats.org/drawingml/2006/main">
              <a:ext uri="{FF2B5EF4-FFF2-40B4-BE49-F238E27FC236}">
                <a16:creationId xmlns:a16="http://schemas.microsoft.com/office/drawing/2014/main" id="{2415E576-1B05-4A6A-B096-B58B13722284}"/>
              </a:ext>
            </a:extLst>
          </p:cNvPr>
          <p:cNvSpPr>
            <a:spLocks xmlns:a="http://schemas.openxmlformats.org/drawingml/2006/main" noGrp="1"/>
          </p:cNvSpPr>
          <p:nvPr/>
        </p:nvSpPr>
        <p:spPr>
          <a:xfrm xmlns:a="http://schemas.openxmlformats.org/drawingml/2006/main">
            <a:off x="723900" y="434340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0">
                <a:solidFill>
                  <a:srgbClr val="B6C9D1"/>
                </a:solidFill>
                <a:latin typeface="Arial"/>
                <a:ea typeface="Arial"/>
                <a:cs typeface="Arial"/>
              </a:defRPr>
            </a:pPr>
            <a:r>
              <a:rPr sz="1725" b="0">
                <a:solidFill>
                  <a:srgbClr val="B6C9D1"/>
                </a:solidFill>
                <a:latin typeface="Arial"/>
                <a:ea typeface="Arial"/>
                <a:cs typeface="Arial"/>
              </a:rPr>
              <a:t>Verifia: the problem-led design of an AI system</a:t>
            </a:r>
          </a:p>
        </p:txBody>
      </p:sp>
      <p:sp>
        <p:nvSpPr>
          <p:cNvPr id="17" name="">
            <a:extLst xmlns:a="http://schemas.openxmlformats.org/drawingml/2006/main">
              <a:ext uri="{FF2B5EF4-FFF2-40B4-BE49-F238E27FC236}">
                <a16:creationId xmlns:a16="http://schemas.microsoft.com/office/drawing/2014/main" id="{90DFD5CF-B88B-4293-8E05-9C779D5C759A}"/>
              </a:ext>
            </a:extLst>
          </p:cNvPr>
          <p:cNvSpPr>
            <a:spLocks xmlns:a="http://schemas.openxmlformats.org/drawingml/2006/main" noGrp="1"/>
          </p:cNvSpPr>
          <p:nvPr/>
        </p:nvSpPr>
        <p:spPr>
          <a:xfrm xmlns:a="http://schemas.openxmlformats.org/drawingml/2006/main">
            <a:off x="723900" y="5029200"/>
            <a:ext cx="800100" cy="381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405EA58-BAE0-4C4D-A935-D4AD519D46B2}"/>
              </a:ext>
            </a:extLst>
          </p:cNvPr>
          <p:cNvSpPr>
            <a:spLocks xmlns:a="http://schemas.openxmlformats.org/drawingml/2006/main" noGrp="1"/>
          </p:cNvSpPr>
          <p:nvPr/>
        </p:nvSpPr>
        <p:spPr>
          <a:xfrm xmlns:a="http://schemas.openxmlformats.org/drawingml/2006/main">
            <a:off x="723900" y="52578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Agentic AI and Generative AI Systems</a:t>
            </a:r>
          </a:p>
        </p:txBody>
      </p:sp>
      <p:sp>
        <p:nvSpPr>
          <p:cNvPr id="19" name="">
            <a:extLst xmlns:a="http://schemas.openxmlformats.org/drawingml/2006/main">
              <a:ext uri="{FF2B5EF4-FFF2-40B4-BE49-F238E27FC236}">
                <a16:creationId xmlns:a16="http://schemas.microsoft.com/office/drawing/2014/main" id="{68B093F2-29B7-4B0F-A73C-3E133B2E3938}"/>
              </a:ext>
            </a:extLst>
          </p:cNvPr>
          <p:cNvSpPr>
            <a:spLocks xmlns:a="http://schemas.openxmlformats.org/drawingml/2006/main" noGrp="1"/>
          </p:cNvSpPr>
          <p:nvPr/>
        </p:nvSpPr>
        <p:spPr>
          <a:xfrm xmlns:a="http://schemas.openxmlformats.org/drawingml/2006/main">
            <a:off x="723900" y="561975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B6C9D1"/>
                </a:solidFill>
                <a:latin typeface="Arial"/>
                <a:ea typeface="Arial"/>
                <a:cs typeface="Arial"/>
              </a:defRPr>
            </a:pPr>
            <a:r>
              <a:rPr sz="1125" b="0">
                <a:solidFill>
                  <a:srgbClr val="B6C9D1"/>
                </a:solidFill>
                <a:latin typeface="Arial"/>
                <a:ea typeface="Arial"/>
                <a:cs typeface="Arial"/>
              </a:rPr>
              <a:t>Presented by [Your name]  ·  [Instructor]  ·  [Date]</a:t>
            </a:r>
          </a:p>
        </p:txBody>
      </p:sp>
      <p:sp>
        <p:nvSpPr>
          <p:cNvPr id="20" name="">
            <a:extLst xmlns:a="http://schemas.openxmlformats.org/drawingml/2006/main">
              <a:ext uri="{FF2B5EF4-FFF2-40B4-BE49-F238E27FC236}">
                <a16:creationId xmlns:a16="http://schemas.microsoft.com/office/drawing/2014/main" id="{99CF5CFF-A15A-48C0-A454-DB2F4B01254F}"/>
              </a:ext>
            </a:extLst>
          </p:cNvPr>
          <p:cNvSpPr>
            <a:spLocks xmlns:a="http://schemas.openxmlformats.org/drawingml/2006/main" noGrp="1"/>
          </p:cNvSpPr>
          <p:nvPr/>
        </p:nvSpPr>
        <p:spPr>
          <a:xfrm xmlns:a="http://schemas.openxmlformats.org/drawingml/2006/main">
            <a:off x="723900" y="64579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B6C9D1"/>
                </a:solidFill>
                <a:latin typeface="Arial"/>
                <a:ea typeface="Arial"/>
                <a:cs typeface="Arial"/>
              </a:defRPr>
            </a:pPr>
            <a:r>
              <a:rPr sz="975" b="0">
                <a:solidFill>
                  <a:srgbClr val="B6C9D1"/>
                </a:solidFill>
                <a:latin typeface="Arial"/>
                <a:ea typeface="Arial"/>
                <a:cs typeface="Arial"/>
              </a:rPr>
              <a:t>A 12–15 minute project story</a:t>
            </a:r>
          </a:p>
        </p:txBody>
      </p:sp>
    </p:spTree>
    <p:extLst>
      <p:ext uri="{BB962C8B-B14F-4D97-AF65-F5344CB8AC3E}">
        <p14:creationId xmlns:p14="http://schemas.microsoft.com/office/powerpoint/2010/main" val="119080910"/>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2B0C9DD-DCFE-4774-8D0A-F13EC965C66A}"/>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01  /  PROBLEM &amp; SCOPE</a:t>
            </a:r>
          </a:p>
        </p:txBody>
      </p:sp>
      <p:sp>
        <p:nvSpPr>
          <p:cNvPr id="2" name="">
            <a:extLst xmlns:a="http://schemas.openxmlformats.org/drawingml/2006/main">
              <a:ext uri="{FF2B5EF4-FFF2-40B4-BE49-F238E27FC236}">
                <a16:creationId xmlns:a16="http://schemas.microsoft.com/office/drawing/2014/main" id="{0B766732-0D07-46FF-9B07-478B618FF4E3}"/>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One pattern appears across many business domains</a:t>
            </a:r>
          </a:p>
        </p:txBody>
      </p:sp>
      <p:sp>
        <p:nvSpPr>
          <p:cNvPr id="3" name="">
            <a:extLst xmlns:a="http://schemas.openxmlformats.org/drawingml/2006/main">
              <a:ext uri="{FF2B5EF4-FFF2-40B4-BE49-F238E27FC236}">
                <a16:creationId xmlns:a16="http://schemas.microsoft.com/office/drawing/2014/main" id="{63CAA168-16E8-4927-8330-D2BB5206E304}"/>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FBA745-E28E-4AAD-A8C6-7F2969318FD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5D3A5F-B3D2-4D45-AB92-51CF70145792}"/>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8E117EBD-EC22-41EE-A83D-BFA487C78C51}"/>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A150A1B-E872-4C06-BC31-F27DD51BEA19}"/>
              </a:ext>
            </a:extLst>
          </p:cNvPr>
          <p:cNvSpPr>
            <a:spLocks xmlns:a="http://schemas.openxmlformats.org/drawingml/2006/main" noGrp="1"/>
          </p:cNvSpPr>
          <p:nvPr/>
        </p:nvSpPr>
        <p:spPr>
          <a:xfrm xmlns:a="http://schemas.openxmlformats.org/drawingml/2006/main">
            <a:off x="647700" y="149542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5E6C74"/>
                </a:solidFill>
                <a:latin typeface="Arial"/>
                <a:ea typeface="Arial"/>
                <a:cs typeface="Arial"/>
              </a:defRPr>
            </a:pPr>
            <a:r>
              <a:rPr sz="1425" b="0">
                <a:solidFill>
                  <a:srgbClr val="5E6C74"/>
                </a:solidFill>
                <a:latin typeface="Arial"/>
                <a:ea typeface="Arial"/>
                <a:cs typeface="Arial"/>
              </a:rPr>
              <a:t>Verifia focuses on evidence-driven processes where a case must be assembled, checked, and routed.</a:t>
            </a:r>
          </a:p>
        </p:txBody>
      </p:sp>
      <p:sp>
        <p:nvSpPr>
          <p:cNvPr id="8" name="">
            <a:extLst xmlns:a="http://schemas.openxmlformats.org/drawingml/2006/main">
              <a:ext uri="{FF2B5EF4-FFF2-40B4-BE49-F238E27FC236}">
                <a16:creationId xmlns:a16="http://schemas.microsoft.com/office/drawing/2014/main" id="{2A6EF484-6E5C-4F8C-A324-5560D027A2E3}"/>
              </a:ext>
            </a:extLst>
          </p:cNvPr>
          <p:cNvSpPr>
            <a:spLocks xmlns:a="http://schemas.openxmlformats.org/drawingml/2006/main" noGrp="1"/>
          </p:cNvSpPr>
          <p:nvPr/>
        </p:nvSpPr>
        <p:spPr>
          <a:xfrm xmlns:a="http://schemas.openxmlformats.org/drawingml/2006/main">
            <a:off x="647700" y="2124075"/>
            <a:ext cx="19431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D8DFDF"/>
            </a:solidFill>
            <a:prstDash val="solid"/>
          </a:ln>
        </p:spPr>
      </p:sp>
      <p:sp>
        <p:nvSpPr>
          <p:cNvPr id="9" name="">
            <a:extLst xmlns:a="http://schemas.openxmlformats.org/drawingml/2006/main">
              <a:ext uri="{FF2B5EF4-FFF2-40B4-BE49-F238E27FC236}">
                <a16:creationId xmlns:a16="http://schemas.microsoft.com/office/drawing/2014/main" id="{4C250C56-72EE-4157-AAE8-896F8DA186A6}"/>
              </a:ext>
            </a:extLst>
          </p:cNvPr>
          <p:cNvSpPr>
            <a:spLocks xmlns:a="http://schemas.openxmlformats.org/drawingml/2006/main" noGrp="1"/>
          </p:cNvSpPr>
          <p:nvPr/>
        </p:nvSpPr>
        <p:spPr>
          <a:xfrm xmlns:a="http://schemas.openxmlformats.org/drawingml/2006/main">
            <a:off x="819150" y="2238375"/>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F8C9B801-33A4-4A8C-9D90-B510D8569E02}"/>
              </a:ext>
            </a:extLst>
          </p:cNvPr>
          <p:cNvSpPr>
            <a:spLocks xmlns:a="http://schemas.openxmlformats.org/drawingml/2006/main" noGrp="1"/>
          </p:cNvSpPr>
          <p:nvPr/>
        </p:nvSpPr>
        <p:spPr>
          <a:xfrm xmlns:a="http://schemas.openxmlformats.org/drawingml/2006/main">
            <a:off x="819150" y="24479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TRADE</a:t>
            </a:r>
          </a:p>
        </p:txBody>
      </p:sp>
      <p:sp>
        <p:nvSpPr>
          <p:cNvPr id="11" name="">
            <a:extLst xmlns:a="http://schemas.openxmlformats.org/drawingml/2006/main">
              <a:ext uri="{FF2B5EF4-FFF2-40B4-BE49-F238E27FC236}">
                <a16:creationId xmlns:a16="http://schemas.microsoft.com/office/drawing/2014/main" id="{3A08F58F-971F-4E78-B248-3DE23C82B3CC}"/>
              </a:ext>
            </a:extLst>
          </p:cNvPr>
          <p:cNvSpPr>
            <a:spLocks xmlns:a="http://schemas.openxmlformats.org/drawingml/2006/main" noGrp="1"/>
          </p:cNvSpPr>
          <p:nvPr/>
        </p:nvSpPr>
        <p:spPr>
          <a:xfrm xmlns:a="http://schemas.openxmlformats.org/drawingml/2006/main">
            <a:off x="819150" y="28289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Import / export</a:t>
            </a:r>
          </a:p>
        </p:txBody>
      </p:sp>
      <p:sp>
        <p:nvSpPr>
          <p:cNvPr id="12" name="">
            <a:extLst xmlns:a="http://schemas.openxmlformats.org/drawingml/2006/main">
              <a:ext uri="{FF2B5EF4-FFF2-40B4-BE49-F238E27FC236}">
                <a16:creationId xmlns:a16="http://schemas.microsoft.com/office/drawing/2014/main" id="{B81BF2ED-4A48-4B2E-8433-03E89A12FABD}"/>
              </a:ext>
            </a:extLst>
          </p:cNvPr>
          <p:cNvSpPr>
            <a:spLocks xmlns:a="http://schemas.openxmlformats.org/drawingml/2006/main" noGrp="1"/>
          </p:cNvSpPr>
          <p:nvPr/>
        </p:nvSpPr>
        <p:spPr>
          <a:xfrm xmlns:a="http://schemas.openxmlformats.org/drawingml/2006/main">
            <a:off x="2781300" y="2124075"/>
            <a:ext cx="19431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D8DFDF"/>
            </a:solidFill>
            <a:prstDash val="solid"/>
          </a:ln>
        </p:spPr>
      </p:sp>
      <p:sp>
        <p:nvSpPr>
          <p:cNvPr id="13" name="">
            <a:extLst xmlns:a="http://schemas.openxmlformats.org/drawingml/2006/main">
              <a:ext uri="{FF2B5EF4-FFF2-40B4-BE49-F238E27FC236}">
                <a16:creationId xmlns:a16="http://schemas.microsoft.com/office/drawing/2014/main" id="{B1322874-4A92-4723-88BE-536FD11A15C9}"/>
              </a:ext>
            </a:extLst>
          </p:cNvPr>
          <p:cNvSpPr>
            <a:spLocks xmlns:a="http://schemas.openxmlformats.org/drawingml/2006/main" noGrp="1"/>
          </p:cNvSpPr>
          <p:nvPr/>
        </p:nvSpPr>
        <p:spPr>
          <a:xfrm xmlns:a="http://schemas.openxmlformats.org/drawingml/2006/main">
            <a:off x="2952750" y="2238375"/>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49E119F7-7D87-40B4-9BF5-5037A30CC098}"/>
              </a:ext>
            </a:extLst>
          </p:cNvPr>
          <p:cNvSpPr>
            <a:spLocks xmlns:a="http://schemas.openxmlformats.org/drawingml/2006/main" noGrp="1"/>
          </p:cNvSpPr>
          <p:nvPr/>
        </p:nvSpPr>
        <p:spPr>
          <a:xfrm xmlns:a="http://schemas.openxmlformats.org/drawingml/2006/main">
            <a:off x="2952750" y="24479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FINANCE</a:t>
            </a:r>
          </a:p>
        </p:txBody>
      </p:sp>
      <p:sp>
        <p:nvSpPr>
          <p:cNvPr id="15" name="">
            <a:extLst xmlns:a="http://schemas.openxmlformats.org/drawingml/2006/main">
              <a:ext uri="{FF2B5EF4-FFF2-40B4-BE49-F238E27FC236}">
                <a16:creationId xmlns:a16="http://schemas.microsoft.com/office/drawing/2014/main" id="{660B8B03-FA3B-47FD-95DD-17C128537A3D}"/>
              </a:ext>
            </a:extLst>
          </p:cNvPr>
          <p:cNvSpPr>
            <a:spLocks xmlns:a="http://schemas.openxmlformats.org/drawingml/2006/main" noGrp="1"/>
          </p:cNvSpPr>
          <p:nvPr/>
        </p:nvSpPr>
        <p:spPr>
          <a:xfrm xmlns:a="http://schemas.openxmlformats.org/drawingml/2006/main">
            <a:off x="2952750" y="28289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Invoice review</a:t>
            </a:r>
          </a:p>
        </p:txBody>
      </p:sp>
      <p:sp>
        <p:nvSpPr>
          <p:cNvPr id="16" name="">
            <a:extLst xmlns:a="http://schemas.openxmlformats.org/drawingml/2006/main">
              <a:ext uri="{FF2B5EF4-FFF2-40B4-BE49-F238E27FC236}">
                <a16:creationId xmlns:a16="http://schemas.microsoft.com/office/drawing/2014/main" id="{5D4F45BE-BEEF-4C1D-A35A-CDCFF4C1209D}"/>
              </a:ext>
            </a:extLst>
          </p:cNvPr>
          <p:cNvSpPr>
            <a:spLocks xmlns:a="http://schemas.openxmlformats.org/drawingml/2006/main" noGrp="1"/>
          </p:cNvSpPr>
          <p:nvPr/>
        </p:nvSpPr>
        <p:spPr>
          <a:xfrm xmlns:a="http://schemas.openxmlformats.org/drawingml/2006/main">
            <a:off x="4914900" y="2124075"/>
            <a:ext cx="19431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D8DFDF"/>
            </a:solidFill>
            <a:prstDash val="solid"/>
          </a:ln>
        </p:spPr>
      </p:sp>
      <p:sp>
        <p:nvSpPr>
          <p:cNvPr id="17" name="">
            <a:extLst xmlns:a="http://schemas.openxmlformats.org/drawingml/2006/main">
              <a:ext uri="{FF2B5EF4-FFF2-40B4-BE49-F238E27FC236}">
                <a16:creationId xmlns:a16="http://schemas.microsoft.com/office/drawing/2014/main" id="{C0F241C2-DA07-479A-8547-73A0B483C68A}"/>
              </a:ext>
            </a:extLst>
          </p:cNvPr>
          <p:cNvSpPr>
            <a:spLocks xmlns:a="http://schemas.openxmlformats.org/drawingml/2006/main" noGrp="1"/>
          </p:cNvSpPr>
          <p:nvPr/>
        </p:nvSpPr>
        <p:spPr>
          <a:xfrm xmlns:a="http://schemas.openxmlformats.org/drawingml/2006/main">
            <a:off x="5086350" y="2238375"/>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979E8C72-818D-4723-BCC4-5F396CC134F1}"/>
              </a:ext>
            </a:extLst>
          </p:cNvPr>
          <p:cNvSpPr>
            <a:spLocks xmlns:a="http://schemas.openxmlformats.org/drawingml/2006/main" noGrp="1"/>
          </p:cNvSpPr>
          <p:nvPr/>
        </p:nvSpPr>
        <p:spPr>
          <a:xfrm xmlns:a="http://schemas.openxmlformats.org/drawingml/2006/main">
            <a:off x="5086350" y="24479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PROCUREMENT</a:t>
            </a:r>
          </a:p>
        </p:txBody>
      </p:sp>
      <p:sp>
        <p:nvSpPr>
          <p:cNvPr id="19" name="">
            <a:extLst xmlns:a="http://schemas.openxmlformats.org/drawingml/2006/main">
              <a:ext uri="{FF2B5EF4-FFF2-40B4-BE49-F238E27FC236}">
                <a16:creationId xmlns:a16="http://schemas.microsoft.com/office/drawing/2014/main" id="{1997B124-B8A9-4DE5-8868-7A489E1A6878}"/>
              </a:ext>
            </a:extLst>
          </p:cNvPr>
          <p:cNvSpPr>
            <a:spLocks xmlns:a="http://schemas.openxmlformats.org/drawingml/2006/main" noGrp="1"/>
          </p:cNvSpPr>
          <p:nvPr/>
        </p:nvSpPr>
        <p:spPr>
          <a:xfrm xmlns:a="http://schemas.openxmlformats.org/drawingml/2006/main">
            <a:off x="5086350" y="28289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Order matching</a:t>
            </a:r>
          </a:p>
        </p:txBody>
      </p:sp>
      <p:sp>
        <p:nvSpPr>
          <p:cNvPr id="20" name="">
            <a:extLst xmlns:a="http://schemas.openxmlformats.org/drawingml/2006/main">
              <a:ext uri="{FF2B5EF4-FFF2-40B4-BE49-F238E27FC236}">
                <a16:creationId xmlns:a16="http://schemas.microsoft.com/office/drawing/2014/main" id="{FB7762DA-717C-44B5-8A6A-8952F0D4CADF}"/>
              </a:ext>
            </a:extLst>
          </p:cNvPr>
          <p:cNvSpPr>
            <a:spLocks xmlns:a="http://schemas.openxmlformats.org/drawingml/2006/main" noGrp="1"/>
          </p:cNvSpPr>
          <p:nvPr/>
        </p:nvSpPr>
        <p:spPr>
          <a:xfrm xmlns:a="http://schemas.openxmlformats.org/drawingml/2006/main">
            <a:off x="7048500" y="2124075"/>
            <a:ext cx="19431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D8DFDF"/>
            </a:solidFill>
            <a:prstDash val="solid"/>
          </a:ln>
        </p:spPr>
      </p:sp>
      <p:sp>
        <p:nvSpPr>
          <p:cNvPr id="21" name="">
            <a:extLst xmlns:a="http://schemas.openxmlformats.org/drawingml/2006/main">
              <a:ext uri="{FF2B5EF4-FFF2-40B4-BE49-F238E27FC236}">
                <a16:creationId xmlns:a16="http://schemas.microsoft.com/office/drawing/2014/main" id="{D106D6DA-84B7-4FAA-8DC6-AEFCC33067E9}"/>
              </a:ext>
            </a:extLst>
          </p:cNvPr>
          <p:cNvSpPr>
            <a:spLocks xmlns:a="http://schemas.openxmlformats.org/drawingml/2006/main" noGrp="1"/>
          </p:cNvSpPr>
          <p:nvPr/>
        </p:nvSpPr>
        <p:spPr>
          <a:xfrm xmlns:a="http://schemas.openxmlformats.org/drawingml/2006/main">
            <a:off x="7219950" y="2238375"/>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54BB60C1-32F9-4DE5-8F97-143DA9AEB145}"/>
              </a:ext>
            </a:extLst>
          </p:cNvPr>
          <p:cNvSpPr>
            <a:spLocks xmlns:a="http://schemas.openxmlformats.org/drawingml/2006/main" noGrp="1"/>
          </p:cNvSpPr>
          <p:nvPr/>
        </p:nvSpPr>
        <p:spPr>
          <a:xfrm xmlns:a="http://schemas.openxmlformats.org/drawingml/2006/main">
            <a:off x="7219950" y="24479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COMPLIANCE</a:t>
            </a:r>
          </a:p>
        </p:txBody>
      </p:sp>
      <p:sp>
        <p:nvSpPr>
          <p:cNvPr id="23" name="">
            <a:extLst xmlns:a="http://schemas.openxmlformats.org/drawingml/2006/main">
              <a:ext uri="{FF2B5EF4-FFF2-40B4-BE49-F238E27FC236}">
                <a16:creationId xmlns:a16="http://schemas.microsoft.com/office/drawing/2014/main" id="{7A0D8D64-F1B7-4671-9AE7-75F65724D2CB}"/>
              </a:ext>
            </a:extLst>
          </p:cNvPr>
          <p:cNvSpPr>
            <a:spLocks xmlns:a="http://schemas.openxmlformats.org/drawingml/2006/main" noGrp="1"/>
          </p:cNvSpPr>
          <p:nvPr/>
        </p:nvSpPr>
        <p:spPr>
          <a:xfrm xmlns:a="http://schemas.openxmlformats.org/drawingml/2006/main">
            <a:off x="7219950" y="28289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Evidence checks</a:t>
            </a:r>
          </a:p>
        </p:txBody>
      </p:sp>
      <p:sp>
        <p:nvSpPr>
          <p:cNvPr id="24" name="">
            <a:extLst xmlns:a="http://schemas.openxmlformats.org/drawingml/2006/main">
              <a:ext uri="{FF2B5EF4-FFF2-40B4-BE49-F238E27FC236}">
                <a16:creationId xmlns:a16="http://schemas.microsoft.com/office/drawing/2014/main" id="{2E67219A-63CC-43E2-B37F-D6715E95179D}"/>
              </a:ext>
            </a:extLst>
          </p:cNvPr>
          <p:cNvSpPr>
            <a:spLocks xmlns:a="http://schemas.openxmlformats.org/drawingml/2006/main" noGrp="1"/>
          </p:cNvSpPr>
          <p:nvPr/>
        </p:nvSpPr>
        <p:spPr>
          <a:xfrm xmlns:a="http://schemas.openxmlformats.org/drawingml/2006/main">
            <a:off x="9182100" y="2124075"/>
            <a:ext cx="19431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D8DFDF"/>
            </a:solidFill>
            <a:prstDash val="solid"/>
          </a:ln>
        </p:spPr>
      </p:sp>
      <p:sp>
        <p:nvSpPr>
          <p:cNvPr id="25" name="">
            <a:extLst xmlns:a="http://schemas.openxmlformats.org/drawingml/2006/main">
              <a:ext uri="{FF2B5EF4-FFF2-40B4-BE49-F238E27FC236}">
                <a16:creationId xmlns:a16="http://schemas.microsoft.com/office/drawing/2014/main" id="{E369648A-28AD-475D-BCF8-C282B9C4A661}"/>
              </a:ext>
            </a:extLst>
          </p:cNvPr>
          <p:cNvSpPr>
            <a:spLocks xmlns:a="http://schemas.openxmlformats.org/drawingml/2006/main" noGrp="1"/>
          </p:cNvSpPr>
          <p:nvPr/>
        </p:nvSpPr>
        <p:spPr>
          <a:xfrm xmlns:a="http://schemas.openxmlformats.org/drawingml/2006/main">
            <a:off x="9353550" y="2238375"/>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B6EF0A1D-6651-4081-942C-B3466585F149}"/>
              </a:ext>
            </a:extLst>
          </p:cNvPr>
          <p:cNvSpPr>
            <a:spLocks xmlns:a="http://schemas.openxmlformats.org/drawingml/2006/main" noGrp="1"/>
          </p:cNvSpPr>
          <p:nvPr/>
        </p:nvSpPr>
        <p:spPr>
          <a:xfrm xmlns:a="http://schemas.openxmlformats.org/drawingml/2006/main">
            <a:off x="9353550" y="24479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INSURANCE</a:t>
            </a:r>
          </a:p>
        </p:txBody>
      </p:sp>
      <p:sp>
        <p:nvSpPr>
          <p:cNvPr id="27" name="">
            <a:extLst xmlns:a="http://schemas.openxmlformats.org/drawingml/2006/main">
              <a:ext uri="{FF2B5EF4-FFF2-40B4-BE49-F238E27FC236}">
                <a16:creationId xmlns:a16="http://schemas.microsoft.com/office/drawing/2014/main" id="{EDB281CC-10D6-40F2-A64F-BE56F56CC3E0}"/>
              </a:ext>
            </a:extLst>
          </p:cNvPr>
          <p:cNvSpPr>
            <a:spLocks xmlns:a="http://schemas.openxmlformats.org/drawingml/2006/main" noGrp="1"/>
          </p:cNvSpPr>
          <p:nvPr/>
        </p:nvSpPr>
        <p:spPr>
          <a:xfrm xmlns:a="http://schemas.openxmlformats.org/drawingml/2006/main">
            <a:off x="9353550" y="28289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Claim review</a:t>
            </a:r>
          </a:p>
        </p:txBody>
      </p:sp>
      <p:sp>
        <p:nvSpPr>
          <p:cNvPr id="28" name="">
            <a:extLst xmlns:a="http://schemas.openxmlformats.org/drawingml/2006/main">
              <a:ext uri="{FF2B5EF4-FFF2-40B4-BE49-F238E27FC236}">
                <a16:creationId xmlns:a16="http://schemas.microsoft.com/office/drawing/2014/main" id="{10ACD655-D140-4F66-A367-7B0BCEC1BA40}"/>
              </a:ext>
            </a:extLst>
          </p:cNvPr>
          <p:cNvSpPr>
            <a:spLocks xmlns:a="http://schemas.openxmlformats.org/drawingml/2006/main" noGrp="1"/>
          </p:cNvSpPr>
          <p:nvPr/>
        </p:nvSpPr>
        <p:spPr>
          <a:xfrm xmlns:a="http://schemas.openxmlformats.org/drawingml/2006/main">
            <a:off x="647700" y="35147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1">
                <a:solidFill>
                  <a:srgbClr val="10263B"/>
                </a:solidFill>
                <a:latin typeface="Arial"/>
                <a:ea typeface="Arial"/>
                <a:cs typeface="Arial"/>
              </a:defRPr>
            </a:pPr>
            <a:r>
              <a:rPr sz="1875" b="1">
                <a:solidFill>
                  <a:srgbClr val="10263B"/>
                </a:solidFill>
                <a:latin typeface="Arial"/>
                <a:ea typeface="Arial"/>
                <a:cs typeface="Arial"/>
              </a:rPr>
              <a:t>A shared configurable engine</a:t>
            </a:r>
          </a:p>
        </p:txBody>
      </p:sp>
      <p:sp>
        <p:nvSpPr>
          <p:cNvPr id="29" name="">
            <a:extLst xmlns:a="http://schemas.openxmlformats.org/drawingml/2006/main">
              <a:ext uri="{FF2B5EF4-FFF2-40B4-BE49-F238E27FC236}">
                <a16:creationId xmlns:a16="http://schemas.microsoft.com/office/drawing/2014/main" id="{2C4222BD-C145-46BB-AEC4-BD2A7E13C700}"/>
              </a:ext>
            </a:extLst>
          </p:cNvPr>
          <p:cNvSpPr>
            <a:spLocks xmlns:a="http://schemas.openxmlformats.org/drawingml/2006/main" noGrp="1"/>
          </p:cNvSpPr>
          <p:nvPr/>
        </p:nvSpPr>
        <p:spPr>
          <a:xfrm xmlns:a="http://schemas.openxmlformats.org/drawingml/2006/main">
            <a:off x="647700" y="4029075"/>
            <a:ext cx="2381250" cy="1219200"/>
          </a:xfrm>
          <a:prstGeom xmlns:a="http://schemas.openxmlformats.org/drawingml/2006/main" prst="roundRect">
            <a:avLst>
              <a:gd name="adj" fmla="val 12500"/>
            </a:avLst>
          </a:prstGeom>
          <a:solidFill xmlns:a="http://schemas.openxmlformats.org/drawingml/2006/main">
            <a:srgbClr val="DDF2EF"/>
          </a:solidFill>
          <a:ln xmlns:a="http://schemas.openxmlformats.org/drawingml/2006/main" w="9525">
            <a:solidFill>
              <a:srgbClr val="A7D8D1"/>
            </a:solidFill>
            <a:prstDash val="solid"/>
          </a:ln>
        </p:spPr>
      </p:sp>
      <p:sp>
        <p:nvSpPr>
          <p:cNvPr id="30" name="">
            <a:extLst xmlns:a="http://schemas.openxmlformats.org/drawingml/2006/main">
              <a:ext uri="{FF2B5EF4-FFF2-40B4-BE49-F238E27FC236}">
                <a16:creationId xmlns:a16="http://schemas.microsoft.com/office/drawing/2014/main" id="{6ADDD2C4-7139-49F7-ACA9-B76673FE1F21}"/>
              </a:ext>
            </a:extLst>
          </p:cNvPr>
          <p:cNvSpPr>
            <a:spLocks xmlns:a="http://schemas.openxmlformats.org/drawingml/2006/main" noGrp="1"/>
          </p:cNvSpPr>
          <p:nvPr/>
        </p:nvSpPr>
        <p:spPr>
          <a:xfrm xmlns:a="http://schemas.openxmlformats.org/drawingml/2006/main">
            <a:off x="819150" y="414337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CONFIGURATION 01</a:t>
            </a:r>
          </a:p>
        </p:txBody>
      </p:sp>
      <p:sp>
        <p:nvSpPr>
          <p:cNvPr id="31" name="">
            <a:extLst xmlns:a="http://schemas.openxmlformats.org/drawingml/2006/main">
              <a:ext uri="{FF2B5EF4-FFF2-40B4-BE49-F238E27FC236}">
                <a16:creationId xmlns:a16="http://schemas.microsoft.com/office/drawing/2014/main" id="{45D8FC45-781A-413A-89BF-7D8C9F245B03}"/>
              </a:ext>
            </a:extLst>
          </p:cNvPr>
          <p:cNvSpPr>
            <a:spLocks xmlns:a="http://schemas.openxmlformats.org/drawingml/2006/main" noGrp="1"/>
          </p:cNvSpPr>
          <p:nvPr/>
        </p:nvSpPr>
        <p:spPr>
          <a:xfrm xmlns:a="http://schemas.openxmlformats.org/drawingml/2006/main">
            <a:off x="819150" y="4352925"/>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Stages</a:t>
            </a:r>
          </a:p>
        </p:txBody>
      </p:sp>
      <p:sp>
        <p:nvSpPr>
          <p:cNvPr id="32" name="">
            <a:extLst xmlns:a="http://schemas.openxmlformats.org/drawingml/2006/main">
              <a:ext uri="{FF2B5EF4-FFF2-40B4-BE49-F238E27FC236}">
                <a16:creationId xmlns:a16="http://schemas.microsoft.com/office/drawing/2014/main" id="{8A85F6AF-E7F0-4279-9E9E-95CC000D0C02}"/>
              </a:ext>
            </a:extLst>
          </p:cNvPr>
          <p:cNvSpPr>
            <a:spLocks xmlns:a="http://schemas.openxmlformats.org/drawingml/2006/main" noGrp="1"/>
          </p:cNvSpPr>
          <p:nvPr/>
        </p:nvSpPr>
        <p:spPr>
          <a:xfrm xmlns:a="http://schemas.openxmlformats.org/drawingml/2006/main">
            <a:off x="819150" y="4743450"/>
            <a:ext cx="2038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process flow</a:t>
            </a:r>
          </a:p>
        </p:txBody>
      </p:sp>
      <p:sp>
        <p:nvSpPr>
          <p:cNvPr id="33" name="">
            <a:extLst xmlns:a="http://schemas.openxmlformats.org/drawingml/2006/main">
              <a:ext uri="{FF2B5EF4-FFF2-40B4-BE49-F238E27FC236}">
                <a16:creationId xmlns:a16="http://schemas.microsoft.com/office/drawing/2014/main" id="{9E91EDF2-4841-4564-8EA5-4F48EEBD3EC5}"/>
              </a:ext>
            </a:extLst>
          </p:cNvPr>
          <p:cNvSpPr>
            <a:spLocks xmlns:a="http://schemas.openxmlformats.org/drawingml/2006/main" noGrp="1"/>
          </p:cNvSpPr>
          <p:nvPr/>
        </p:nvSpPr>
        <p:spPr>
          <a:xfrm xmlns:a="http://schemas.openxmlformats.org/drawingml/2006/main">
            <a:off x="3314700" y="4029075"/>
            <a:ext cx="238125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8DFDF"/>
            </a:solidFill>
            <a:prstDash val="solid"/>
          </a:ln>
        </p:spPr>
      </p:sp>
      <p:sp>
        <p:nvSpPr>
          <p:cNvPr id="34" name="">
            <a:extLst xmlns:a="http://schemas.openxmlformats.org/drawingml/2006/main">
              <a:ext uri="{FF2B5EF4-FFF2-40B4-BE49-F238E27FC236}">
                <a16:creationId xmlns:a16="http://schemas.microsoft.com/office/drawing/2014/main" id="{FE3E1039-768B-4092-8F39-190B38BF55A3}"/>
              </a:ext>
            </a:extLst>
          </p:cNvPr>
          <p:cNvSpPr>
            <a:spLocks xmlns:a="http://schemas.openxmlformats.org/drawingml/2006/main" noGrp="1"/>
          </p:cNvSpPr>
          <p:nvPr/>
        </p:nvSpPr>
        <p:spPr>
          <a:xfrm xmlns:a="http://schemas.openxmlformats.org/drawingml/2006/main">
            <a:off x="3486150" y="414337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CONFIGURATION 02</a:t>
            </a:r>
          </a:p>
        </p:txBody>
      </p:sp>
      <p:sp>
        <p:nvSpPr>
          <p:cNvPr id="35" name="">
            <a:extLst xmlns:a="http://schemas.openxmlformats.org/drawingml/2006/main">
              <a:ext uri="{FF2B5EF4-FFF2-40B4-BE49-F238E27FC236}">
                <a16:creationId xmlns:a16="http://schemas.microsoft.com/office/drawing/2014/main" id="{ADA1423E-5F00-42A7-9BE6-340527695681}"/>
              </a:ext>
            </a:extLst>
          </p:cNvPr>
          <p:cNvSpPr>
            <a:spLocks xmlns:a="http://schemas.openxmlformats.org/drawingml/2006/main" noGrp="1"/>
          </p:cNvSpPr>
          <p:nvPr/>
        </p:nvSpPr>
        <p:spPr>
          <a:xfrm xmlns:a="http://schemas.openxmlformats.org/drawingml/2006/main">
            <a:off x="3486150" y="4352925"/>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Requirements</a:t>
            </a:r>
          </a:p>
        </p:txBody>
      </p:sp>
      <p:sp>
        <p:nvSpPr>
          <p:cNvPr id="36" name="">
            <a:extLst xmlns:a="http://schemas.openxmlformats.org/drawingml/2006/main">
              <a:ext uri="{FF2B5EF4-FFF2-40B4-BE49-F238E27FC236}">
                <a16:creationId xmlns:a16="http://schemas.microsoft.com/office/drawing/2014/main" id="{71D6D388-BEC8-400C-AD02-DE3071B88E90}"/>
              </a:ext>
            </a:extLst>
          </p:cNvPr>
          <p:cNvSpPr>
            <a:spLocks xmlns:a="http://schemas.openxmlformats.org/drawingml/2006/main" noGrp="1"/>
          </p:cNvSpPr>
          <p:nvPr/>
        </p:nvSpPr>
        <p:spPr>
          <a:xfrm xmlns:a="http://schemas.openxmlformats.org/drawingml/2006/main">
            <a:off x="3486150" y="4743450"/>
            <a:ext cx="2038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what must be present</a:t>
            </a:r>
          </a:p>
        </p:txBody>
      </p:sp>
      <p:sp>
        <p:nvSpPr>
          <p:cNvPr id="37" name="">
            <a:extLst xmlns:a="http://schemas.openxmlformats.org/drawingml/2006/main">
              <a:ext uri="{FF2B5EF4-FFF2-40B4-BE49-F238E27FC236}">
                <a16:creationId xmlns:a16="http://schemas.microsoft.com/office/drawing/2014/main" id="{BE2564A7-45FA-494B-9263-00218E3F6D68}"/>
              </a:ext>
            </a:extLst>
          </p:cNvPr>
          <p:cNvSpPr>
            <a:spLocks xmlns:a="http://schemas.openxmlformats.org/drawingml/2006/main" noGrp="1"/>
          </p:cNvSpPr>
          <p:nvPr/>
        </p:nvSpPr>
        <p:spPr>
          <a:xfrm xmlns:a="http://schemas.openxmlformats.org/drawingml/2006/main">
            <a:off x="5981700" y="4029075"/>
            <a:ext cx="238125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8DFDF"/>
            </a:solidFill>
            <a:prstDash val="solid"/>
          </a:ln>
        </p:spPr>
      </p:sp>
      <p:sp>
        <p:nvSpPr>
          <p:cNvPr id="38" name="">
            <a:extLst xmlns:a="http://schemas.openxmlformats.org/drawingml/2006/main">
              <a:ext uri="{FF2B5EF4-FFF2-40B4-BE49-F238E27FC236}">
                <a16:creationId xmlns:a16="http://schemas.microsoft.com/office/drawing/2014/main" id="{C839A2DF-1E20-4154-84F2-4C5886ED9F1A}"/>
              </a:ext>
            </a:extLst>
          </p:cNvPr>
          <p:cNvSpPr>
            <a:spLocks xmlns:a="http://schemas.openxmlformats.org/drawingml/2006/main" noGrp="1"/>
          </p:cNvSpPr>
          <p:nvPr/>
        </p:nvSpPr>
        <p:spPr>
          <a:xfrm xmlns:a="http://schemas.openxmlformats.org/drawingml/2006/main">
            <a:off x="6153150" y="414337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CONFIGURATION 03</a:t>
            </a:r>
          </a:p>
        </p:txBody>
      </p:sp>
      <p:sp>
        <p:nvSpPr>
          <p:cNvPr id="39" name="">
            <a:extLst xmlns:a="http://schemas.openxmlformats.org/drawingml/2006/main">
              <a:ext uri="{FF2B5EF4-FFF2-40B4-BE49-F238E27FC236}">
                <a16:creationId xmlns:a16="http://schemas.microsoft.com/office/drawing/2014/main" id="{676B858A-ED4F-478F-A254-940A614C6817}"/>
              </a:ext>
            </a:extLst>
          </p:cNvPr>
          <p:cNvSpPr>
            <a:spLocks xmlns:a="http://schemas.openxmlformats.org/drawingml/2006/main" noGrp="1"/>
          </p:cNvSpPr>
          <p:nvPr/>
        </p:nvSpPr>
        <p:spPr>
          <a:xfrm xmlns:a="http://schemas.openxmlformats.org/drawingml/2006/main">
            <a:off x="6153150" y="4352925"/>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Rules &amp; calculations</a:t>
            </a:r>
          </a:p>
        </p:txBody>
      </p:sp>
      <p:sp>
        <p:nvSpPr>
          <p:cNvPr id="40" name="">
            <a:extLst xmlns:a="http://schemas.openxmlformats.org/drawingml/2006/main">
              <a:ext uri="{FF2B5EF4-FFF2-40B4-BE49-F238E27FC236}">
                <a16:creationId xmlns:a16="http://schemas.microsoft.com/office/drawing/2014/main" id="{3E8AB715-4F00-467A-905B-F3EC8885A9E8}"/>
              </a:ext>
            </a:extLst>
          </p:cNvPr>
          <p:cNvSpPr>
            <a:spLocks xmlns:a="http://schemas.openxmlformats.org/drawingml/2006/main" noGrp="1"/>
          </p:cNvSpPr>
          <p:nvPr/>
        </p:nvSpPr>
        <p:spPr>
          <a:xfrm xmlns:a="http://schemas.openxmlformats.org/drawingml/2006/main">
            <a:off x="6153150" y="4743450"/>
            <a:ext cx="2038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how facts are checked</a:t>
            </a:r>
          </a:p>
        </p:txBody>
      </p:sp>
      <p:sp>
        <p:nvSpPr>
          <p:cNvPr id="41" name="">
            <a:extLst xmlns:a="http://schemas.openxmlformats.org/drawingml/2006/main">
              <a:ext uri="{FF2B5EF4-FFF2-40B4-BE49-F238E27FC236}">
                <a16:creationId xmlns:a16="http://schemas.microsoft.com/office/drawing/2014/main" id="{9944F15D-15F9-4BC9-A33C-C82D3BA816E5}"/>
              </a:ext>
            </a:extLst>
          </p:cNvPr>
          <p:cNvSpPr>
            <a:spLocks xmlns:a="http://schemas.openxmlformats.org/drawingml/2006/main" noGrp="1"/>
          </p:cNvSpPr>
          <p:nvPr/>
        </p:nvSpPr>
        <p:spPr>
          <a:xfrm xmlns:a="http://schemas.openxmlformats.org/drawingml/2006/main">
            <a:off x="8648700" y="4029075"/>
            <a:ext cx="238125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8DFDF"/>
            </a:solidFill>
            <a:prstDash val="solid"/>
          </a:ln>
        </p:spPr>
      </p:sp>
      <p:sp>
        <p:nvSpPr>
          <p:cNvPr id="42" name="">
            <a:extLst xmlns:a="http://schemas.openxmlformats.org/drawingml/2006/main">
              <a:ext uri="{FF2B5EF4-FFF2-40B4-BE49-F238E27FC236}">
                <a16:creationId xmlns:a16="http://schemas.microsoft.com/office/drawing/2014/main" id="{589C0B93-4293-4572-85A3-4086D15A1A52}"/>
              </a:ext>
            </a:extLst>
          </p:cNvPr>
          <p:cNvSpPr>
            <a:spLocks xmlns:a="http://schemas.openxmlformats.org/drawingml/2006/main" noGrp="1"/>
          </p:cNvSpPr>
          <p:nvPr/>
        </p:nvSpPr>
        <p:spPr>
          <a:xfrm xmlns:a="http://schemas.openxmlformats.org/drawingml/2006/main">
            <a:off x="8820150" y="414337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CONFIGURATION 04</a:t>
            </a:r>
          </a:p>
        </p:txBody>
      </p:sp>
      <p:sp>
        <p:nvSpPr>
          <p:cNvPr id="43" name="">
            <a:extLst xmlns:a="http://schemas.openxmlformats.org/drawingml/2006/main">
              <a:ext uri="{FF2B5EF4-FFF2-40B4-BE49-F238E27FC236}">
                <a16:creationId xmlns:a16="http://schemas.microsoft.com/office/drawing/2014/main" id="{EE92E596-12DF-46E1-B86E-FA1C8DCE64EB}"/>
              </a:ext>
            </a:extLst>
          </p:cNvPr>
          <p:cNvSpPr>
            <a:spLocks xmlns:a="http://schemas.openxmlformats.org/drawingml/2006/main" noGrp="1"/>
          </p:cNvSpPr>
          <p:nvPr/>
        </p:nvSpPr>
        <p:spPr>
          <a:xfrm xmlns:a="http://schemas.openxmlformats.org/drawingml/2006/main">
            <a:off x="8820150" y="4352925"/>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Schemas &amp; tools</a:t>
            </a:r>
          </a:p>
        </p:txBody>
      </p:sp>
      <p:sp>
        <p:nvSpPr>
          <p:cNvPr id="44" name="">
            <a:extLst xmlns:a="http://schemas.openxmlformats.org/drawingml/2006/main">
              <a:ext uri="{FF2B5EF4-FFF2-40B4-BE49-F238E27FC236}">
                <a16:creationId xmlns:a16="http://schemas.microsoft.com/office/drawing/2014/main" id="{2293C680-DF96-4D73-8074-6781F98FA6B1}"/>
              </a:ext>
            </a:extLst>
          </p:cNvPr>
          <p:cNvSpPr>
            <a:spLocks xmlns:a="http://schemas.openxmlformats.org/drawingml/2006/main" noGrp="1"/>
          </p:cNvSpPr>
          <p:nvPr/>
        </p:nvSpPr>
        <p:spPr>
          <a:xfrm xmlns:a="http://schemas.openxmlformats.org/drawingml/2006/main">
            <a:off x="8820150" y="4743450"/>
            <a:ext cx="2038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what can be interpreted / invoked</a:t>
            </a:r>
          </a:p>
        </p:txBody>
      </p:sp>
      <p:sp>
        <p:nvSpPr>
          <p:cNvPr id="45" name="">
            <a:extLst xmlns:a="http://schemas.openxmlformats.org/drawingml/2006/main">
              <a:ext uri="{FF2B5EF4-FFF2-40B4-BE49-F238E27FC236}">
                <a16:creationId xmlns:a16="http://schemas.microsoft.com/office/drawing/2014/main" id="{5E0514CC-C839-4853-9315-7A6D9C7FE542}"/>
              </a:ext>
            </a:extLst>
          </p:cNvPr>
          <p:cNvSpPr>
            <a:spLocks xmlns:a="http://schemas.openxmlformats.org/drawingml/2006/main" noGrp="1"/>
          </p:cNvSpPr>
          <p:nvPr/>
        </p:nvSpPr>
        <p:spPr>
          <a:xfrm xmlns:a="http://schemas.openxmlformats.org/drawingml/2006/main">
            <a:off x="647700" y="5581650"/>
            <a:ext cx="3476625" cy="285750"/>
          </a:xfrm>
          <a:prstGeom xmlns:a="http://schemas.openxmlformats.org/drawingml/2006/main" prst="roundRect">
            <a:avLst>
              <a:gd name="adj" fmla="val 50000"/>
            </a:avLst>
          </a:prstGeom>
          <a:solidFill xmlns:a="http://schemas.openxmlformats.org/drawingml/2006/main">
            <a:srgbClr val="10263B"/>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55E6615-8515-4A70-8087-E75706A7CC60}"/>
              </a:ext>
            </a:extLst>
          </p:cNvPr>
          <p:cNvSpPr>
            <a:spLocks xmlns:a="http://schemas.openxmlformats.org/drawingml/2006/main" noGrp="1"/>
          </p:cNvSpPr>
          <p:nvPr/>
        </p:nvSpPr>
        <p:spPr>
          <a:xfrm xmlns:a="http://schemas.openxmlformats.org/drawingml/2006/main">
            <a:off x="742950" y="5600700"/>
            <a:ext cx="3286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IMPORT / EXPORT IS THE DEMONSTRATION</a:t>
            </a:r>
          </a:p>
        </p:txBody>
      </p:sp>
      <p:sp>
        <p:nvSpPr>
          <p:cNvPr id="47" name="">
            <a:extLst xmlns:a="http://schemas.openxmlformats.org/drawingml/2006/main">
              <a:ext uri="{FF2B5EF4-FFF2-40B4-BE49-F238E27FC236}">
                <a16:creationId xmlns:a16="http://schemas.microsoft.com/office/drawing/2014/main" id="{4E0A1D65-1096-4614-92D1-4098FC922B26}"/>
              </a:ext>
            </a:extLst>
          </p:cNvPr>
          <p:cNvSpPr>
            <a:spLocks xmlns:a="http://schemas.openxmlformats.org/drawingml/2006/main" noGrp="1"/>
          </p:cNvSpPr>
          <p:nvPr/>
        </p:nvSpPr>
        <p:spPr>
          <a:xfrm xmlns:a="http://schemas.openxmlformats.org/drawingml/2006/main">
            <a:off x="4381500" y="5581650"/>
            <a:ext cx="704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0263B"/>
                </a:solidFill>
                <a:latin typeface="Arial"/>
                <a:ea typeface="Arial"/>
                <a:cs typeface="Arial"/>
              </a:defRPr>
            </a:pPr>
            <a:r>
              <a:rPr sz="1275" b="1">
                <a:solidFill>
                  <a:srgbClr val="10263B"/>
                </a:solidFill>
                <a:latin typeface="Arial"/>
                <a:ea typeface="Arial"/>
                <a:cs typeface="Arial"/>
              </a:rPr>
              <a:t>Generic by configuration—not by pretending every workflow is identical.</a:t>
            </a:r>
          </a:p>
        </p:txBody>
      </p:sp>
    </p:spTree>
    <p:extLst>
      <p:ext uri="{BB962C8B-B14F-4D97-AF65-F5344CB8AC3E}">
        <p14:creationId xmlns:p14="http://schemas.microsoft.com/office/powerpoint/2010/main" val="2102020415"/>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C2419A2-935A-4021-938D-075D17C8CE4D}"/>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01  /  THE PROBLEM</a:t>
            </a:r>
          </a:p>
        </p:txBody>
      </p:sp>
      <p:sp>
        <p:nvSpPr>
          <p:cNvPr id="2" name="">
            <a:extLst xmlns:a="http://schemas.openxmlformats.org/drawingml/2006/main">
              <a:ext uri="{FF2B5EF4-FFF2-40B4-BE49-F238E27FC236}">
                <a16:creationId xmlns:a16="http://schemas.microsoft.com/office/drawing/2014/main" id="{B0AA363D-D8D6-405C-9FA4-62D50313DA61}"/>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A single case is assembled from different sources</a:t>
            </a:r>
          </a:p>
        </p:txBody>
      </p:sp>
      <p:sp>
        <p:nvSpPr>
          <p:cNvPr id="3" name="">
            <a:extLst xmlns:a="http://schemas.openxmlformats.org/drawingml/2006/main">
              <a:ext uri="{FF2B5EF4-FFF2-40B4-BE49-F238E27FC236}">
                <a16:creationId xmlns:a16="http://schemas.microsoft.com/office/drawing/2014/main" id="{F0FAD7B1-ADD0-44CC-8FC2-12A7483DE950}"/>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310865-4DD3-4CE7-847B-E613E379530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F51820-7E0B-419A-8E49-B018FDA5058E}"/>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26FDE107-3CD3-4F62-8673-FE9A12870E29}"/>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B072457-A8A9-4925-ABCE-91ACB3C8451D}"/>
              </a:ext>
            </a:extLst>
          </p:cNvPr>
          <p:cNvSpPr>
            <a:spLocks xmlns:a="http://schemas.openxmlformats.org/drawingml/2006/main" noGrp="1"/>
          </p:cNvSpPr>
          <p:nvPr/>
        </p:nvSpPr>
        <p:spPr>
          <a:xfrm xmlns:a="http://schemas.openxmlformats.org/drawingml/2006/main">
            <a:off x="647700" y="15049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0">
                <a:solidFill>
                  <a:srgbClr val="5E6C74"/>
                </a:solidFill>
                <a:latin typeface="Arial"/>
                <a:ea typeface="Arial"/>
                <a:cs typeface="Arial"/>
              </a:defRPr>
            </a:pPr>
            <a:r>
              <a:rPr sz="1500" b="0">
                <a:solidFill>
                  <a:srgbClr val="5E6C74"/>
                </a:solidFill>
                <a:latin typeface="Arial"/>
                <a:ea typeface="Arial"/>
                <a:cs typeface="Arial"/>
              </a:rPr>
              <a:t>An import shipment is not represented by one authoritative file.</a:t>
            </a:r>
          </a:p>
        </p:txBody>
      </p:sp>
      <p:sp>
        <p:nvSpPr>
          <p:cNvPr id="8" name="">
            <a:extLst xmlns:a="http://schemas.openxmlformats.org/drawingml/2006/main">
              <a:ext uri="{FF2B5EF4-FFF2-40B4-BE49-F238E27FC236}">
                <a16:creationId xmlns:a16="http://schemas.microsoft.com/office/drawing/2014/main" id="{449CC13E-3916-43AB-A6D9-A10D99064A0C}"/>
              </a:ext>
            </a:extLst>
          </p:cNvPr>
          <p:cNvSpPr>
            <a:spLocks xmlns:a="http://schemas.openxmlformats.org/drawingml/2006/main" noGrp="1"/>
          </p:cNvSpPr>
          <p:nvPr/>
        </p:nvSpPr>
        <p:spPr>
          <a:xfrm xmlns:a="http://schemas.openxmlformats.org/drawingml/2006/main">
            <a:off x="647700" y="2000250"/>
            <a:ext cx="2857500" cy="895350"/>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DFDF"/>
            </a:solidFill>
            <a:prstDash val="solid"/>
          </a:ln>
        </p:spPr>
      </p:sp>
      <p:sp>
        <p:nvSpPr>
          <p:cNvPr id="9" name="">
            <a:extLst xmlns:a="http://schemas.openxmlformats.org/drawingml/2006/main">
              <a:ext uri="{FF2B5EF4-FFF2-40B4-BE49-F238E27FC236}">
                <a16:creationId xmlns:a16="http://schemas.microsoft.com/office/drawing/2014/main" id="{ABA1A4BB-AF05-44FE-8BD3-7F8B7E3073E5}"/>
              </a:ext>
            </a:extLst>
          </p:cNvPr>
          <p:cNvSpPr>
            <a:spLocks xmlns:a="http://schemas.openxmlformats.org/drawingml/2006/main" noGrp="1"/>
          </p:cNvSpPr>
          <p:nvPr/>
        </p:nvSpPr>
        <p:spPr>
          <a:xfrm xmlns:a="http://schemas.openxmlformats.org/drawingml/2006/main">
            <a:off x="819150" y="211455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8DB2DD3-5FD7-43C4-A367-64E840C45D30}"/>
              </a:ext>
            </a:extLst>
          </p:cNvPr>
          <p:cNvSpPr>
            <a:spLocks xmlns:a="http://schemas.openxmlformats.org/drawingml/2006/main" noGrp="1"/>
          </p:cNvSpPr>
          <p:nvPr/>
        </p:nvSpPr>
        <p:spPr>
          <a:xfrm xmlns:a="http://schemas.openxmlformats.org/drawingml/2006/main">
            <a:off x="819150" y="23241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PURCHASE ORDER</a:t>
            </a:r>
          </a:p>
        </p:txBody>
      </p:sp>
      <p:sp>
        <p:nvSpPr>
          <p:cNvPr id="11" name="">
            <a:extLst xmlns:a="http://schemas.openxmlformats.org/drawingml/2006/main">
              <a:ext uri="{FF2B5EF4-FFF2-40B4-BE49-F238E27FC236}">
                <a16:creationId xmlns:a16="http://schemas.microsoft.com/office/drawing/2014/main" id="{DF01464F-BDDA-4F2A-90E3-030837D30F33}"/>
              </a:ext>
            </a:extLst>
          </p:cNvPr>
          <p:cNvSpPr>
            <a:spLocks xmlns:a="http://schemas.openxmlformats.org/drawingml/2006/main" noGrp="1"/>
          </p:cNvSpPr>
          <p:nvPr/>
        </p:nvSpPr>
        <p:spPr>
          <a:xfrm xmlns:a="http://schemas.openxmlformats.org/drawingml/2006/main">
            <a:off x="819150" y="26289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What was ordered</a:t>
            </a:r>
          </a:p>
        </p:txBody>
      </p:sp>
      <p:sp>
        <p:nvSpPr>
          <p:cNvPr id="12" name="">
            <a:extLst xmlns:a="http://schemas.openxmlformats.org/drawingml/2006/main">
              <a:ext uri="{FF2B5EF4-FFF2-40B4-BE49-F238E27FC236}">
                <a16:creationId xmlns:a16="http://schemas.microsoft.com/office/drawing/2014/main" id="{E66A0184-B8CB-4E45-9F99-107D0D372593}"/>
              </a:ext>
            </a:extLst>
          </p:cNvPr>
          <p:cNvSpPr>
            <a:spLocks xmlns:a="http://schemas.openxmlformats.org/drawingml/2006/main" noGrp="1"/>
          </p:cNvSpPr>
          <p:nvPr/>
        </p:nvSpPr>
        <p:spPr>
          <a:xfrm xmlns:a="http://schemas.openxmlformats.org/drawingml/2006/main">
            <a:off x="647700" y="2914650"/>
            <a:ext cx="2857500" cy="895350"/>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DFDF"/>
            </a:solidFill>
            <a:prstDash val="solid"/>
          </a:ln>
        </p:spPr>
      </p:sp>
      <p:sp>
        <p:nvSpPr>
          <p:cNvPr id="13" name="">
            <a:extLst xmlns:a="http://schemas.openxmlformats.org/drawingml/2006/main">
              <a:ext uri="{FF2B5EF4-FFF2-40B4-BE49-F238E27FC236}">
                <a16:creationId xmlns:a16="http://schemas.microsoft.com/office/drawing/2014/main" id="{7432D7BB-7730-4C6F-BD19-0310989C55E8}"/>
              </a:ext>
            </a:extLst>
          </p:cNvPr>
          <p:cNvSpPr>
            <a:spLocks xmlns:a="http://schemas.openxmlformats.org/drawingml/2006/main" noGrp="1"/>
          </p:cNvSpPr>
          <p:nvPr/>
        </p:nvSpPr>
        <p:spPr>
          <a:xfrm xmlns:a="http://schemas.openxmlformats.org/drawingml/2006/main">
            <a:off x="819150" y="302895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F4B68B09-630C-432F-B4C2-022D70A5AA9E}"/>
              </a:ext>
            </a:extLst>
          </p:cNvPr>
          <p:cNvSpPr>
            <a:spLocks xmlns:a="http://schemas.openxmlformats.org/drawingml/2006/main" noGrp="1"/>
          </p:cNvSpPr>
          <p:nvPr/>
        </p:nvSpPr>
        <p:spPr>
          <a:xfrm xmlns:a="http://schemas.openxmlformats.org/drawingml/2006/main">
            <a:off x="819150" y="32385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SUPPLIER INVOICE</a:t>
            </a:r>
          </a:p>
        </p:txBody>
      </p:sp>
      <p:sp>
        <p:nvSpPr>
          <p:cNvPr id="15" name="">
            <a:extLst xmlns:a="http://schemas.openxmlformats.org/drawingml/2006/main">
              <a:ext uri="{FF2B5EF4-FFF2-40B4-BE49-F238E27FC236}">
                <a16:creationId xmlns:a16="http://schemas.microsoft.com/office/drawing/2014/main" id="{2D37C2E5-C6FD-4DB1-A1AA-513AB992B581}"/>
              </a:ext>
            </a:extLst>
          </p:cNvPr>
          <p:cNvSpPr>
            <a:spLocks xmlns:a="http://schemas.openxmlformats.org/drawingml/2006/main" noGrp="1"/>
          </p:cNvSpPr>
          <p:nvPr/>
        </p:nvSpPr>
        <p:spPr>
          <a:xfrm xmlns:a="http://schemas.openxmlformats.org/drawingml/2006/main">
            <a:off x="819150" y="35433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What is being charged</a:t>
            </a:r>
          </a:p>
        </p:txBody>
      </p:sp>
      <p:sp>
        <p:nvSpPr>
          <p:cNvPr id="16" name="">
            <a:extLst xmlns:a="http://schemas.openxmlformats.org/drawingml/2006/main">
              <a:ext uri="{FF2B5EF4-FFF2-40B4-BE49-F238E27FC236}">
                <a16:creationId xmlns:a16="http://schemas.microsoft.com/office/drawing/2014/main" id="{4B6DC18C-6FDC-4297-B096-59924EEBEA4F}"/>
              </a:ext>
            </a:extLst>
          </p:cNvPr>
          <p:cNvSpPr>
            <a:spLocks xmlns:a="http://schemas.openxmlformats.org/drawingml/2006/main" noGrp="1"/>
          </p:cNvSpPr>
          <p:nvPr/>
        </p:nvSpPr>
        <p:spPr>
          <a:xfrm xmlns:a="http://schemas.openxmlformats.org/drawingml/2006/main">
            <a:off x="647700" y="3829050"/>
            <a:ext cx="2857500" cy="895350"/>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DFDF"/>
            </a:solidFill>
            <a:prstDash val="solid"/>
          </a:ln>
        </p:spPr>
      </p:sp>
      <p:sp>
        <p:nvSpPr>
          <p:cNvPr id="17" name="">
            <a:extLst xmlns:a="http://schemas.openxmlformats.org/drawingml/2006/main">
              <a:ext uri="{FF2B5EF4-FFF2-40B4-BE49-F238E27FC236}">
                <a16:creationId xmlns:a16="http://schemas.microsoft.com/office/drawing/2014/main" id="{12CEE993-E488-4F9D-AF90-1CB57DE99DD9}"/>
              </a:ext>
            </a:extLst>
          </p:cNvPr>
          <p:cNvSpPr>
            <a:spLocks xmlns:a="http://schemas.openxmlformats.org/drawingml/2006/main" noGrp="1"/>
          </p:cNvSpPr>
          <p:nvPr/>
        </p:nvSpPr>
        <p:spPr>
          <a:xfrm xmlns:a="http://schemas.openxmlformats.org/drawingml/2006/main">
            <a:off x="819150" y="394335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7987D93E-50F9-4D0B-B975-DD5F2CE323C1}"/>
              </a:ext>
            </a:extLst>
          </p:cNvPr>
          <p:cNvSpPr>
            <a:spLocks xmlns:a="http://schemas.openxmlformats.org/drawingml/2006/main" noGrp="1"/>
          </p:cNvSpPr>
          <p:nvPr/>
        </p:nvSpPr>
        <p:spPr>
          <a:xfrm xmlns:a="http://schemas.openxmlformats.org/drawingml/2006/main">
            <a:off x="819150" y="41529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PACKING LIST</a:t>
            </a:r>
          </a:p>
        </p:txBody>
      </p:sp>
      <p:sp>
        <p:nvSpPr>
          <p:cNvPr id="19" name="">
            <a:extLst xmlns:a="http://schemas.openxmlformats.org/drawingml/2006/main">
              <a:ext uri="{FF2B5EF4-FFF2-40B4-BE49-F238E27FC236}">
                <a16:creationId xmlns:a16="http://schemas.microsoft.com/office/drawing/2014/main" id="{62155DC1-BAC1-4566-9D7C-846A0CB3B77E}"/>
              </a:ext>
            </a:extLst>
          </p:cNvPr>
          <p:cNvSpPr>
            <a:spLocks xmlns:a="http://schemas.openxmlformats.org/drawingml/2006/main" noGrp="1"/>
          </p:cNvSpPr>
          <p:nvPr/>
        </p:nvSpPr>
        <p:spPr>
          <a:xfrm xmlns:a="http://schemas.openxmlformats.org/drawingml/2006/main">
            <a:off x="819150" y="44577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What was shipped</a:t>
            </a:r>
          </a:p>
        </p:txBody>
      </p:sp>
      <p:sp>
        <p:nvSpPr>
          <p:cNvPr id="20" name="">
            <a:extLst xmlns:a="http://schemas.openxmlformats.org/drawingml/2006/main">
              <a:ext uri="{FF2B5EF4-FFF2-40B4-BE49-F238E27FC236}">
                <a16:creationId xmlns:a16="http://schemas.microsoft.com/office/drawing/2014/main" id="{2F7D9A8D-3FB4-48B0-8489-03DE37C82799}"/>
              </a:ext>
            </a:extLst>
          </p:cNvPr>
          <p:cNvSpPr>
            <a:spLocks xmlns:a="http://schemas.openxmlformats.org/drawingml/2006/main" noGrp="1"/>
          </p:cNvSpPr>
          <p:nvPr/>
        </p:nvSpPr>
        <p:spPr>
          <a:xfrm xmlns:a="http://schemas.openxmlformats.org/drawingml/2006/main">
            <a:off x="647700" y="4743450"/>
            <a:ext cx="2857500" cy="895350"/>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DFDF"/>
            </a:solidFill>
            <a:prstDash val="solid"/>
          </a:ln>
        </p:spPr>
      </p:sp>
      <p:sp>
        <p:nvSpPr>
          <p:cNvPr id="21" name="">
            <a:extLst xmlns:a="http://schemas.openxmlformats.org/drawingml/2006/main">
              <a:ext uri="{FF2B5EF4-FFF2-40B4-BE49-F238E27FC236}">
                <a16:creationId xmlns:a16="http://schemas.microsoft.com/office/drawing/2014/main" id="{7BD31CEE-488D-4AF5-8DBF-DC5839BF25BA}"/>
              </a:ext>
            </a:extLst>
          </p:cNvPr>
          <p:cNvSpPr>
            <a:spLocks xmlns:a="http://schemas.openxmlformats.org/drawingml/2006/main" noGrp="1"/>
          </p:cNvSpPr>
          <p:nvPr/>
        </p:nvSpPr>
        <p:spPr>
          <a:xfrm xmlns:a="http://schemas.openxmlformats.org/drawingml/2006/main">
            <a:off x="819150" y="485775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03EAA5D4-A7DA-4EEA-BD27-61E470FE56BC}"/>
              </a:ext>
            </a:extLst>
          </p:cNvPr>
          <p:cNvSpPr>
            <a:spLocks xmlns:a="http://schemas.openxmlformats.org/drawingml/2006/main" noGrp="1"/>
          </p:cNvSpPr>
          <p:nvPr/>
        </p:nvSpPr>
        <p:spPr>
          <a:xfrm xmlns:a="http://schemas.openxmlformats.org/drawingml/2006/main">
            <a:off x="819150" y="50673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INVENTORY / PAYMENT</a:t>
            </a:r>
          </a:p>
        </p:txBody>
      </p:sp>
      <p:sp>
        <p:nvSpPr>
          <p:cNvPr id="23" name="">
            <a:extLst xmlns:a="http://schemas.openxmlformats.org/drawingml/2006/main">
              <a:ext uri="{FF2B5EF4-FFF2-40B4-BE49-F238E27FC236}">
                <a16:creationId xmlns:a16="http://schemas.microsoft.com/office/drawing/2014/main" id="{E348D25E-CAF2-4AE3-A792-952A11609374}"/>
              </a:ext>
            </a:extLst>
          </p:cNvPr>
          <p:cNvSpPr>
            <a:spLocks xmlns:a="http://schemas.openxmlformats.org/drawingml/2006/main" noGrp="1"/>
          </p:cNvSpPr>
          <p:nvPr/>
        </p:nvSpPr>
        <p:spPr>
          <a:xfrm xmlns:a="http://schemas.openxmlformats.org/drawingml/2006/main">
            <a:off x="819150" y="53721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What internal systems know</a:t>
            </a:r>
          </a:p>
        </p:txBody>
      </p:sp>
      <p:sp>
        <p:nvSpPr>
          <p:cNvPr id="24" name="">
            <a:extLst xmlns:a="http://schemas.openxmlformats.org/drawingml/2006/main">
              <a:ext uri="{FF2B5EF4-FFF2-40B4-BE49-F238E27FC236}">
                <a16:creationId xmlns:a16="http://schemas.microsoft.com/office/drawing/2014/main" id="{95CF5855-820C-4317-A222-E33BCE9CD5DF}"/>
              </a:ext>
            </a:extLst>
          </p:cNvPr>
          <p:cNvSpPr>
            <a:spLocks xmlns:a="http://schemas.openxmlformats.org/drawingml/2006/main" noGrp="1"/>
          </p:cNvSpPr>
          <p:nvPr/>
        </p:nvSpPr>
        <p:spPr>
          <a:xfrm xmlns:a="http://schemas.openxmlformats.org/drawingml/2006/main">
            <a:off x="4762500" y="3105150"/>
            <a:ext cx="3095625" cy="1381125"/>
          </a:xfrm>
          <a:prstGeom xmlns:a="http://schemas.openxmlformats.org/drawingml/2006/main" prst="roundRect">
            <a:avLst>
              <a:gd name="adj" fmla="val 11034"/>
            </a:avLst>
          </a:prstGeom>
          <a:solidFill xmlns:a="http://schemas.openxmlformats.org/drawingml/2006/main">
            <a:srgbClr val="10263B"/>
          </a:solidFill>
          <a:ln xmlns:a="http://schemas.openxmlformats.org/drawingml/2006/main" w="9525">
            <a:solidFill>
              <a:srgbClr val="10263B"/>
            </a:solidFill>
            <a:prstDash val="solid"/>
          </a:ln>
        </p:spPr>
      </p:sp>
      <p:sp>
        <p:nvSpPr>
          <p:cNvPr id="25" name="">
            <a:extLst xmlns:a="http://schemas.openxmlformats.org/drawingml/2006/main">
              <a:ext uri="{FF2B5EF4-FFF2-40B4-BE49-F238E27FC236}">
                <a16:creationId xmlns:a16="http://schemas.microsoft.com/office/drawing/2014/main" id="{1838DCCB-A884-45F3-B7EE-36E1025AED81}"/>
              </a:ext>
            </a:extLst>
          </p:cNvPr>
          <p:cNvSpPr>
            <a:spLocks xmlns:a="http://schemas.openxmlformats.org/drawingml/2006/main" noGrp="1"/>
          </p:cNvSpPr>
          <p:nvPr/>
        </p:nvSpPr>
        <p:spPr>
          <a:xfrm xmlns:a="http://schemas.openxmlformats.org/drawingml/2006/main">
            <a:off x="4933950" y="3219450"/>
            <a:ext cx="2752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CASE CONTEXT</a:t>
            </a:r>
          </a:p>
        </p:txBody>
      </p:sp>
      <p:sp>
        <p:nvSpPr>
          <p:cNvPr id="26" name="">
            <a:extLst xmlns:a="http://schemas.openxmlformats.org/drawingml/2006/main">
              <a:ext uri="{FF2B5EF4-FFF2-40B4-BE49-F238E27FC236}">
                <a16:creationId xmlns:a16="http://schemas.microsoft.com/office/drawing/2014/main" id="{9784B4EB-B3A4-412D-99BF-95A29F0A6517}"/>
              </a:ext>
            </a:extLst>
          </p:cNvPr>
          <p:cNvSpPr>
            <a:spLocks xmlns:a="http://schemas.openxmlformats.org/drawingml/2006/main" noGrp="1"/>
          </p:cNvSpPr>
          <p:nvPr/>
        </p:nvSpPr>
        <p:spPr>
          <a:xfrm xmlns:a="http://schemas.openxmlformats.org/drawingml/2006/main">
            <a:off x="4933950" y="3429000"/>
            <a:ext cx="2752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ONE SHIPMENT CASE</a:t>
            </a:r>
          </a:p>
        </p:txBody>
      </p:sp>
      <p:sp>
        <p:nvSpPr>
          <p:cNvPr id="27" name="">
            <a:extLst xmlns:a="http://schemas.openxmlformats.org/drawingml/2006/main">
              <a:ext uri="{FF2B5EF4-FFF2-40B4-BE49-F238E27FC236}">
                <a16:creationId xmlns:a16="http://schemas.microsoft.com/office/drawing/2014/main" id="{36D02399-59CC-428C-84AA-4FE9CE28E0E3}"/>
              </a:ext>
            </a:extLst>
          </p:cNvPr>
          <p:cNvSpPr>
            <a:spLocks xmlns:a="http://schemas.openxmlformats.org/drawingml/2006/main" noGrp="1"/>
          </p:cNvSpPr>
          <p:nvPr/>
        </p:nvSpPr>
        <p:spPr>
          <a:xfrm xmlns:a="http://schemas.openxmlformats.org/drawingml/2006/main">
            <a:off x="4933950" y="3886200"/>
            <a:ext cx="2752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D2DEE3"/>
                </a:solidFill>
                <a:latin typeface="Arial"/>
                <a:ea typeface="Arial"/>
                <a:cs typeface="Arial"/>
              </a:defRPr>
            </a:pPr>
            <a:r>
              <a:rPr sz="1200" b="0">
                <a:solidFill>
                  <a:srgbClr val="D2DEE3"/>
                </a:solidFill>
                <a:latin typeface="Arial"/>
                <a:ea typeface="Arial"/>
                <a:cs typeface="Arial"/>
              </a:rPr>
              <a:t>A joined view of claims, evidence, and checks</a:t>
            </a:r>
          </a:p>
        </p:txBody>
      </p:sp>
      <p:cxnSp>
        <p:nvCxnSpPr>
          <p:cNvPr id="66" name=""/>
          <p:cNvCxnSpPr>
            <a:stCxn xmlns:a="http://schemas.openxmlformats.org/drawingml/2006/main" id="8" idx="3"/>
            <a:endCxn xmlns:a="http://schemas.openxmlformats.org/drawingml/2006/main" id="24" idx="1"/>
          </p:cNvCxnSpPr>
          <p:nvPr/>
        </p:nvCxnSpPr>
        <p:spPr>
          <a:xfrm xmlns:a="http://schemas.openxmlformats.org/drawingml/2006/main">
            <a:off x="3505200" y="2447925"/>
            <a:ext cx="1257300" cy="1347788"/>
          </a:xfrm>
          <a:prstGeom xmlns:a="http://schemas.openxmlformats.org/drawingml/2006/main" prst="straightConnector1">
            <a:avLst/>
          </a:prstGeom>
          <a:ln xmlns:a="http://schemas.openxmlformats.org/drawingml/2006/main" w="19050">
            <a:solidFill>
              <a:srgbClr val="8DBDB8"/>
            </a:solidFill>
            <a:prstDash val="solid"/>
            <a:tailEnd type="triangle" w="sm" len="sm"/>
          </a:ln>
        </p:spPr>
      </p:cxnSp>
      <p:cxnSp>
        <p:nvCxnSpPr>
          <p:cNvPr id="67" name=""/>
          <p:cNvCxnSpPr>
            <a:stCxn xmlns:a="http://schemas.openxmlformats.org/drawingml/2006/main" id="12" idx="3"/>
            <a:endCxn xmlns:a="http://schemas.openxmlformats.org/drawingml/2006/main" id="24" idx="1"/>
          </p:cNvCxnSpPr>
          <p:nvPr/>
        </p:nvCxnSpPr>
        <p:spPr>
          <a:xfrm xmlns:a="http://schemas.openxmlformats.org/drawingml/2006/main">
            <a:off x="3505200" y="3362325"/>
            <a:ext cx="1257300" cy="433388"/>
          </a:xfrm>
          <a:prstGeom xmlns:a="http://schemas.openxmlformats.org/drawingml/2006/main" prst="straightConnector1">
            <a:avLst/>
          </a:prstGeom>
          <a:ln xmlns:a="http://schemas.openxmlformats.org/drawingml/2006/main" w="19050">
            <a:solidFill>
              <a:srgbClr val="8DBDB8"/>
            </a:solidFill>
            <a:prstDash val="solid"/>
            <a:tailEnd type="triangle" w="sm" len="sm"/>
          </a:ln>
        </p:spPr>
      </p:cxnSp>
      <p:cxnSp>
        <p:nvCxnSpPr>
          <p:cNvPr id="68" name=""/>
          <p:cNvCxnSpPr>
            <a:stCxn xmlns:a="http://schemas.openxmlformats.org/drawingml/2006/main" id="16" idx="3"/>
            <a:endCxn xmlns:a="http://schemas.openxmlformats.org/drawingml/2006/main" id="24" idx="1"/>
          </p:cNvCxnSpPr>
          <p:nvPr/>
        </p:nvCxnSpPr>
        <p:spPr>
          <a:xfrm xmlns:a="http://schemas.openxmlformats.org/drawingml/2006/main" flipV="1">
            <a:off x="3505200" y="3795713"/>
            <a:ext cx="1257300" cy="481013"/>
          </a:xfrm>
          <a:prstGeom xmlns:a="http://schemas.openxmlformats.org/drawingml/2006/main" prst="straightConnector1">
            <a:avLst/>
          </a:prstGeom>
          <a:ln xmlns:a="http://schemas.openxmlformats.org/drawingml/2006/main" w="19050">
            <a:solidFill>
              <a:srgbClr val="8DBDB8"/>
            </a:solidFill>
            <a:prstDash val="solid"/>
            <a:tailEnd type="triangle" w="sm" len="sm"/>
          </a:ln>
        </p:spPr>
      </p:cxnSp>
      <p:cxnSp>
        <p:nvCxnSpPr>
          <p:cNvPr id="69" name=""/>
          <p:cNvCxnSpPr>
            <a:stCxn xmlns:a="http://schemas.openxmlformats.org/drawingml/2006/main" id="20" idx="3"/>
            <a:endCxn xmlns:a="http://schemas.openxmlformats.org/drawingml/2006/main" id="24" idx="1"/>
          </p:cNvCxnSpPr>
          <p:nvPr/>
        </p:nvCxnSpPr>
        <p:spPr>
          <a:xfrm xmlns:a="http://schemas.openxmlformats.org/drawingml/2006/main" flipV="1">
            <a:off x="3505200" y="3795713"/>
            <a:ext cx="1257300" cy="1395413"/>
          </a:xfrm>
          <a:prstGeom xmlns:a="http://schemas.openxmlformats.org/drawingml/2006/main" prst="straightConnector1">
            <a:avLst/>
          </a:prstGeom>
          <a:ln xmlns:a="http://schemas.openxmlformats.org/drawingml/2006/main" w="19050">
            <a:solidFill>
              <a:srgbClr val="8DBDB8"/>
            </a:solidFill>
            <a:prstDash val="solid"/>
            <a:tailEnd type="triangle" w="sm" len="sm"/>
          </a:ln>
        </p:spPr>
      </p:cxnSp>
      <p:sp>
        <p:nvSpPr>
          <p:cNvPr id="32" name="">
            <a:extLst xmlns:a="http://schemas.openxmlformats.org/drawingml/2006/main">
              <a:ext uri="{FF2B5EF4-FFF2-40B4-BE49-F238E27FC236}">
                <a16:creationId xmlns:a16="http://schemas.microsoft.com/office/drawing/2014/main" id="{7EA69ECB-EBDC-4E0A-A201-C7B0437DB956}"/>
              </a:ext>
            </a:extLst>
          </p:cNvPr>
          <p:cNvSpPr>
            <a:spLocks xmlns:a="http://schemas.openxmlformats.org/drawingml/2006/main" noGrp="1"/>
          </p:cNvSpPr>
          <p:nvPr/>
        </p:nvSpPr>
        <p:spPr>
          <a:xfrm xmlns:a="http://schemas.openxmlformats.org/drawingml/2006/main">
            <a:off x="8763000" y="3162300"/>
            <a:ext cx="2781300" cy="1238250"/>
          </a:xfrm>
          <a:prstGeom xmlns:a="http://schemas.openxmlformats.org/drawingml/2006/main" prst="roundRect">
            <a:avLst>
              <a:gd name="adj" fmla="val 12308"/>
            </a:avLst>
          </a:prstGeom>
          <a:solidFill xmlns:a="http://schemas.openxmlformats.org/drawingml/2006/main">
            <a:srgbClr val="FFF0CF"/>
          </a:solidFill>
          <a:ln xmlns:a="http://schemas.openxmlformats.org/drawingml/2006/main" w="9525">
            <a:solidFill>
              <a:srgbClr val="E5C77E"/>
            </a:solidFill>
            <a:prstDash val="solid"/>
          </a:ln>
        </p:spPr>
      </p:sp>
      <p:sp>
        <p:nvSpPr>
          <p:cNvPr id="33" name="">
            <a:extLst xmlns:a="http://schemas.openxmlformats.org/drawingml/2006/main">
              <a:ext uri="{FF2B5EF4-FFF2-40B4-BE49-F238E27FC236}">
                <a16:creationId xmlns:a16="http://schemas.microsoft.com/office/drawing/2014/main" id="{36CDDC8C-3B18-4968-BB8C-44E93EECC998}"/>
              </a:ext>
            </a:extLst>
          </p:cNvPr>
          <p:cNvSpPr>
            <a:spLocks xmlns:a="http://schemas.openxmlformats.org/drawingml/2006/main" noGrp="1"/>
          </p:cNvSpPr>
          <p:nvPr/>
        </p:nvSpPr>
        <p:spPr>
          <a:xfrm xmlns:a="http://schemas.openxmlformats.org/drawingml/2006/main">
            <a:off x="8934450" y="3276600"/>
            <a:ext cx="243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DECISION NEED</a:t>
            </a:r>
          </a:p>
        </p:txBody>
      </p:sp>
      <p:sp>
        <p:nvSpPr>
          <p:cNvPr id="34" name="">
            <a:extLst xmlns:a="http://schemas.openxmlformats.org/drawingml/2006/main">
              <a:ext uri="{FF2B5EF4-FFF2-40B4-BE49-F238E27FC236}">
                <a16:creationId xmlns:a16="http://schemas.microsoft.com/office/drawing/2014/main" id="{A7440C71-FA18-4C7E-9D56-9AC8CE71B87E}"/>
              </a:ext>
            </a:extLst>
          </p:cNvPr>
          <p:cNvSpPr>
            <a:spLocks xmlns:a="http://schemas.openxmlformats.org/drawingml/2006/main" noGrp="1"/>
          </p:cNvSpPr>
          <p:nvPr/>
        </p:nvSpPr>
        <p:spPr>
          <a:xfrm xmlns:a="http://schemas.openxmlformats.org/drawingml/2006/main">
            <a:off x="8934450" y="348615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0263B"/>
                </a:solidFill>
                <a:latin typeface="Arial"/>
                <a:ea typeface="Arial"/>
                <a:cs typeface="Arial"/>
              </a:defRPr>
            </a:pPr>
            <a:r>
              <a:rPr sz="1425" b="1">
                <a:solidFill>
                  <a:srgbClr val="10263B"/>
                </a:solidFill>
                <a:latin typeface="Arial"/>
                <a:ea typeface="Arial"/>
                <a:cs typeface="Arial"/>
              </a:rPr>
              <a:t>THE QUESTION</a:t>
            </a:r>
          </a:p>
        </p:txBody>
      </p:sp>
      <p:sp>
        <p:nvSpPr>
          <p:cNvPr id="35" name="">
            <a:extLst xmlns:a="http://schemas.openxmlformats.org/drawingml/2006/main">
              <a:ext uri="{FF2B5EF4-FFF2-40B4-BE49-F238E27FC236}">
                <a16:creationId xmlns:a16="http://schemas.microsoft.com/office/drawing/2014/main" id="{C1327FB4-CDF9-4313-A730-E04116F1FFA2}"/>
              </a:ext>
            </a:extLst>
          </p:cNvPr>
          <p:cNvSpPr>
            <a:spLocks xmlns:a="http://schemas.openxmlformats.org/drawingml/2006/main" noGrp="1"/>
          </p:cNvSpPr>
          <p:nvPr/>
        </p:nvSpPr>
        <p:spPr>
          <a:xfrm xmlns:a="http://schemas.openxmlformats.org/drawingml/2006/main">
            <a:off x="8934450" y="386715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Do these sources describe the same transaction?</a:t>
            </a:r>
          </a:p>
        </p:txBody>
      </p:sp>
      <p:sp>
        <p:nvSpPr>
          <p:cNvPr id="36" name="">
            <a:extLst xmlns:a="http://schemas.openxmlformats.org/drawingml/2006/main">
              <a:ext uri="{FF2B5EF4-FFF2-40B4-BE49-F238E27FC236}">
                <a16:creationId xmlns:a16="http://schemas.microsoft.com/office/drawing/2014/main" id="{40657903-14F0-4428-A928-EDF6F8B18AFB}"/>
              </a:ext>
            </a:extLst>
          </p:cNvPr>
          <p:cNvSpPr>
            <a:spLocks xmlns:a="http://schemas.openxmlformats.org/drawingml/2006/main" noGrp="1"/>
          </p:cNvSpPr>
          <p:nvPr/>
        </p:nvSpPr>
        <p:spPr>
          <a:xfrm xmlns:a="http://schemas.openxmlformats.org/drawingml/2006/main">
            <a:off x="8486775" y="36671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75" name=""/>
          <p:cNvCxnSpPr>
            <a:stCxn xmlns:a="http://schemas.openxmlformats.org/drawingml/2006/main" id="24" idx="3"/>
            <a:endCxn xmlns:a="http://schemas.openxmlformats.org/drawingml/2006/main" id="36" idx="1"/>
          </p:cNvCxnSpPr>
          <p:nvPr/>
        </p:nvCxnSpPr>
        <p:spPr>
          <a:xfrm xmlns:a="http://schemas.openxmlformats.org/drawingml/2006/main" flipV="1">
            <a:off x="7858125" y="3671888"/>
            <a:ext cx="628650" cy="123825"/>
          </a:xfrm>
          <a:prstGeom xmlns:a="http://schemas.openxmlformats.org/drawingml/2006/main" prst="straightConnector1">
            <a:avLst/>
          </a:prstGeom>
          <a:ln xmlns:a="http://schemas.openxmlformats.org/drawingml/2006/main" w="28575">
            <a:solidFill>
              <a:srgbClr val="D79A2B"/>
            </a:solidFill>
            <a:prstDash val="solid"/>
            <a:tailEnd type="triangle" w="sm" len="sm"/>
          </a:ln>
        </p:spPr>
      </p:cxnSp>
      <p:sp>
        <p:nvSpPr>
          <p:cNvPr id="38" name="">
            <a:extLst xmlns:a="http://schemas.openxmlformats.org/drawingml/2006/main">
              <a:ext uri="{FF2B5EF4-FFF2-40B4-BE49-F238E27FC236}">
                <a16:creationId xmlns:a16="http://schemas.microsoft.com/office/drawing/2014/main" id="{236E82F2-4430-4AC5-9F35-4C922766B85F}"/>
              </a:ext>
            </a:extLst>
          </p:cNvPr>
          <p:cNvSpPr>
            <a:spLocks xmlns:a="http://schemas.openxmlformats.org/drawingml/2006/main" noGrp="1"/>
          </p:cNvSpPr>
          <p:nvPr/>
        </p:nvSpPr>
        <p:spPr>
          <a:xfrm xmlns:a="http://schemas.openxmlformats.org/drawingml/2006/main">
            <a:off x="4762500" y="4981575"/>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137"/>
          </a:bodyPr>
          <a:lstStyle xmlns:a="http://schemas.openxmlformats.org/drawingml/2006/main"/>
          <a:p xmlns:a="http://schemas.openxmlformats.org/drawingml/2006/main">
            <a:pPr algn="l">
              <a:lnSpc>
                <a:spcPct val="105000"/>
              </a:lnSpc>
              <a:buNone/>
              <a:defRPr sz="1500" b="1">
                <a:solidFill>
                  <a:srgbClr val="10263B"/>
                </a:solidFill>
                <a:latin typeface="Arial"/>
                <a:ea typeface="Arial"/>
                <a:cs typeface="Arial"/>
              </a:defRPr>
            </a:pPr>
            <a:r>
              <a:rPr sz="1500" b="1">
                <a:solidFill>
                  <a:srgbClr val="10263B"/>
                </a:solidFill>
                <a:latin typeface="Arial"/>
                <a:ea typeface="Arial"/>
                <a:cs typeface="Arial"/>
              </a:rPr>
              <a:t>Each document answers a different question; the process has to reconcile them.</a:t>
            </a:r>
          </a:p>
        </p:txBody>
      </p:sp>
    </p:spTree>
    <p:extLst>
      <p:ext uri="{BB962C8B-B14F-4D97-AF65-F5344CB8AC3E}">
        <p14:creationId xmlns:p14="http://schemas.microsoft.com/office/powerpoint/2010/main" val="348727517"/>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789A1BC-91A0-42BF-8983-5854004690FD}"/>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01  /  THE PROBLEM</a:t>
            </a:r>
          </a:p>
        </p:txBody>
      </p:sp>
      <p:sp>
        <p:nvSpPr>
          <p:cNvPr id="2" name="">
            <a:extLst xmlns:a="http://schemas.openxmlformats.org/drawingml/2006/main">
              <a:ext uri="{FF2B5EF4-FFF2-40B4-BE49-F238E27FC236}">
                <a16:creationId xmlns:a16="http://schemas.microsoft.com/office/drawing/2014/main" id="{1C4175EF-DBD0-45EB-8188-14A9FE66B95F}"/>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Reading a value is not enough; we need to know where it came from</a:t>
            </a:r>
          </a:p>
        </p:txBody>
      </p:sp>
      <p:sp>
        <p:nvSpPr>
          <p:cNvPr id="3" name="">
            <a:extLst xmlns:a="http://schemas.openxmlformats.org/drawingml/2006/main">
              <a:ext uri="{FF2B5EF4-FFF2-40B4-BE49-F238E27FC236}">
                <a16:creationId xmlns:a16="http://schemas.microsoft.com/office/drawing/2014/main" id="{1DB62D01-B113-4A29-A0F1-7417138FCBE2}"/>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FBC848-9147-44C5-AE66-0BE7F38F609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DC9C7E6-EAE1-4279-9D5A-1EAFC3D90C0A}"/>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F1499D97-A908-4BA2-8E67-B14EEA2C9DC8}"/>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C2DAC098-3119-4875-AF8D-D0E374B72503}"/>
              </a:ext>
            </a:extLst>
          </p:cNvPr>
          <p:cNvSpPr>
            <a:spLocks xmlns:a="http://schemas.openxmlformats.org/drawingml/2006/main" noGrp="1"/>
          </p:cNvSpPr>
          <p:nvPr/>
        </p:nvSpPr>
        <p:spPr>
          <a:xfrm xmlns:a="http://schemas.openxmlformats.org/drawingml/2006/main">
            <a:off x="628650" y="1809750"/>
            <a:ext cx="2476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77BBE663-6D47-46A8-B222-C644FE709306}"/>
              </a:ext>
            </a:extLst>
          </p:cNvPr>
          <p:cNvSpPr>
            <a:spLocks xmlns:a="http://schemas.openxmlformats.org/drawingml/2006/main" noGrp="1"/>
          </p:cNvSpPr>
          <p:nvPr/>
        </p:nvSpPr>
        <p:spPr>
          <a:xfrm xmlns:a="http://schemas.openxmlformats.org/drawingml/2006/main">
            <a:off x="800100" y="1924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5917114C-61BD-40EC-A6EF-152BCBA717BD}"/>
              </a:ext>
            </a:extLst>
          </p:cNvPr>
          <p:cNvSpPr>
            <a:spLocks xmlns:a="http://schemas.openxmlformats.org/drawingml/2006/main" noGrp="1"/>
          </p:cNvSpPr>
          <p:nvPr/>
        </p:nvSpPr>
        <p:spPr>
          <a:xfrm xmlns:a="http://schemas.openxmlformats.org/drawingml/2006/main">
            <a:off x="800100" y="2133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PDF PAGE</a:t>
            </a:r>
          </a:p>
        </p:txBody>
      </p:sp>
      <p:sp>
        <p:nvSpPr>
          <p:cNvPr id="10" name="">
            <a:extLst xmlns:a="http://schemas.openxmlformats.org/drawingml/2006/main">
              <a:ext uri="{FF2B5EF4-FFF2-40B4-BE49-F238E27FC236}">
                <a16:creationId xmlns:a16="http://schemas.microsoft.com/office/drawing/2014/main" id="{3DFE1290-0B7A-47BC-8079-AA2A764F5F04}"/>
              </a:ext>
            </a:extLst>
          </p:cNvPr>
          <p:cNvSpPr>
            <a:spLocks xmlns:a="http://schemas.openxmlformats.org/drawingml/2006/main" noGrp="1"/>
          </p:cNvSpPr>
          <p:nvPr/>
        </p:nvSpPr>
        <p:spPr>
          <a:xfrm xmlns:a="http://schemas.openxmlformats.org/drawingml/2006/main">
            <a:off x="800100" y="25146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Text block</a:t>
            </a:r>
          </a:p>
        </p:txBody>
      </p:sp>
      <p:sp>
        <p:nvSpPr>
          <p:cNvPr id="11" name="">
            <a:extLst xmlns:a="http://schemas.openxmlformats.org/drawingml/2006/main">
              <a:ext uri="{FF2B5EF4-FFF2-40B4-BE49-F238E27FC236}">
                <a16:creationId xmlns:a16="http://schemas.microsoft.com/office/drawing/2014/main" id="{7F7C2DA4-6051-471E-9CFE-F251F4B8D9F5}"/>
              </a:ext>
            </a:extLst>
          </p:cNvPr>
          <p:cNvSpPr>
            <a:spLocks xmlns:a="http://schemas.openxmlformats.org/drawingml/2006/main" noGrp="1"/>
          </p:cNvSpPr>
          <p:nvPr/>
        </p:nvSpPr>
        <p:spPr>
          <a:xfrm xmlns:a="http://schemas.openxmlformats.org/drawingml/2006/main">
            <a:off x="3429000" y="1809750"/>
            <a:ext cx="2476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FDF"/>
            </a:solidFill>
            <a:prstDash val="solid"/>
          </a:ln>
        </p:spPr>
      </p:sp>
      <p:sp>
        <p:nvSpPr>
          <p:cNvPr id="12" name="">
            <a:extLst xmlns:a="http://schemas.openxmlformats.org/drawingml/2006/main">
              <a:ext uri="{FF2B5EF4-FFF2-40B4-BE49-F238E27FC236}">
                <a16:creationId xmlns:a16="http://schemas.microsoft.com/office/drawing/2014/main" id="{59F6AAEF-7459-4AF7-9EC9-AEE9AACAE3DE}"/>
              </a:ext>
            </a:extLst>
          </p:cNvPr>
          <p:cNvSpPr>
            <a:spLocks xmlns:a="http://schemas.openxmlformats.org/drawingml/2006/main" noGrp="1"/>
          </p:cNvSpPr>
          <p:nvPr/>
        </p:nvSpPr>
        <p:spPr>
          <a:xfrm xmlns:a="http://schemas.openxmlformats.org/drawingml/2006/main">
            <a:off x="3600450" y="1924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8B11AE0D-92CA-4777-B495-47519F240A91}"/>
              </a:ext>
            </a:extLst>
          </p:cNvPr>
          <p:cNvSpPr>
            <a:spLocks xmlns:a="http://schemas.openxmlformats.org/drawingml/2006/main" noGrp="1"/>
          </p:cNvSpPr>
          <p:nvPr/>
        </p:nvSpPr>
        <p:spPr>
          <a:xfrm xmlns:a="http://schemas.openxmlformats.org/drawingml/2006/main">
            <a:off x="3600450" y="2133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SCANNED IMAGE</a:t>
            </a:r>
          </a:p>
        </p:txBody>
      </p:sp>
      <p:sp>
        <p:nvSpPr>
          <p:cNvPr id="14" name="">
            <a:extLst xmlns:a="http://schemas.openxmlformats.org/drawingml/2006/main">
              <a:ext uri="{FF2B5EF4-FFF2-40B4-BE49-F238E27FC236}">
                <a16:creationId xmlns:a16="http://schemas.microsoft.com/office/drawing/2014/main" id="{B3385EFA-2C64-4243-97A0-15F15DAC73B5}"/>
              </a:ext>
            </a:extLst>
          </p:cNvPr>
          <p:cNvSpPr>
            <a:spLocks xmlns:a="http://schemas.openxmlformats.org/drawingml/2006/main" noGrp="1"/>
          </p:cNvSpPr>
          <p:nvPr/>
        </p:nvSpPr>
        <p:spPr>
          <a:xfrm xmlns:a="http://schemas.openxmlformats.org/drawingml/2006/main">
            <a:off x="3600450" y="25146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OCR region</a:t>
            </a:r>
          </a:p>
        </p:txBody>
      </p:sp>
      <p:sp>
        <p:nvSpPr>
          <p:cNvPr id="15" name="">
            <a:extLst xmlns:a="http://schemas.openxmlformats.org/drawingml/2006/main">
              <a:ext uri="{FF2B5EF4-FFF2-40B4-BE49-F238E27FC236}">
                <a16:creationId xmlns:a16="http://schemas.microsoft.com/office/drawing/2014/main" id="{044CA733-FDB8-42D3-8DE6-DB35B2EE03A0}"/>
              </a:ext>
            </a:extLst>
          </p:cNvPr>
          <p:cNvSpPr>
            <a:spLocks xmlns:a="http://schemas.openxmlformats.org/drawingml/2006/main" noGrp="1"/>
          </p:cNvSpPr>
          <p:nvPr/>
        </p:nvSpPr>
        <p:spPr>
          <a:xfrm xmlns:a="http://schemas.openxmlformats.org/drawingml/2006/main">
            <a:off x="6229350" y="1809750"/>
            <a:ext cx="2476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FDF"/>
            </a:solidFill>
            <a:prstDash val="solid"/>
          </a:ln>
        </p:spPr>
      </p:sp>
      <p:sp>
        <p:nvSpPr>
          <p:cNvPr id="16" name="">
            <a:extLst xmlns:a="http://schemas.openxmlformats.org/drawingml/2006/main">
              <a:ext uri="{FF2B5EF4-FFF2-40B4-BE49-F238E27FC236}">
                <a16:creationId xmlns:a16="http://schemas.microsoft.com/office/drawing/2014/main" id="{A8992983-29A7-469D-8453-4918F8AFC3DB}"/>
              </a:ext>
            </a:extLst>
          </p:cNvPr>
          <p:cNvSpPr>
            <a:spLocks xmlns:a="http://schemas.openxmlformats.org/drawingml/2006/main" noGrp="1"/>
          </p:cNvSpPr>
          <p:nvPr/>
        </p:nvSpPr>
        <p:spPr>
          <a:xfrm xmlns:a="http://schemas.openxmlformats.org/drawingml/2006/main">
            <a:off x="6400800" y="1924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C34F16FF-B37D-4DF2-AA50-E7F43DE8B234}"/>
              </a:ext>
            </a:extLst>
          </p:cNvPr>
          <p:cNvSpPr>
            <a:spLocks xmlns:a="http://schemas.openxmlformats.org/drawingml/2006/main" noGrp="1"/>
          </p:cNvSpPr>
          <p:nvPr/>
        </p:nvSpPr>
        <p:spPr>
          <a:xfrm xmlns:a="http://schemas.openxmlformats.org/drawingml/2006/main">
            <a:off x="6400800" y="2133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SPREADSHEET</a:t>
            </a:r>
          </a:p>
        </p:txBody>
      </p:sp>
      <p:sp>
        <p:nvSpPr>
          <p:cNvPr id="18" name="">
            <a:extLst xmlns:a="http://schemas.openxmlformats.org/drawingml/2006/main">
              <a:ext uri="{FF2B5EF4-FFF2-40B4-BE49-F238E27FC236}">
                <a16:creationId xmlns:a16="http://schemas.microsoft.com/office/drawing/2014/main" id="{2DBF61FC-CD5F-44E3-BFA0-9333729635A9}"/>
              </a:ext>
            </a:extLst>
          </p:cNvPr>
          <p:cNvSpPr>
            <a:spLocks xmlns:a="http://schemas.openxmlformats.org/drawingml/2006/main" noGrp="1"/>
          </p:cNvSpPr>
          <p:nvPr/>
        </p:nvSpPr>
        <p:spPr>
          <a:xfrm xmlns:a="http://schemas.openxmlformats.org/drawingml/2006/main">
            <a:off x="6400800" y="25146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Cell / range</a:t>
            </a:r>
          </a:p>
        </p:txBody>
      </p:sp>
      <p:sp>
        <p:nvSpPr>
          <p:cNvPr id="19" name="">
            <a:extLst xmlns:a="http://schemas.openxmlformats.org/drawingml/2006/main">
              <a:ext uri="{FF2B5EF4-FFF2-40B4-BE49-F238E27FC236}">
                <a16:creationId xmlns:a16="http://schemas.microsoft.com/office/drawing/2014/main" id="{EF65EB5A-6331-41CC-9FF8-7A30E5AB7BEF}"/>
              </a:ext>
            </a:extLst>
          </p:cNvPr>
          <p:cNvSpPr>
            <a:spLocks xmlns:a="http://schemas.openxmlformats.org/drawingml/2006/main" noGrp="1"/>
          </p:cNvSpPr>
          <p:nvPr/>
        </p:nvSpPr>
        <p:spPr>
          <a:xfrm xmlns:a="http://schemas.openxmlformats.org/drawingml/2006/main">
            <a:off x="9029700" y="1809750"/>
            <a:ext cx="2476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FDF"/>
            </a:solidFill>
            <a:prstDash val="solid"/>
          </a:ln>
        </p:spPr>
      </p:sp>
      <p:sp>
        <p:nvSpPr>
          <p:cNvPr id="20" name="">
            <a:extLst xmlns:a="http://schemas.openxmlformats.org/drawingml/2006/main">
              <a:ext uri="{FF2B5EF4-FFF2-40B4-BE49-F238E27FC236}">
                <a16:creationId xmlns:a16="http://schemas.microsoft.com/office/drawing/2014/main" id="{9B753C63-F0AA-47CC-9C28-8524A4CCA35E}"/>
              </a:ext>
            </a:extLst>
          </p:cNvPr>
          <p:cNvSpPr>
            <a:spLocks xmlns:a="http://schemas.openxmlformats.org/drawingml/2006/main" noGrp="1"/>
          </p:cNvSpPr>
          <p:nvPr/>
        </p:nvSpPr>
        <p:spPr>
          <a:xfrm xmlns:a="http://schemas.openxmlformats.org/drawingml/2006/main">
            <a:off x="9201150" y="1924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21D06947-146F-4957-B991-E5BC9EC0C878}"/>
              </a:ext>
            </a:extLst>
          </p:cNvPr>
          <p:cNvSpPr>
            <a:spLocks xmlns:a="http://schemas.openxmlformats.org/drawingml/2006/main" noGrp="1"/>
          </p:cNvSpPr>
          <p:nvPr/>
        </p:nvSpPr>
        <p:spPr>
          <a:xfrm xmlns:a="http://schemas.openxmlformats.org/drawingml/2006/main">
            <a:off x="9201150" y="2133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DOCUMENT TABLE</a:t>
            </a:r>
          </a:p>
        </p:txBody>
      </p:sp>
      <p:sp>
        <p:nvSpPr>
          <p:cNvPr id="22" name="">
            <a:extLst xmlns:a="http://schemas.openxmlformats.org/drawingml/2006/main">
              <a:ext uri="{FF2B5EF4-FFF2-40B4-BE49-F238E27FC236}">
                <a16:creationId xmlns:a16="http://schemas.microsoft.com/office/drawing/2014/main" id="{8B14C79E-BB1F-4EE8-B1F8-DB35E81F6AC5}"/>
              </a:ext>
            </a:extLst>
          </p:cNvPr>
          <p:cNvSpPr>
            <a:spLocks xmlns:a="http://schemas.openxmlformats.org/drawingml/2006/main" noGrp="1"/>
          </p:cNvSpPr>
          <p:nvPr/>
        </p:nvSpPr>
        <p:spPr>
          <a:xfrm xmlns:a="http://schemas.openxmlformats.org/drawingml/2006/main">
            <a:off x="9201150" y="25146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Row / column</a:t>
            </a:r>
          </a:p>
        </p:txBody>
      </p:sp>
      <p:sp>
        <p:nvSpPr>
          <p:cNvPr id="23" name="">
            <a:extLst xmlns:a="http://schemas.openxmlformats.org/drawingml/2006/main">
              <a:ext uri="{FF2B5EF4-FFF2-40B4-BE49-F238E27FC236}">
                <a16:creationId xmlns:a16="http://schemas.microsoft.com/office/drawing/2014/main" id="{611E34FC-CFD1-4425-BC43-13869A65B2A2}"/>
              </a:ext>
            </a:extLst>
          </p:cNvPr>
          <p:cNvSpPr>
            <a:spLocks xmlns:a="http://schemas.openxmlformats.org/drawingml/2006/main" noGrp="1"/>
          </p:cNvSpPr>
          <p:nvPr/>
        </p:nvSpPr>
        <p:spPr>
          <a:xfrm xmlns:a="http://schemas.openxmlformats.org/drawingml/2006/main">
            <a:off x="1524000" y="3333750"/>
            <a:ext cx="2714625" cy="1238250"/>
          </a:xfrm>
          <a:prstGeom xmlns:a="http://schemas.openxmlformats.org/drawingml/2006/main" prst="roundRect">
            <a:avLst>
              <a:gd name="adj" fmla="val 12308"/>
            </a:avLst>
          </a:prstGeom>
          <a:solidFill xmlns:a="http://schemas.openxmlformats.org/drawingml/2006/main">
            <a:srgbClr val="DDF2EF"/>
          </a:solidFill>
          <a:ln xmlns:a="http://schemas.openxmlformats.org/drawingml/2006/main" w="9525">
            <a:solidFill>
              <a:srgbClr val="A7D8D1"/>
            </a:solidFill>
            <a:prstDash val="solid"/>
          </a:ln>
        </p:spPr>
      </p:sp>
      <p:sp>
        <p:nvSpPr>
          <p:cNvPr id="24" name="">
            <a:extLst xmlns:a="http://schemas.openxmlformats.org/drawingml/2006/main">
              <a:ext uri="{FF2B5EF4-FFF2-40B4-BE49-F238E27FC236}">
                <a16:creationId xmlns:a16="http://schemas.microsoft.com/office/drawing/2014/main" id="{671E2B5A-3781-4C1F-AAA5-42A44925F39C}"/>
              </a:ext>
            </a:extLst>
          </p:cNvPr>
          <p:cNvSpPr>
            <a:spLocks xmlns:a="http://schemas.openxmlformats.org/drawingml/2006/main" noGrp="1"/>
          </p:cNvSpPr>
          <p:nvPr/>
        </p:nvSpPr>
        <p:spPr>
          <a:xfrm xmlns:a="http://schemas.openxmlformats.org/drawingml/2006/main">
            <a:off x="1695450" y="3448050"/>
            <a:ext cx="2371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INTERPRET</a:t>
            </a:r>
          </a:p>
        </p:txBody>
      </p:sp>
      <p:sp>
        <p:nvSpPr>
          <p:cNvPr id="25" name="">
            <a:extLst xmlns:a="http://schemas.openxmlformats.org/drawingml/2006/main">
              <a:ext uri="{FF2B5EF4-FFF2-40B4-BE49-F238E27FC236}">
                <a16:creationId xmlns:a16="http://schemas.microsoft.com/office/drawing/2014/main" id="{C121587A-FA0B-4FC3-9AB1-43166F7FABC3}"/>
              </a:ext>
            </a:extLst>
          </p:cNvPr>
          <p:cNvSpPr>
            <a:spLocks xmlns:a="http://schemas.openxmlformats.org/drawingml/2006/main" noGrp="1"/>
          </p:cNvSpPr>
          <p:nvPr/>
        </p:nvSpPr>
        <p:spPr>
          <a:xfrm xmlns:a="http://schemas.openxmlformats.org/drawingml/2006/main">
            <a:off x="1695450" y="3657600"/>
            <a:ext cx="2371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B2B36"/>
                </a:solidFill>
                <a:latin typeface="Arial"/>
                <a:ea typeface="Arial"/>
                <a:cs typeface="Arial"/>
              </a:defRPr>
            </a:pPr>
            <a:r>
              <a:rPr sz="1650" b="1">
                <a:solidFill>
                  <a:srgbClr val="1B2B36"/>
                </a:solidFill>
                <a:latin typeface="Arial"/>
                <a:ea typeface="Arial"/>
                <a:cs typeface="Arial"/>
              </a:rPr>
              <a:t>NORMALIZE</a:t>
            </a:r>
          </a:p>
        </p:txBody>
      </p:sp>
      <p:sp>
        <p:nvSpPr>
          <p:cNvPr id="26" name="">
            <a:extLst xmlns:a="http://schemas.openxmlformats.org/drawingml/2006/main">
              <a:ext uri="{FF2B5EF4-FFF2-40B4-BE49-F238E27FC236}">
                <a16:creationId xmlns:a16="http://schemas.microsoft.com/office/drawing/2014/main" id="{955275A6-6622-465B-83E4-9CBB63138907}"/>
              </a:ext>
            </a:extLst>
          </p:cNvPr>
          <p:cNvSpPr>
            <a:spLocks xmlns:a="http://schemas.openxmlformats.org/drawingml/2006/main" noGrp="1"/>
          </p:cNvSpPr>
          <p:nvPr/>
        </p:nvSpPr>
        <p:spPr>
          <a:xfrm xmlns:a="http://schemas.openxmlformats.org/drawingml/2006/main">
            <a:off x="1695450" y="4038600"/>
            <a:ext cx="23717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Format and wording may vary</a:t>
            </a:r>
          </a:p>
        </p:txBody>
      </p:sp>
      <p:sp>
        <p:nvSpPr>
          <p:cNvPr id="27" name="">
            <a:extLst xmlns:a="http://schemas.openxmlformats.org/drawingml/2006/main">
              <a:ext uri="{FF2B5EF4-FFF2-40B4-BE49-F238E27FC236}">
                <a16:creationId xmlns:a16="http://schemas.microsoft.com/office/drawing/2014/main" id="{8E806260-8F34-45B5-B747-87F279893489}"/>
              </a:ext>
            </a:extLst>
          </p:cNvPr>
          <p:cNvSpPr>
            <a:spLocks xmlns:a="http://schemas.openxmlformats.org/drawingml/2006/main" noGrp="1"/>
          </p:cNvSpPr>
          <p:nvPr/>
        </p:nvSpPr>
        <p:spPr>
          <a:xfrm xmlns:a="http://schemas.openxmlformats.org/drawingml/2006/main">
            <a:off x="4772025" y="3333750"/>
            <a:ext cx="2905125"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DFDF"/>
            </a:solidFill>
            <a:prstDash val="solid"/>
          </a:ln>
        </p:spPr>
      </p:sp>
      <p:sp>
        <p:nvSpPr>
          <p:cNvPr id="28" name="">
            <a:extLst xmlns:a="http://schemas.openxmlformats.org/drawingml/2006/main">
              <a:ext uri="{FF2B5EF4-FFF2-40B4-BE49-F238E27FC236}">
                <a16:creationId xmlns:a16="http://schemas.microsoft.com/office/drawing/2014/main" id="{D8B1EE86-FC6E-480E-8790-BD01BB8BB54E}"/>
              </a:ext>
            </a:extLst>
          </p:cNvPr>
          <p:cNvSpPr>
            <a:spLocks xmlns:a="http://schemas.openxmlformats.org/drawingml/2006/main" noGrp="1"/>
          </p:cNvSpPr>
          <p:nvPr/>
        </p:nvSpPr>
        <p:spPr>
          <a:xfrm xmlns:a="http://schemas.openxmlformats.org/drawingml/2006/main">
            <a:off x="4943475" y="3448050"/>
            <a:ext cx="25622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STRUCTURE</a:t>
            </a:r>
          </a:p>
        </p:txBody>
      </p:sp>
      <p:sp>
        <p:nvSpPr>
          <p:cNvPr id="29" name="">
            <a:extLst xmlns:a="http://schemas.openxmlformats.org/drawingml/2006/main">
              <a:ext uri="{FF2B5EF4-FFF2-40B4-BE49-F238E27FC236}">
                <a16:creationId xmlns:a16="http://schemas.microsoft.com/office/drawing/2014/main" id="{31B37D39-4B3B-4215-84AA-F7FD0D836747}"/>
              </a:ext>
            </a:extLst>
          </p:cNvPr>
          <p:cNvSpPr>
            <a:spLocks xmlns:a="http://schemas.openxmlformats.org/drawingml/2006/main" noGrp="1"/>
          </p:cNvSpPr>
          <p:nvPr/>
        </p:nvSpPr>
        <p:spPr>
          <a:xfrm xmlns:a="http://schemas.openxmlformats.org/drawingml/2006/main">
            <a:off x="4943475" y="365760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B2B36"/>
                </a:solidFill>
                <a:latin typeface="Arial"/>
                <a:ea typeface="Arial"/>
                <a:cs typeface="Arial"/>
              </a:defRPr>
            </a:pPr>
            <a:r>
              <a:rPr sz="1575" b="1">
                <a:solidFill>
                  <a:srgbClr val="1B2B36"/>
                </a:solidFill>
                <a:latin typeface="Arial"/>
                <a:ea typeface="Arial"/>
                <a:cs typeface="Arial"/>
              </a:rPr>
              <a:t>EXTRACTED CLAIM</a:t>
            </a:r>
          </a:p>
        </p:txBody>
      </p:sp>
      <p:sp>
        <p:nvSpPr>
          <p:cNvPr id="30" name="">
            <a:extLst xmlns:a="http://schemas.openxmlformats.org/drawingml/2006/main">
              <a:ext uri="{FF2B5EF4-FFF2-40B4-BE49-F238E27FC236}">
                <a16:creationId xmlns:a16="http://schemas.microsoft.com/office/drawing/2014/main" id="{B90FE58E-92E6-46C8-B02B-DCE5ACF66501}"/>
              </a:ext>
            </a:extLst>
          </p:cNvPr>
          <p:cNvSpPr>
            <a:spLocks xmlns:a="http://schemas.openxmlformats.org/drawingml/2006/main" noGrp="1"/>
          </p:cNvSpPr>
          <p:nvPr/>
        </p:nvSpPr>
        <p:spPr>
          <a:xfrm xmlns:a="http://schemas.openxmlformats.org/drawingml/2006/main">
            <a:off x="4943475" y="4038600"/>
            <a:ext cx="25622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Supplier • amount • date • quantity</a:t>
            </a:r>
          </a:p>
        </p:txBody>
      </p:sp>
      <p:sp>
        <p:nvSpPr>
          <p:cNvPr id="31" name="">
            <a:extLst xmlns:a="http://schemas.openxmlformats.org/drawingml/2006/main">
              <a:ext uri="{FF2B5EF4-FFF2-40B4-BE49-F238E27FC236}">
                <a16:creationId xmlns:a16="http://schemas.microsoft.com/office/drawing/2014/main" id="{3BEF262C-D3F1-485B-9332-141B1D9ADA5A}"/>
              </a:ext>
            </a:extLst>
          </p:cNvPr>
          <p:cNvSpPr>
            <a:spLocks xmlns:a="http://schemas.openxmlformats.org/drawingml/2006/main" noGrp="1"/>
          </p:cNvSpPr>
          <p:nvPr/>
        </p:nvSpPr>
        <p:spPr>
          <a:xfrm xmlns:a="http://schemas.openxmlformats.org/drawingml/2006/main">
            <a:off x="8229600" y="3333750"/>
            <a:ext cx="2857500" cy="1238250"/>
          </a:xfrm>
          <a:prstGeom xmlns:a="http://schemas.openxmlformats.org/drawingml/2006/main" prst="roundRect">
            <a:avLst>
              <a:gd name="adj" fmla="val 12308"/>
            </a:avLst>
          </a:prstGeom>
          <a:solidFill xmlns:a="http://schemas.openxmlformats.org/drawingml/2006/main">
            <a:srgbClr val="10263B"/>
          </a:solidFill>
          <a:ln xmlns:a="http://schemas.openxmlformats.org/drawingml/2006/main" w="9525">
            <a:solidFill>
              <a:srgbClr val="10263B"/>
            </a:solidFill>
            <a:prstDash val="solid"/>
          </a:ln>
        </p:spPr>
      </p:sp>
      <p:sp>
        <p:nvSpPr>
          <p:cNvPr id="32" name="">
            <a:extLst xmlns:a="http://schemas.openxmlformats.org/drawingml/2006/main">
              <a:ext uri="{FF2B5EF4-FFF2-40B4-BE49-F238E27FC236}">
                <a16:creationId xmlns:a16="http://schemas.microsoft.com/office/drawing/2014/main" id="{B0F350B8-E820-4685-B699-F714F00074F6}"/>
              </a:ext>
            </a:extLst>
          </p:cNvPr>
          <p:cNvSpPr>
            <a:spLocks xmlns:a="http://schemas.openxmlformats.org/drawingml/2006/main" noGrp="1"/>
          </p:cNvSpPr>
          <p:nvPr/>
        </p:nvSpPr>
        <p:spPr>
          <a:xfrm xmlns:a="http://schemas.openxmlformats.org/drawingml/2006/main">
            <a:off x="8401050" y="344805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TRACE</a:t>
            </a:r>
          </a:p>
        </p:txBody>
      </p:sp>
      <p:sp>
        <p:nvSpPr>
          <p:cNvPr id="33" name="">
            <a:extLst xmlns:a="http://schemas.openxmlformats.org/drawingml/2006/main">
              <a:ext uri="{FF2B5EF4-FFF2-40B4-BE49-F238E27FC236}">
                <a16:creationId xmlns:a16="http://schemas.microsoft.com/office/drawing/2014/main" id="{E033CB36-3E69-4507-9E93-C3BBC21C344A}"/>
              </a:ext>
            </a:extLst>
          </p:cNvPr>
          <p:cNvSpPr>
            <a:spLocks xmlns:a="http://schemas.openxmlformats.org/drawingml/2006/main" noGrp="1"/>
          </p:cNvSpPr>
          <p:nvPr/>
        </p:nvSpPr>
        <p:spPr>
          <a:xfrm xmlns:a="http://schemas.openxmlformats.org/drawingml/2006/main">
            <a:off x="8401050" y="36576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PROVENANCE</a:t>
            </a:r>
          </a:p>
        </p:txBody>
      </p:sp>
      <p:sp>
        <p:nvSpPr>
          <p:cNvPr id="34" name="">
            <a:extLst xmlns:a="http://schemas.openxmlformats.org/drawingml/2006/main">
              <a:ext uri="{FF2B5EF4-FFF2-40B4-BE49-F238E27FC236}">
                <a16:creationId xmlns:a16="http://schemas.microsoft.com/office/drawing/2014/main" id="{FE1C1D4B-4D83-47E4-A0A2-B172565EA2A8}"/>
              </a:ext>
            </a:extLst>
          </p:cNvPr>
          <p:cNvSpPr>
            <a:spLocks xmlns:a="http://schemas.openxmlformats.org/drawingml/2006/main" noGrp="1"/>
          </p:cNvSpPr>
          <p:nvPr/>
        </p:nvSpPr>
        <p:spPr>
          <a:xfrm xmlns:a="http://schemas.openxmlformats.org/drawingml/2006/main">
            <a:off x="8401050" y="4038600"/>
            <a:ext cx="2514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D2DEE3"/>
                </a:solidFill>
                <a:latin typeface="Arial"/>
                <a:ea typeface="Arial"/>
                <a:cs typeface="Arial"/>
              </a:defRPr>
            </a:pPr>
            <a:r>
              <a:rPr sz="1050" b="0">
                <a:solidFill>
                  <a:srgbClr val="D2DEE3"/>
                </a:solidFill>
                <a:latin typeface="Arial"/>
                <a:ea typeface="Arial"/>
                <a:cs typeface="Arial"/>
              </a:rPr>
              <a:t>Source text + document location</a:t>
            </a:r>
          </a:p>
        </p:txBody>
      </p:sp>
      <p:sp>
        <p:nvSpPr>
          <p:cNvPr id="35" name="">
            <a:extLst xmlns:a="http://schemas.openxmlformats.org/drawingml/2006/main">
              <a:ext uri="{FF2B5EF4-FFF2-40B4-BE49-F238E27FC236}">
                <a16:creationId xmlns:a16="http://schemas.microsoft.com/office/drawing/2014/main" id="{044D47DF-3FE6-47DA-81AE-B82E3D189461}"/>
              </a:ext>
            </a:extLst>
          </p:cNvPr>
          <p:cNvSpPr>
            <a:spLocks xmlns:a="http://schemas.openxmlformats.org/drawingml/2006/main" noGrp="1"/>
          </p:cNvSpPr>
          <p:nvPr/>
        </p:nvSpPr>
        <p:spPr>
          <a:xfrm xmlns:a="http://schemas.openxmlformats.org/drawingml/2006/main">
            <a:off x="1619250"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1" name=""/>
          <p:cNvCxnSpPr>
            <a:stCxn xmlns:a="http://schemas.openxmlformats.org/drawingml/2006/main" id="35" idx="2"/>
            <a:endCxn xmlns:a="http://schemas.openxmlformats.org/drawingml/2006/main" id="23" idx="0"/>
          </p:cNvCxnSpPr>
          <p:nvPr/>
        </p:nvCxnSpPr>
        <p:spPr>
          <a:xfrm xmlns:a="http://schemas.openxmlformats.org/drawingml/2006/main">
            <a:off x="1624013" y="3009900"/>
            <a:ext cx="1257300" cy="323850"/>
          </a:xfrm>
          <a:prstGeom xmlns:a="http://schemas.openxmlformats.org/drawingml/2006/main" prst="bentConnector4">
            <a:avLst>
              <a:gd name="adj1" fmla="val 0"/>
              <a:gd name="adj2" fmla="val 50000"/>
            </a:avLst>
          </a:prstGeom>
          <a:ln xmlns:a="http://schemas.openxmlformats.org/drawingml/2006/main" w="14288">
            <a:solidFill>
              <a:srgbClr val="D8DFDF"/>
            </a:solidFill>
            <a:prstDash val="solid"/>
          </a:ln>
        </p:spPr>
      </p:cxnSp>
      <p:sp>
        <p:nvSpPr>
          <p:cNvPr id="37" name="">
            <a:extLst xmlns:a="http://schemas.openxmlformats.org/drawingml/2006/main">
              <a:ext uri="{FF2B5EF4-FFF2-40B4-BE49-F238E27FC236}">
                <a16:creationId xmlns:a16="http://schemas.microsoft.com/office/drawing/2014/main" id="{26ADAD19-8641-49D5-9789-3AA31ACC6C89}"/>
              </a:ext>
            </a:extLst>
          </p:cNvPr>
          <p:cNvSpPr>
            <a:spLocks xmlns:a="http://schemas.openxmlformats.org/drawingml/2006/main" noGrp="1"/>
          </p:cNvSpPr>
          <p:nvPr/>
        </p:nvSpPr>
        <p:spPr>
          <a:xfrm xmlns:a="http://schemas.openxmlformats.org/drawingml/2006/main">
            <a:off x="4419600"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3" name=""/>
          <p:cNvCxnSpPr>
            <a:stCxn xmlns:a="http://schemas.openxmlformats.org/drawingml/2006/main" id="37" idx="2"/>
            <a:endCxn xmlns:a="http://schemas.openxmlformats.org/drawingml/2006/main" id="23" idx="0"/>
          </p:cNvCxnSpPr>
          <p:nvPr/>
        </p:nvCxnSpPr>
        <p:spPr>
          <a:xfrm xmlns:a="http://schemas.openxmlformats.org/drawingml/2006/main" flipH="1">
            <a:off x="2881313" y="3009900"/>
            <a:ext cx="1543050" cy="323850"/>
          </a:xfrm>
          <a:prstGeom xmlns:a="http://schemas.openxmlformats.org/drawingml/2006/main" prst="bentConnector4">
            <a:avLst>
              <a:gd name="adj1" fmla="val 0"/>
              <a:gd name="adj2" fmla="val 50000"/>
            </a:avLst>
          </a:prstGeom>
          <a:ln xmlns:a="http://schemas.openxmlformats.org/drawingml/2006/main" w="14288">
            <a:solidFill>
              <a:srgbClr val="D8DFDF"/>
            </a:solidFill>
            <a:prstDash val="solid"/>
          </a:ln>
        </p:spPr>
      </p:cxnSp>
      <p:sp>
        <p:nvSpPr>
          <p:cNvPr id="39" name="">
            <a:extLst xmlns:a="http://schemas.openxmlformats.org/drawingml/2006/main">
              <a:ext uri="{FF2B5EF4-FFF2-40B4-BE49-F238E27FC236}">
                <a16:creationId xmlns:a16="http://schemas.microsoft.com/office/drawing/2014/main" id="{16B81C44-0DAE-45CD-904B-41B57F1C66A4}"/>
              </a:ext>
            </a:extLst>
          </p:cNvPr>
          <p:cNvSpPr>
            <a:spLocks xmlns:a="http://schemas.openxmlformats.org/drawingml/2006/main" noGrp="1"/>
          </p:cNvSpPr>
          <p:nvPr/>
        </p:nvSpPr>
        <p:spPr>
          <a:xfrm xmlns:a="http://schemas.openxmlformats.org/drawingml/2006/main">
            <a:off x="7219950"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5" name=""/>
          <p:cNvCxnSpPr>
            <a:stCxn xmlns:a="http://schemas.openxmlformats.org/drawingml/2006/main" id="39" idx="2"/>
            <a:endCxn xmlns:a="http://schemas.openxmlformats.org/drawingml/2006/main" id="23" idx="0"/>
          </p:cNvCxnSpPr>
          <p:nvPr/>
        </p:nvCxnSpPr>
        <p:spPr>
          <a:xfrm xmlns:a="http://schemas.openxmlformats.org/drawingml/2006/main" flipH="1">
            <a:off x="2881313" y="3009900"/>
            <a:ext cx="4343400" cy="323850"/>
          </a:xfrm>
          <a:prstGeom xmlns:a="http://schemas.openxmlformats.org/drawingml/2006/main" prst="bentConnector4">
            <a:avLst>
              <a:gd name="adj1" fmla="val 0"/>
              <a:gd name="adj2" fmla="val 50000"/>
            </a:avLst>
          </a:prstGeom>
          <a:ln xmlns:a="http://schemas.openxmlformats.org/drawingml/2006/main" w="14288">
            <a:solidFill>
              <a:srgbClr val="D8DFDF"/>
            </a:solidFill>
            <a:prstDash val="solid"/>
          </a:ln>
        </p:spPr>
      </p:cxnSp>
      <p:sp>
        <p:nvSpPr>
          <p:cNvPr id="41" name="">
            <a:extLst xmlns:a="http://schemas.openxmlformats.org/drawingml/2006/main">
              <a:ext uri="{FF2B5EF4-FFF2-40B4-BE49-F238E27FC236}">
                <a16:creationId xmlns:a16="http://schemas.microsoft.com/office/drawing/2014/main" id="{8C5CB958-84E0-458F-A2D3-72DC11F24A61}"/>
              </a:ext>
            </a:extLst>
          </p:cNvPr>
          <p:cNvSpPr>
            <a:spLocks xmlns:a="http://schemas.openxmlformats.org/drawingml/2006/main" noGrp="1"/>
          </p:cNvSpPr>
          <p:nvPr/>
        </p:nvSpPr>
        <p:spPr>
          <a:xfrm xmlns:a="http://schemas.openxmlformats.org/drawingml/2006/main">
            <a:off x="10020300"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7" name=""/>
          <p:cNvCxnSpPr>
            <a:stCxn xmlns:a="http://schemas.openxmlformats.org/drawingml/2006/main" id="41" idx="2"/>
            <a:endCxn xmlns:a="http://schemas.openxmlformats.org/drawingml/2006/main" id="23" idx="0"/>
          </p:cNvCxnSpPr>
          <p:nvPr/>
        </p:nvCxnSpPr>
        <p:spPr>
          <a:xfrm xmlns:a="http://schemas.openxmlformats.org/drawingml/2006/main" flipH="1">
            <a:off x="2881313" y="3009900"/>
            <a:ext cx="7143750" cy="323850"/>
          </a:xfrm>
          <a:prstGeom xmlns:a="http://schemas.openxmlformats.org/drawingml/2006/main" prst="bentConnector4">
            <a:avLst>
              <a:gd name="adj1" fmla="val 0"/>
              <a:gd name="adj2" fmla="val 50000"/>
            </a:avLst>
          </a:prstGeom>
          <a:ln xmlns:a="http://schemas.openxmlformats.org/drawingml/2006/main" w="14288">
            <a:solidFill>
              <a:srgbClr val="D8DFDF"/>
            </a:solidFill>
            <a:prstDash val="solid"/>
          </a:ln>
        </p:spPr>
      </p:cxnSp>
      <p:cxnSp>
        <p:nvCxnSpPr>
          <p:cNvPr id="88" name=""/>
          <p:cNvCxnSpPr>
            <a:stCxn xmlns:a="http://schemas.openxmlformats.org/drawingml/2006/main" id="23" idx="3"/>
            <a:endCxn xmlns:a="http://schemas.openxmlformats.org/drawingml/2006/main" id="27" idx="1"/>
          </p:cNvCxnSpPr>
          <p:nvPr/>
        </p:nvCxnSpPr>
        <p:spPr>
          <a:xfrm xmlns:a="http://schemas.openxmlformats.org/drawingml/2006/main">
            <a:off x="4238625" y="3952875"/>
            <a:ext cx="533400"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89" name=""/>
          <p:cNvCxnSpPr>
            <a:stCxn xmlns:a="http://schemas.openxmlformats.org/drawingml/2006/main" id="27" idx="3"/>
            <a:endCxn xmlns:a="http://schemas.openxmlformats.org/drawingml/2006/main" id="31" idx="1"/>
          </p:cNvCxnSpPr>
          <p:nvPr/>
        </p:nvCxnSpPr>
        <p:spPr>
          <a:xfrm xmlns:a="http://schemas.openxmlformats.org/drawingml/2006/main">
            <a:off x="7677150" y="3952875"/>
            <a:ext cx="552450"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sp>
        <p:nvSpPr>
          <p:cNvPr id="45" name="">
            <a:extLst xmlns:a="http://schemas.openxmlformats.org/drawingml/2006/main">
              <a:ext uri="{FF2B5EF4-FFF2-40B4-BE49-F238E27FC236}">
                <a16:creationId xmlns:a16="http://schemas.microsoft.com/office/drawing/2014/main" id="{FFD69CFE-BBA5-4026-91E8-9E8EE0A6AC63}"/>
              </a:ext>
            </a:extLst>
          </p:cNvPr>
          <p:cNvSpPr>
            <a:spLocks xmlns:a="http://schemas.openxmlformats.org/drawingml/2006/main" noGrp="1"/>
          </p:cNvSpPr>
          <p:nvPr/>
        </p:nvSpPr>
        <p:spPr>
          <a:xfrm xmlns:a="http://schemas.openxmlformats.org/drawingml/2006/main">
            <a:off x="1524000" y="49530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10263B"/>
                </a:solidFill>
                <a:latin typeface="Arial"/>
                <a:ea typeface="Arial"/>
                <a:cs typeface="Arial"/>
              </a:defRPr>
            </a:pPr>
            <a:r>
              <a:rPr sz="1650" b="1">
                <a:solidFill>
                  <a:srgbClr val="10263B"/>
                </a:solidFill>
                <a:latin typeface="Arial"/>
                <a:ea typeface="Arial"/>
                <a:cs typeface="Arial"/>
              </a:rPr>
              <a:t>A value without its source is difficult to review or challenge.</a:t>
            </a:r>
          </a:p>
        </p:txBody>
      </p:sp>
    </p:spTree>
    <p:extLst>
      <p:ext uri="{BB962C8B-B14F-4D97-AF65-F5344CB8AC3E}">
        <p14:creationId xmlns:p14="http://schemas.microsoft.com/office/powerpoint/2010/main" val="789449868"/>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6E89D2B-61B2-4F6B-AB65-C6AA5504EDF3}"/>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01  /  THE PROBLEM</a:t>
            </a:r>
          </a:p>
        </p:txBody>
      </p:sp>
      <p:sp>
        <p:nvSpPr>
          <p:cNvPr id="2" name="">
            <a:extLst xmlns:a="http://schemas.openxmlformats.org/drawingml/2006/main">
              <a:ext uri="{FF2B5EF4-FFF2-40B4-BE49-F238E27FC236}">
                <a16:creationId xmlns:a16="http://schemas.microsoft.com/office/drawing/2014/main" id="{C13D0E03-BD3C-42AE-8392-05FE5BFF70C0}"/>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Case processing is a chain of dependent checks</a:t>
            </a:r>
          </a:p>
        </p:txBody>
      </p:sp>
      <p:sp>
        <p:nvSpPr>
          <p:cNvPr id="3" name="">
            <a:extLst xmlns:a="http://schemas.openxmlformats.org/drawingml/2006/main">
              <a:ext uri="{FF2B5EF4-FFF2-40B4-BE49-F238E27FC236}">
                <a16:creationId xmlns:a16="http://schemas.microsoft.com/office/drawing/2014/main" id="{7CF88D87-FA0B-48EF-825E-510595E41DD9}"/>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BE8A0E-ABAC-4943-A0F5-51740CC1F17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A50971-4197-411F-AC99-6BE2969C25A7}"/>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3C8126AC-278D-422B-A7E0-74C085449BB8}"/>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D3A144B4-2C78-4446-B76A-AEF864438F20}"/>
              </a:ext>
            </a:extLst>
          </p:cNvPr>
          <p:cNvSpPr>
            <a:spLocks xmlns:a="http://schemas.openxmlformats.org/drawingml/2006/main" noGrp="1"/>
          </p:cNvSpPr>
          <p:nvPr/>
        </p:nvSpPr>
        <p:spPr>
          <a:xfrm xmlns:a="http://schemas.openxmlformats.org/drawingml/2006/main">
            <a:off x="628650" y="2438400"/>
            <a:ext cx="182880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8322E799-5CEB-49D5-94E4-99700135D0BB}"/>
              </a:ext>
            </a:extLst>
          </p:cNvPr>
          <p:cNvSpPr>
            <a:spLocks xmlns:a="http://schemas.openxmlformats.org/drawingml/2006/main" noGrp="1"/>
          </p:cNvSpPr>
          <p:nvPr/>
        </p:nvSpPr>
        <p:spPr>
          <a:xfrm xmlns:a="http://schemas.openxmlformats.org/drawingml/2006/main">
            <a:off x="800100" y="2552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6A0C6A9-1BFA-4010-BC2D-87B8E7538F9C}"/>
              </a:ext>
            </a:extLst>
          </p:cNvPr>
          <p:cNvSpPr>
            <a:spLocks xmlns:a="http://schemas.openxmlformats.org/drawingml/2006/main" noGrp="1"/>
          </p:cNvSpPr>
          <p:nvPr/>
        </p:nvSpPr>
        <p:spPr>
          <a:xfrm xmlns:a="http://schemas.openxmlformats.org/drawingml/2006/main">
            <a:off x="800100" y="2762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INTAKE</a:t>
            </a:r>
          </a:p>
        </p:txBody>
      </p:sp>
      <p:sp>
        <p:nvSpPr>
          <p:cNvPr id="10" name="">
            <a:extLst xmlns:a="http://schemas.openxmlformats.org/drawingml/2006/main">
              <a:ext uri="{FF2B5EF4-FFF2-40B4-BE49-F238E27FC236}">
                <a16:creationId xmlns:a16="http://schemas.microsoft.com/office/drawing/2014/main" id="{25FB0254-CBB5-4E9C-B0D1-3B198F995D1D}"/>
              </a:ext>
            </a:extLst>
          </p:cNvPr>
          <p:cNvSpPr>
            <a:spLocks xmlns:a="http://schemas.openxmlformats.org/drawingml/2006/main" noGrp="1"/>
          </p:cNvSpPr>
          <p:nvPr/>
        </p:nvSpPr>
        <p:spPr>
          <a:xfrm xmlns:a="http://schemas.openxmlformats.org/drawingml/2006/main">
            <a:off x="800100" y="318135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Documents + records</a:t>
            </a:r>
          </a:p>
        </p:txBody>
      </p:sp>
      <p:sp>
        <p:nvSpPr>
          <p:cNvPr id="11" name="">
            <a:extLst xmlns:a="http://schemas.openxmlformats.org/drawingml/2006/main">
              <a:ext uri="{FF2B5EF4-FFF2-40B4-BE49-F238E27FC236}">
                <a16:creationId xmlns:a16="http://schemas.microsoft.com/office/drawing/2014/main" id="{92FEA599-9716-49EE-ACA6-EDE8F6BC29F4}"/>
              </a:ext>
            </a:extLst>
          </p:cNvPr>
          <p:cNvSpPr>
            <a:spLocks xmlns:a="http://schemas.openxmlformats.org/drawingml/2006/main" noGrp="1"/>
          </p:cNvSpPr>
          <p:nvPr/>
        </p:nvSpPr>
        <p:spPr>
          <a:xfrm xmlns:a="http://schemas.openxmlformats.org/drawingml/2006/main">
            <a:off x="2905125" y="2438400"/>
            <a:ext cx="182880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D8DFDF"/>
            </a:solidFill>
            <a:prstDash val="solid"/>
          </a:ln>
        </p:spPr>
      </p:sp>
      <p:sp>
        <p:nvSpPr>
          <p:cNvPr id="12" name="">
            <a:extLst xmlns:a="http://schemas.openxmlformats.org/drawingml/2006/main">
              <a:ext uri="{FF2B5EF4-FFF2-40B4-BE49-F238E27FC236}">
                <a16:creationId xmlns:a16="http://schemas.microsoft.com/office/drawing/2014/main" id="{4E5BB639-8F41-41E8-9860-9865F3AEB071}"/>
              </a:ext>
            </a:extLst>
          </p:cNvPr>
          <p:cNvSpPr>
            <a:spLocks xmlns:a="http://schemas.openxmlformats.org/drawingml/2006/main" noGrp="1"/>
          </p:cNvSpPr>
          <p:nvPr/>
        </p:nvSpPr>
        <p:spPr>
          <a:xfrm xmlns:a="http://schemas.openxmlformats.org/drawingml/2006/main">
            <a:off x="3076575" y="2552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28CA5473-351C-4556-9F25-C129AE8D8820}"/>
              </a:ext>
            </a:extLst>
          </p:cNvPr>
          <p:cNvSpPr>
            <a:spLocks xmlns:a="http://schemas.openxmlformats.org/drawingml/2006/main" noGrp="1"/>
          </p:cNvSpPr>
          <p:nvPr/>
        </p:nvSpPr>
        <p:spPr>
          <a:xfrm xmlns:a="http://schemas.openxmlformats.org/drawingml/2006/main">
            <a:off x="3076575" y="2762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EXTRACT</a:t>
            </a:r>
          </a:p>
        </p:txBody>
      </p:sp>
      <p:sp>
        <p:nvSpPr>
          <p:cNvPr id="14" name="">
            <a:extLst xmlns:a="http://schemas.openxmlformats.org/drawingml/2006/main">
              <a:ext uri="{FF2B5EF4-FFF2-40B4-BE49-F238E27FC236}">
                <a16:creationId xmlns:a16="http://schemas.microsoft.com/office/drawing/2014/main" id="{B5EA816E-009B-48EF-B50C-863FF7ADBB52}"/>
              </a:ext>
            </a:extLst>
          </p:cNvPr>
          <p:cNvSpPr>
            <a:spLocks xmlns:a="http://schemas.openxmlformats.org/drawingml/2006/main" noGrp="1"/>
          </p:cNvSpPr>
          <p:nvPr/>
        </p:nvSpPr>
        <p:spPr>
          <a:xfrm xmlns:a="http://schemas.openxmlformats.org/drawingml/2006/main">
            <a:off x="3076575" y="318135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Fields + citations</a:t>
            </a:r>
          </a:p>
        </p:txBody>
      </p:sp>
      <p:sp>
        <p:nvSpPr>
          <p:cNvPr id="15" name="">
            <a:extLst xmlns:a="http://schemas.openxmlformats.org/drawingml/2006/main">
              <a:ext uri="{FF2B5EF4-FFF2-40B4-BE49-F238E27FC236}">
                <a16:creationId xmlns:a16="http://schemas.microsoft.com/office/drawing/2014/main" id="{03F93DD3-5946-4CD7-9F07-8CC8EAA050FD}"/>
              </a:ext>
            </a:extLst>
          </p:cNvPr>
          <p:cNvSpPr>
            <a:spLocks xmlns:a="http://schemas.openxmlformats.org/drawingml/2006/main" noGrp="1"/>
          </p:cNvSpPr>
          <p:nvPr/>
        </p:nvSpPr>
        <p:spPr>
          <a:xfrm xmlns:a="http://schemas.openxmlformats.org/drawingml/2006/main">
            <a:off x="5181600" y="2438400"/>
            <a:ext cx="182880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D8DFDF"/>
            </a:solidFill>
            <a:prstDash val="solid"/>
          </a:ln>
        </p:spPr>
      </p:sp>
      <p:sp>
        <p:nvSpPr>
          <p:cNvPr id="16" name="">
            <a:extLst xmlns:a="http://schemas.openxmlformats.org/drawingml/2006/main">
              <a:ext uri="{FF2B5EF4-FFF2-40B4-BE49-F238E27FC236}">
                <a16:creationId xmlns:a16="http://schemas.microsoft.com/office/drawing/2014/main" id="{C1985726-C26F-4E74-88F3-93358E614BF7}"/>
              </a:ext>
            </a:extLst>
          </p:cNvPr>
          <p:cNvSpPr>
            <a:spLocks xmlns:a="http://schemas.openxmlformats.org/drawingml/2006/main" noGrp="1"/>
          </p:cNvSpPr>
          <p:nvPr/>
        </p:nvSpPr>
        <p:spPr>
          <a:xfrm xmlns:a="http://schemas.openxmlformats.org/drawingml/2006/main">
            <a:off x="5353050" y="2552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D378DB8A-70B2-4B17-88EE-4E09F7C4D7C7}"/>
              </a:ext>
            </a:extLst>
          </p:cNvPr>
          <p:cNvSpPr>
            <a:spLocks xmlns:a="http://schemas.openxmlformats.org/drawingml/2006/main" noGrp="1"/>
          </p:cNvSpPr>
          <p:nvPr/>
        </p:nvSpPr>
        <p:spPr>
          <a:xfrm xmlns:a="http://schemas.openxmlformats.org/drawingml/2006/main">
            <a:off x="5353050" y="2762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E9605C03-4C00-4B1A-B5E0-5EFD5DEBA72F}"/>
              </a:ext>
            </a:extLst>
          </p:cNvPr>
          <p:cNvSpPr>
            <a:spLocks xmlns:a="http://schemas.openxmlformats.org/drawingml/2006/main" noGrp="1"/>
          </p:cNvSpPr>
          <p:nvPr/>
        </p:nvSpPr>
        <p:spPr>
          <a:xfrm xmlns:a="http://schemas.openxmlformats.org/drawingml/2006/main">
            <a:off x="5353050" y="318135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Completeness + comparison</a:t>
            </a:r>
          </a:p>
        </p:txBody>
      </p:sp>
      <p:sp>
        <p:nvSpPr>
          <p:cNvPr id="19" name="">
            <a:extLst xmlns:a="http://schemas.openxmlformats.org/drawingml/2006/main">
              <a:ext uri="{FF2B5EF4-FFF2-40B4-BE49-F238E27FC236}">
                <a16:creationId xmlns:a16="http://schemas.microsoft.com/office/drawing/2014/main" id="{E05C0846-9BE6-468A-AF01-EB6797401FA9}"/>
              </a:ext>
            </a:extLst>
          </p:cNvPr>
          <p:cNvSpPr>
            <a:spLocks xmlns:a="http://schemas.openxmlformats.org/drawingml/2006/main" noGrp="1"/>
          </p:cNvSpPr>
          <p:nvPr/>
        </p:nvSpPr>
        <p:spPr>
          <a:xfrm xmlns:a="http://schemas.openxmlformats.org/drawingml/2006/main">
            <a:off x="7458075" y="2438400"/>
            <a:ext cx="182880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D8DFDF"/>
            </a:solidFill>
            <a:prstDash val="solid"/>
          </a:ln>
        </p:spPr>
      </p:sp>
      <p:sp>
        <p:nvSpPr>
          <p:cNvPr id="20" name="">
            <a:extLst xmlns:a="http://schemas.openxmlformats.org/drawingml/2006/main">
              <a:ext uri="{FF2B5EF4-FFF2-40B4-BE49-F238E27FC236}">
                <a16:creationId xmlns:a16="http://schemas.microsoft.com/office/drawing/2014/main" id="{E6642B51-D67D-4406-9A23-B7197568A5ED}"/>
              </a:ext>
            </a:extLst>
          </p:cNvPr>
          <p:cNvSpPr>
            <a:spLocks xmlns:a="http://schemas.openxmlformats.org/drawingml/2006/main" noGrp="1"/>
          </p:cNvSpPr>
          <p:nvPr/>
        </p:nvSpPr>
        <p:spPr>
          <a:xfrm xmlns:a="http://schemas.openxmlformats.org/drawingml/2006/main">
            <a:off x="7629525" y="2552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8FBCB732-0CDE-4B2D-B3FA-115ABEFF3048}"/>
              </a:ext>
            </a:extLst>
          </p:cNvPr>
          <p:cNvSpPr>
            <a:spLocks xmlns:a="http://schemas.openxmlformats.org/drawingml/2006/main" noGrp="1"/>
          </p:cNvSpPr>
          <p:nvPr/>
        </p:nvSpPr>
        <p:spPr>
          <a:xfrm xmlns:a="http://schemas.openxmlformats.org/drawingml/2006/main">
            <a:off x="7629525" y="2762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CALCULATE</a:t>
            </a:r>
          </a:p>
        </p:txBody>
      </p:sp>
      <p:sp>
        <p:nvSpPr>
          <p:cNvPr id="22" name="">
            <a:extLst xmlns:a="http://schemas.openxmlformats.org/drawingml/2006/main">
              <a:ext uri="{FF2B5EF4-FFF2-40B4-BE49-F238E27FC236}">
                <a16:creationId xmlns:a16="http://schemas.microsoft.com/office/drawing/2014/main" id="{FB6758E5-D087-466A-8F5F-25239B68274A}"/>
              </a:ext>
            </a:extLst>
          </p:cNvPr>
          <p:cNvSpPr>
            <a:spLocks xmlns:a="http://schemas.openxmlformats.org/drawingml/2006/main" noGrp="1"/>
          </p:cNvSpPr>
          <p:nvPr/>
        </p:nvSpPr>
        <p:spPr>
          <a:xfrm xmlns:a="http://schemas.openxmlformats.org/drawingml/2006/main">
            <a:off x="7629525" y="318135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Rules + totals</a:t>
            </a:r>
          </a:p>
        </p:txBody>
      </p:sp>
      <p:sp>
        <p:nvSpPr>
          <p:cNvPr id="23" name="">
            <a:extLst xmlns:a="http://schemas.openxmlformats.org/drawingml/2006/main">
              <a:ext uri="{FF2B5EF4-FFF2-40B4-BE49-F238E27FC236}">
                <a16:creationId xmlns:a16="http://schemas.microsoft.com/office/drawing/2014/main" id="{02D4DD2C-F444-480C-AAE0-BE1D100A4899}"/>
              </a:ext>
            </a:extLst>
          </p:cNvPr>
          <p:cNvSpPr>
            <a:spLocks xmlns:a="http://schemas.openxmlformats.org/drawingml/2006/main" noGrp="1"/>
          </p:cNvSpPr>
          <p:nvPr/>
        </p:nvSpPr>
        <p:spPr>
          <a:xfrm xmlns:a="http://schemas.openxmlformats.org/drawingml/2006/main">
            <a:off x="9734550" y="2438400"/>
            <a:ext cx="1828800" cy="1285875"/>
          </a:xfrm>
          <a:prstGeom xmlns:a="http://schemas.openxmlformats.org/drawingml/2006/main" prst="roundRect">
            <a:avLst>
              <a:gd name="adj" fmla="val 11852"/>
            </a:avLst>
          </a:prstGeom>
          <a:solidFill xmlns:a="http://schemas.openxmlformats.org/drawingml/2006/main">
            <a:srgbClr val="10263B"/>
          </a:solidFill>
          <a:ln xmlns:a="http://schemas.openxmlformats.org/drawingml/2006/main" w="9525">
            <a:solidFill>
              <a:srgbClr val="10263B"/>
            </a:solidFill>
            <a:prstDash val="solid"/>
          </a:ln>
        </p:spPr>
      </p:sp>
      <p:sp>
        <p:nvSpPr>
          <p:cNvPr id="24" name="">
            <a:extLst xmlns:a="http://schemas.openxmlformats.org/drawingml/2006/main">
              <a:ext uri="{FF2B5EF4-FFF2-40B4-BE49-F238E27FC236}">
                <a16:creationId xmlns:a16="http://schemas.microsoft.com/office/drawing/2014/main" id="{4612F612-A151-470E-8999-415841D3027D}"/>
              </a:ext>
            </a:extLst>
          </p:cNvPr>
          <p:cNvSpPr>
            <a:spLocks xmlns:a="http://schemas.openxmlformats.org/drawingml/2006/main" noGrp="1"/>
          </p:cNvSpPr>
          <p:nvPr/>
        </p:nvSpPr>
        <p:spPr>
          <a:xfrm xmlns:a="http://schemas.openxmlformats.org/drawingml/2006/main">
            <a:off x="9906000" y="2552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82D8056E-B980-416D-A179-EF3798CB8A29}"/>
              </a:ext>
            </a:extLst>
          </p:cNvPr>
          <p:cNvSpPr>
            <a:spLocks xmlns:a="http://schemas.openxmlformats.org/drawingml/2006/main" noGrp="1"/>
          </p:cNvSpPr>
          <p:nvPr/>
        </p:nvSpPr>
        <p:spPr>
          <a:xfrm xmlns:a="http://schemas.openxmlformats.org/drawingml/2006/main">
            <a:off x="9906000" y="2762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ROUTE</a:t>
            </a:r>
          </a:p>
        </p:txBody>
      </p:sp>
      <p:sp>
        <p:nvSpPr>
          <p:cNvPr id="26" name="">
            <a:extLst xmlns:a="http://schemas.openxmlformats.org/drawingml/2006/main">
              <a:ext uri="{FF2B5EF4-FFF2-40B4-BE49-F238E27FC236}">
                <a16:creationId xmlns:a16="http://schemas.microsoft.com/office/drawing/2014/main" id="{D8442131-31E7-41EA-B3F1-7D68FA46743D}"/>
              </a:ext>
            </a:extLst>
          </p:cNvPr>
          <p:cNvSpPr>
            <a:spLocks xmlns:a="http://schemas.openxmlformats.org/drawingml/2006/main" noGrp="1"/>
          </p:cNvSpPr>
          <p:nvPr/>
        </p:nvSpPr>
        <p:spPr>
          <a:xfrm xmlns:a="http://schemas.openxmlformats.org/drawingml/2006/main">
            <a:off x="9906000" y="318135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D2DEE3"/>
                </a:solidFill>
                <a:latin typeface="Arial"/>
                <a:ea typeface="Arial"/>
                <a:cs typeface="Arial"/>
              </a:defRPr>
            </a:pPr>
            <a:r>
              <a:rPr sz="1125" b="0">
                <a:solidFill>
                  <a:srgbClr val="D2DEE3"/>
                </a:solidFill>
                <a:latin typeface="Arial"/>
                <a:ea typeface="Arial"/>
                <a:cs typeface="Arial"/>
              </a:rPr>
              <a:t>Next step or review</a:t>
            </a:r>
          </a:p>
        </p:txBody>
      </p:sp>
      <p:cxnSp>
        <p:nvCxnSpPr>
          <p:cNvPr id="65" name=""/>
          <p:cNvCxnSpPr>
            <a:stCxn xmlns:a="http://schemas.openxmlformats.org/drawingml/2006/main" id="7" idx="3"/>
            <a:endCxn xmlns:a="http://schemas.openxmlformats.org/drawingml/2006/main" id="11" idx="1"/>
          </p:cNvCxnSpPr>
          <p:nvPr/>
        </p:nvCxnSpPr>
        <p:spPr>
          <a:xfrm xmlns:a="http://schemas.openxmlformats.org/drawingml/2006/main">
            <a:off x="2457450" y="3081338"/>
            <a:ext cx="44767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66" name=""/>
          <p:cNvCxnSpPr>
            <a:stCxn xmlns:a="http://schemas.openxmlformats.org/drawingml/2006/main" id="11" idx="3"/>
            <a:endCxn xmlns:a="http://schemas.openxmlformats.org/drawingml/2006/main" id="15" idx="1"/>
          </p:cNvCxnSpPr>
          <p:nvPr/>
        </p:nvCxnSpPr>
        <p:spPr>
          <a:xfrm xmlns:a="http://schemas.openxmlformats.org/drawingml/2006/main">
            <a:off x="4733925" y="3081338"/>
            <a:ext cx="44767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67" name=""/>
          <p:cNvCxnSpPr>
            <a:stCxn xmlns:a="http://schemas.openxmlformats.org/drawingml/2006/main" id="15" idx="3"/>
            <a:endCxn xmlns:a="http://schemas.openxmlformats.org/drawingml/2006/main" id="19" idx="1"/>
          </p:cNvCxnSpPr>
          <p:nvPr/>
        </p:nvCxnSpPr>
        <p:spPr>
          <a:xfrm xmlns:a="http://schemas.openxmlformats.org/drawingml/2006/main">
            <a:off x="7010400" y="3081338"/>
            <a:ext cx="44767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68" name=""/>
          <p:cNvCxnSpPr>
            <a:stCxn xmlns:a="http://schemas.openxmlformats.org/drawingml/2006/main" id="19" idx="3"/>
            <a:endCxn xmlns:a="http://schemas.openxmlformats.org/drawingml/2006/main" id="23" idx="1"/>
          </p:cNvCxnSpPr>
          <p:nvPr/>
        </p:nvCxnSpPr>
        <p:spPr>
          <a:xfrm xmlns:a="http://schemas.openxmlformats.org/drawingml/2006/main">
            <a:off x="9286875" y="3081338"/>
            <a:ext cx="447675" cy="0"/>
          </a:xfrm>
          <a:prstGeom xmlns:a="http://schemas.openxmlformats.org/drawingml/2006/main" prst="straightConnector1">
            <a:avLst/>
          </a:prstGeom>
          <a:ln xmlns:a="http://schemas.openxmlformats.org/drawingml/2006/main" w="19050">
            <a:solidFill>
              <a:srgbClr val="D79A2B"/>
            </a:solidFill>
            <a:prstDash val="solid"/>
            <a:tailEnd type="triangle" w="sm" len="sm"/>
          </a:ln>
        </p:spPr>
      </p:cxnSp>
      <p:sp>
        <p:nvSpPr>
          <p:cNvPr id="31" name="">
            <a:extLst xmlns:a="http://schemas.openxmlformats.org/drawingml/2006/main">
              <a:ext uri="{FF2B5EF4-FFF2-40B4-BE49-F238E27FC236}">
                <a16:creationId xmlns:a16="http://schemas.microsoft.com/office/drawing/2014/main" id="{4E9A1284-0A41-4EB2-993C-F5C9F5043012}"/>
              </a:ext>
            </a:extLst>
          </p:cNvPr>
          <p:cNvSpPr>
            <a:spLocks xmlns:a="http://schemas.openxmlformats.org/drawingml/2006/main" noGrp="1"/>
          </p:cNvSpPr>
          <p:nvPr/>
        </p:nvSpPr>
        <p:spPr>
          <a:xfrm xmlns:a="http://schemas.openxmlformats.org/drawingml/2006/main">
            <a:off x="1409700" y="4248150"/>
            <a:ext cx="4381500" cy="1428750"/>
          </a:xfrm>
          <a:prstGeom xmlns:a="http://schemas.openxmlformats.org/drawingml/2006/main" prst="roundRect">
            <a:avLst>
              <a:gd name="adj" fmla="val 10667"/>
            </a:avLst>
          </a:prstGeom>
          <a:solidFill xmlns:a="http://schemas.openxmlformats.org/drawingml/2006/main">
            <a:srgbClr val="F8E9E5"/>
          </a:solidFill>
          <a:ln xmlns:a="http://schemas.openxmlformats.org/drawingml/2006/main" w="9525">
            <a:solidFill>
              <a:srgbClr val="E5B7AD"/>
            </a:solidFill>
            <a:prstDash val="solid"/>
          </a:ln>
        </p:spPr>
      </p:sp>
      <p:sp>
        <p:nvSpPr>
          <p:cNvPr id="32" name="">
            <a:extLst xmlns:a="http://schemas.openxmlformats.org/drawingml/2006/main">
              <a:ext uri="{FF2B5EF4-FFF2-40B4-BE49-F238E27FC236}">
                <a16:creationId xmlns:a16="http://schemas.microsoft.com/office/drawing/2014/main" id="{D3B39A4B-5C3F-4F6F-A516-3A6A18F654BB}"/>
              </a:ext>
            </a:extLst>
          </p:cNvPr>
          <p:cNvSpPr>
            <a:spLocks xmlns:a="http://schemas.openxmlformats.org/drawingml/2006/main" noGrp="1"/>
          </p:cNvSpPr>
          <p:nvPr/>
        </p:nvSpPr>
        <p:spPr>
          <a:xfrm xmlns:a="http://schemas.openxmlformats.org/drawingml/2006/main">
            <a:off x="1581150" y="4362450"/>
            <a:ext cx="403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86155"/>
                </a:solidFill>
                <a:latin typeface="Arial"/>
                <a:ea typeface="Arial"/>
                <a:cs typeface="Arial"/>
              </a:defRPr>
            </a:pPr>
            <a:r>
              <a:rPr sz="975" b="1">
                <a:solidFill>
                  <a:srgbClr val="B86155"/>
                </a:solidFill>
                <a:latin typeface="Arial"/>
                <a:ea typeface="Arial"/>
                <a:cs typeface="Arial"/>
              </a:rPr>
              <a:t>DEPENDENCY RISK</a:t>
            </a:r>
          </a:p>
        </p:txBody>
      </p:sp>
      <p:sp>
        <p:nvSpPr>
          <p:cNvPr id="33" name="">
            <a:extLst xmlns:a="http://schemas.openxmlformats.org/drawingml/2006/main">
              <a:ext uri="{FF2B5EF4-FFF2-40B4-BE49-F238E27FC236}">
                <a16:creationId xmlns:a16="http://schemas.microsoft.com/office/drawing/2014/main" id="{12A7E75A-8B4E-4E56-ABBD-FD9D058293D5}"/>
              </a:ext>
            </a:extLst>
          </p:cNvPr>
          <p:cNvSpPr>
            <a:spLocks xmlns:a="http://schemas.openxmlformats.org/drawingml/2006/main" noGrp="1"/>
          </p:cNvSpPr>
          <p:nvPr/>
        </p:nvSpPr>
        <p:spPr>
          <a:xfrm xmlns:a="http://schemas.openxmlformats.org/drawingml/2006/main">
            <a:off x="1581150" y="457200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ONE ERROR CAN PROPAGATE</a:t>
            </a:r>
          </a:p>
        </p:txBody>
      </p:sp>
      <p:sp>
        <p:nvSpPr>
          <p:cNvPr id="34" name="">
            <a:extLst xmlns:a="http://schemas.openxmlformats.org/drawingml/2006/main">
              <a:ext uri="{FF2B5EF4-FFF2-40B4-BE49-F238E27FC236}">
                <a16:creationId xmlns:a16="http://schemas.microsoft.com/office/drawing/2014/main" id="{585776D6-5CE5-4D8A-9A4A-F9363E026896}"/>
              </a:ext>
            </a:extLst>
          </p:cNvPr>
          <p:cNvSpPr>
            <a:spLocks xmlns:a="http://schemas.openxmlformats.org/drawingml/2006/main" noGrp="1"/>
          </p:cNvSpPr>
          <p:nvPr/>
        </p:nvSpPr>
        <p:spPr>
          <a:xfrm xmlns:a="http://schemas.openxmlformats.org/drawingml/2006/main">
            <a:off x="1581150" y="4953000"/>
            <a:ext cx="4038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A misread number can create a false discrepancy; missing evidence can invalidate the next check.</a:t>
            </a:r>
          </a:p>
        </p:txBody>
      </p:sp>
      <p:sp>
        <p:nvSpPr>
          <p:cNvPr id="35" name="">
            <a:extLst xmlns:a="http://schemas.openxmlformats.org/drawingml/2006/main">
              <a:ext uri="{FF2B5EF4-FFF2-40B4-BE49-F238E27FC236}">
                <a16:creationId xmlns:a16="http://schemas.microsoft.com/office/drawing/2014/main" id="{9618227E-06BE-40A7-981A-9FF9072DCE88}"/>
              </a:ext>
            </a:extLst>
          </p:cNvPr>
          <p:cNvSpPr>
            <a:spLocks xmlns:a="http://schemas.openxmlformats.org/drawingml/2006/main" noGrp="1"/>
          </p:cNvSpPr>
          <p:nvPr/>
        </p:nvSpPr>
        <p:spPr>
          <a:xfrm xmlns:a="http://schemas.openxmlformats.org/drawingml/2006/main">
            <a:off x="6391275" y="4248150"/>
            <a:ext cx="4381500" cy="1428750"/>
          </a:xfrm>
          <a:prstGeom xmlns:a="http://schemas.openxmlformats.org/drawingml/2006/main" prst="roundRect">
            <a:avLst>
              <a:gd name="adj" fmla="val 10667"/>
            </a:avLst>
          </a:prstGeom>
          <a:solidFill xmlns:a="http://schemas.openxmlformats.org/drawingml/2006/main">
            <a:srgbClr val="FFF0CF"/>
          </a:solidFill>
          <a:ln xmlns:a="http://schemas.openxmlformats.org/drawingml/2006/main" w="9525">
            <a:solidFill>
              <a:srgbClr val="E5C77E"/>
            </a:solidFill>
            <a:prstDash val="solid"/>
          </a:ln>
        </p:spPr>
      </p:sp>
      <p:sp>
        <p:nvSpPr>
          <p:cNvPr id="36" name="">
            <a:extLst xmlns:a="http://schemas.openxmlformats.org/drawingml/2006/main">
              <a:ext uri="{FF2B5EF4-FFF2-40B4-BE49-F238E27FC236}">
                <a16:creationId xmlns:a16="http://schemas.microsoft.com/office/drawing/2014/main" id="{39C3DD04-F1D1-467C-8F19-E73E6301532F}"/>
              </a:ext>
            </a:extLst>
          </p:cNvPr>
          <p:cNvSpPr>
            <a:spLocks xmlns:a="http://schemas.openxmlformats.org/drawingml/2006/main" noGrp="1"/>
          </p:cNvSpPr>
          <p:nvPr/>
        </p:nvSpPr>
        <p:spPr>
          <a:xfrm xmlns:a="http://schemas.openxmlformats.org/drawingml/2006/main">
            <a:off x="6562725" y="4362450"/>
            <a:ext cx="403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CONTROL NEED</a:t>
            </a:r>
          </a:p>
        </p:txBody>
      </p:sp>
      <p:sp>
        <p:nvSpPr>
          <p:cNvPr id="37" name="">
            <a:extLst xmlns:a="http://schemas.openxmlformats.org/drawingml/2006/main">
              <a:ext uri="{FF2B5EF4-FFF2-40B4-BE49-F238E27FC236}">
                <a16:creationId xmlns:a16="http://schemas.microsoft.com/office/drawing/2014/main" id="{F67941A3-C97D-4C74-A7B8-434EEC22C251}"/>
              </a:ext>
            </a:extLst>
          </p:cNvPr>
          <p:cNvSpPr>
            <a:spLocks xmlns:a="http://schemas.openxmlformats.org/drawingml/2006/main" noGrp="1"/>
          </p:cNvSpPr>
          <p:nvPr/>
        </p:nvSpPr>
        <p:spPr>
          <a:xfrm xmlns:a="http://schemas.openxmlformats.org/drawingml/2006/main">
            <a:off x="6562725" y="457200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EXCEPTIONS NEED A ROUTE</a:t>
            </a:r>
          </a:p>
        </p:txBody>
      </p:sp>
      <p:sp>
        <p:nvSpPr>
          <p:cNvPr id="38" name="">
            <a:extLst xmlns:a="http://schemas.openxmlformats.org/drawingml/2006/main">
              <a:ext uri="{FF2B5EF4-FFF2-40B4-BE49-F238E27FC236}">
                <a16:creationId xmlns:a16="http://schemas.microsoft.com/office/drawing/2014/main" id="{E9413F7D-3672-471C-9D48-8A69E5A037F2}"/>
              </a:ext>
            </a:extLst>
          </p:cNvPr>
          <p:cNvSpPr>
            <a:spLocks xmlns:a="http://schemas.openxmlformats.org/drawingml/2006/main" noGrp="1"/>
          </p:cNvSpPr>
          <p:nvPr/>
        </p:nvSpPr>
        <p:spPr>
          <a:xfrm xmlns:a="http://schemas.openxmlformats.org/drawingml/2006/main">
            <a:off x="6562725" y="4953000"/>
            <a:ext cx="4038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Uncertainty or failed checks should become reviewable work, not silent approval.</a:t>
            </a:r>
          </a:p>
        </p:txBody>
      </p:sp>
    </p:spTree>
    <p:extLst>
      <p:ext uri="{BB962C8B-B14F-4D97-AF65-F5344CB8AC3E}">
        <p14:creationId xmlns:p14="http://schemas.microsoft.com/office/powerpoint/2010/main" val="2045580419"/>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9BB0CBC-5A42-4789-86A6-269DE438DEF5}"/>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02  /  WHY AI</a:t>
            </a:r>
          </a:p>
        </p:txBody>
      </p:sp>
      <p:sp>
        <p:nvSpPr>
          <p:cNvPr id="2" name="">
            <a:extLst xmlns:a="http://schemas.openxmlformats.org/drawingml/2006/main">
              <a:ext uri="{FF2B5EF4-FFF2-40B4-BE49-F238E27FC236}">
                <a16:creationId xmlns:a16="http://schemas.microsoft.com/office/drawing/2014/main" id="{93F55573-E4EA-4550-AC34-979920E6147F}"/>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Generative AI helps interpret variation—then the system validates it</a:t>
            </a:r>
          </a:p>
        </p:txBody>
      </p:sp>
      <p:sp>
        <p:nvSpPr>
          <p:cNvPr id="3" name="">
            <a:extLst xmlns:a="http://schemas.openxmlformats.org/drawingml/2006/main">
              <a:ext uri="{FF2B5EF4-FFF2-40B4-BE49-F238E27FC236}">
                <a16:creationId xmlns:a16="http://schemas.microsoft.com/office/drawing/2014/main" id="{68B93B42-CCC6-4998-9D73-54CEE23F6845}"/>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77AB54-409D-40EC-8673-177EFBAE837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6812B1B-BE05-422A-A0DA-3F19F55760DD}"/>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8968A82C-93C1-4CF1-8A8C-26CADAC9E873}"/>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C0BA0265-A0A5-4F46-B72C-4BC3F42A4E6A}"/>
              </a:ext>
            </a:extLst>
          </p:cNvPr>
          <p:cNvSpPr>
            <a:spLocks xmlns:a="http://schemas.openxmlformats.org/drawingml/2006/main" noGrp="1"/>
          </p:cNvSpPr>
          <p:nvPr/>
        </p:nvSpPr>
        <p:spPr>
          <a:xfrm xmlns:a="http://schemas.openxmlformats.org/drawingml/2006/main">
            <a:off x="666750" y="2524125"/>
            <a:ext cx="2238375"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86C349E0-CA8C-4509-AB08-462A3C28E8F6}"/>
              </a:ext>
            </a:extLst>
          </p:cNvPr>
          <p:cNvSpPr>
            <a:spLocks xmlns:a="http://schemas.openxmlformats.org/drawingml/2006/main" noGrp="1"/>
          </p:cNvSpPr>
          <p:nvPr/>
        </p:nvSpPr>
        <p:spPr>
          <a:xfrm xmlns:a="http://schemas.openxmlformats.org/drawingml/2006/main">
            <a:off x="838200" y="2638425"/>
            <a:ext cx="18954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INPUT</a:t>
            </a:r>
          </a:p>
        </p:txBody>
      </p:sp>
      <p:sp>
        <p:nvSpPr>
          <p:cNvPr id="9" name="">
            <a:extLst xmlns:a="http://schemas.openxmlformats.org/drawingml/2006/main">
              <a:ext uri="{FF2B5EF4-FFF2-40B4-BE49-F238E27FC236}">
                <a16:creationId xmlns:a16="http://schemas.microsoft.com/office/drawing/2014/main" id="{8C5B3F54-4223-4AE5-9CE2-63192519CE3C}"/>
              </a:ext>
            </a:extLst>
          </p:cNvPr>
          <p:cNvSpPr>
            <a:spLocks xmlns:a="http://schemas.openxmlformats.org/drawingml/2006/main" noGrp="1"/>
          </p:cNvSpPr>
          <p:nvPr/>
        </p:nvSpPr>
        <p:spPr>
          <a:xfrm xmlns:a="http://schemas.openxmlformats.org/drawingml/2006/main">
            <a:off x="838200" y="2847975"/>
            <a:ext cx="18954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582"/>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DOCUMENT CONTENT</a:t>
            </a:r>
          </a:p>
        </p:txBody>
      </p:sp>
      <p:sp>
        <p:nvSpPr>
          <p:cNvPr id="10" name="">
            <a:extLst xmlns:a="http://schemas.openxmlformats.org/drawingml/2006/main">
              <a:ext uri="{FF2B5EF4-FFF2-40B4-BE49-F238E27FC236}">
                <a16:creationId xmlns:a16="http://schemas.microsoft.com/office/drawing/2014/main" id="{FEF883EB-232A-4ABF-A3A2-CC77CAE4524A}"/>
              </a:ext>
            </a:extLst>
          </p:cNvPr>
          <p:cNvSpPr>
            <a:spLocks xmlns:a="http://schemas.openxmlformats.org/drawingml/2006/main" noGrp="1"/>
          </p:cNvSpPr>
          <p:nvPr/>
        </p:nvSpPr>
        <p:spPr>
          <a:xfrm xmlns:a="http://schemas.openxmlformats.org/drawingml/2006/main">
            <a:off x="838200" y="3248025"/>
            <a:ext cx="18954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PDF • scan • table • text</a:t>
            </a:r>
          </a:p>
        </p:txBody>
      </p:sp>
      <p:sp>
        <p:nvSpPr>
          <p:cNvPr id="11" name="">
            <a:extLst xmlns:a="http://schemas.openxmlformats.org/drawingml/2006/main">
              <a:ext uri="{FF2B5EF4-FFF2-40B4-BE49-F238E27FC236}">
                <a16:creationId xmlns:a16="http://schemas.microsoft.com/office/drawing/2014/main" id="{6A8E9764-4DA8-4B7A-B145-DA6D3A013736}"/>
              </a:ext>
            </a:extLst>
          </p:cNvPr>
          <p:cNvSpPr>
            <a:spLocks xmlns:a="http://schemas.openxmlformats.org/drawingml/2006/main" noGrp="1"/>
          </p:cNvSpPr>
          <p:nvPr/>
        </p:nvSpPr>
        <p:spPr>
          <a:xfrm xmlns:a="http://schemas.openxmlformats.org/drawingml/2006/main">
            <a:off x="3619500" y="2324100"/>
            <a:ext cx="2667000" cy="1619250"/>
          </a:xfrm>
          <a:prstGeom xmlns:a="http://schemas.openxmlformats.org/drawingml/2006/main" prst="roundRect">
            <a:avLst>
              <a:gd name="adj" fmla="val 9412"/>
            </a:avLst>
          </a:prstGeom>
          <a:solidFill xmlns:a="http://schemas.openxmlformats.org/drawingml/2006/main">
            <a:srgbClr val="10263B"/>
          </a:solidFill>
          <a:ln xmlns:a="http://schemas.openxmlformats.org/drawingml/2006/main" w="9525">
            <a:solidFill>
              <a:srgbClr val="10263B"/>
            </a:solidFill>
            <a:prstDash val="solid"/>
          </a:ln>
        </p:spPr>
      </p:sp>
      <p:sp>
        <p:nvSpPr>
          <p:cNvPr id="12" name="">
            <a:extLst xmlns:a="http://schemas.openxmlformats.org/drawingml/2006/main">
              <a:ext uri="{FF2B5EF4-FFF2-40B4-BE49-F238E27FC236}">
                <a16:creationId xmlns:a16="http://schemas.microsoft.com/office/drawing/2014/main" id="{D0D6659C-3D81-4780-97DE-3895CFBB9ABE}"/>
              </a:ext>
            </a:extLst>
          </p:cNvPr>
          <p:cNvSpPr>
            <a:spLocks xmlns:a="http://schemas.openxmlformats.org/drawingml/2006/main" noGrp="1"/>
          </p:cNvSpPr>
          <p:nvPr/>
        </p:nvSpPr>
        <p:spPr>
          <a:xfrm xmlns:a="http://schemas.openxmlformats.org/drawingml/2006/main">
            <a:off x="3790950" y="2438400"/>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BOUNDED TASK</a:t>
            </a:r>
          </a:p>
        </p:txBody>
      </p:sp>
      <p:sp>
        <p:nvSpPr>
          <p:cNvPr id="13" name="">
            <a:extLst xmlns:a="http://schemas.openxmlformats.org/drawingml/2006/main">
              <a:ext uri="{FF2B5EF4-FFF2-40B4-BE49-F238E27FC236}">
                <a16:creationId xmlns:a16="http://schemas.microsoft.com/office/drawing/2014/main" id="{D7C7EDDE-2A50-43A1-9DB5-FC7602AF76FE}"/>
              </a:ext>
            </a:extLst>
          </p:cNvPr>
          <p:cNvSpPr>
            <a:spLocks xmlns:a="http://schemas.openxmlformats.org/drawingml/2006/main" noGrp="1"/>
          </p:cNvSpPr>
          <p:nvPr/>
        </p:nvSpPr>
        <p:spPr>
          <a:xfrm xmlns:a="http://schemas.openxmlformats.org/drawingml/2006/main">
            <a:off x="3790950" y="2647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GENERATIVE MODEL</a:t>
            </a:r>
          </a:p>
        </p:txBody>
      </p:sp>
      <p:sp>
        <p:nvSpPr>
          <p:cNvPr id="14" name="">
            <a:extLst xmlns:a="http://schemas.openxmlformats.org/drawingml/2006/main">
              <a:ext uri="{FF2B5EF4-FFF2-40B4-BE49-F238E27FC236}">
                <a16:creationId xmlns:a16="http://schemas.microsoft.com/office/drawing/2014/main" id="{0A541901-3D87-4EA5-8A36-83FB51C76A38}"/>
              </a:ext>
            </a:extLst>
          </p:cNvPr>
          <p:cNvSpPr>
            <a:spLocks xmlns:a="http://schemas.openxmlformats.org/drawingml/2006/main" noGrp="1"/>
          </p:cNvSpPr>
          <p:nvPr/>
        </p:nvSpPr>
        <p:spPr>
          <a:xfrm xmlns:a="http://schemas.openxmlformats.org/drawingml/2006/main">
            <a:off x="3790950" y="3124200"/>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D2DEE3"/>
                </a:solidFill>
                <a:latin typeface="Arial"/>
                <a:ea typeface="Arial"/>
                <a:cs typeface="Arial"/>
              </a:defRPr>
            </a:pPr>
            <a:r>
              <a:rPr sz="1200" b="0">
                <a:solidFill>
                  <a:srgbClr val="D2DEE3"/>
                </a:solidFill>
                <a:latin typeface="Arial"/>
                <a:ea typeface="Arial"/>
                <a:cs typeface="Arial"/>
              </a:rPr>
              <a:t>Classify and extract to a schema</a:t>
            </a:r>
          </a:p>
        </p:txBody>
      </p:sp>
      <p:sp>
        <p:nvSpPr>
          <p:cNvPr id="15" name="">
            <a:extLst xmlns:a="http://schemas.openxmlformats.org/drawingml/2006/main">
              <a:ext uri="{FF2B5EF4-FFF2-40B4-BE49-F238E27FC236}">
                <a16:creationId xmlns:a16="http://schemas.microsoft.com/office/drawing/2014/main" id="{07E000B8-37CF-4413-A987-3E863A570452}"/>
              </a:ext>
            </a:extLst>
          </p:cNvPr>
          <p:cNvSpPr>
            <a:spLocks xmlns:a="http://schemas.openxmlformats.org/drawingml/2006/main" noGrp="1"/>
          </p:cNvSpPr>
          <p:nvPr/>
        </p:nvSpPr>
        <p:spPr>
          <a:xfrm xmlns:a="http://schemas.openxmlformats.org/drawingml/2006/main">
            <a:off x="7029450" y="2057400"/>
            <a:ext cx="2333625" cy="1066800"/>
          </a:xfrm>
          <a:prstGeom xmlns:a="http://schemas.openxmlformats.org/drawingml/2006/main" prst="roundRect">
            <a:avLst>
              <a:gd name="adj" fmla="val 14286"/>
            </a:avLst>
          </a:prstGeom>
          <a:solidFill xmlns:a="http://schemas.openxmlformats.org/drawingml/2006/main">
            <a:srgbClr val="DDF2EF"/>
          </a:solidFill>
          <a:ln xmlns:a="http://schemas.openxmlformats.org/drawingml/2006/main" w="9525">
            <a:solidFill>
              <a:srgbClr val="A7D8D1"/>
            </a:solidFill>
            <a:prstDash val="solid"/>
          </a:ln>
        </p:spPr>
      </p:sp>
      <p:sp>
        <p:nvSpPr>
          <p:cNvPr id="16" name="">
            <a:extLst xmlns:a="http://schemas.openxmlformats.org/drawingml/2006/main">
              <a:ext uri="{FF2B5EF4-FFF2-40B4-BE49-F238E27FC236}">
                <a16:creationId xmlns:a16="http://schemas.microsoft.com/office/drawing/2014/main" id="{3A7D8A19-DB53-4698-B4CC-FB43165419C3}"/>
              </a:ext>
            </a:extLst>
          </p:cNvPr>
          <p:cNvSpPr>
            <a:spLocks xmlns:a="http://schemas.openxmlformats.org/drawingml/2006/main" noGrp="1"/>
          </p:cNvSpPr>
          <p:nvPr/>
        </p:nvSpPr>
        <p:spPr>
          <a:xfrm xmlns:a="http://schemas.openxmlformats.org/drawingml/2006/main">
            <a:off x="7200900" y="2171700"/>
            <a:ext cx="1990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MODEL OUTPUT</a:t>
            </a:r>
          </a:p>
        </p:txBody>
      </p:sp>
      <p:sp>
        <p:nvSpPr>
          <p:cNvPr id="17" name="">
            <a:extLst xmlns:a="http://schemas.openxmlformats.org/drawingml/2006/main">
              <a:ext uri="{FF2B5EF4-FFF2-40B4-BE49-F238E27FC236}">
                <a16:creationId xmlns:a16="http://schemas.microsoft.com/office/drawing/2014/main" id="{529BE6CB-A451-4F7A-9798-9D9FAF8E8855}"/>
              </a:ext>
            </a:extLst>
          </p:cNvPr>
          <p:cNvSpPr>
            <a:spLocks xmlns:a="http://schemas.openxmlformats.org/drawingml/2006/main" noGrp="1"/>
          </p:cNvSpPr>
          <p:nvPr/>
        </p:nvSpPr>
        <p:spPr>
          <a:xfrm xmlns:a="http://schemas.openxmlformats.org/drawingml/2006/main">
            <a:off x="7200900" y="238125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STRUCTURED RESULT</a:t>
            </a:r>
          </a:p>
        </p:txBody>
      </p:sp>
      <p:sp>
        <p:nvSpPr>
          <p:cNvPr id="18" name="">
            <a:extLst xmlns:a="http://schemas.openxmlformats.org/drawingml/2006/main">
              <a:ext uri="{FF2B5EF4-FFF2-40B4-BE49-F238E27FC236}">
                <a16:creationId xmlns:a16="http://schemas.microsoft.com/office/drawing/2014/main" id="{31045D2F-BE74-4CC6-A5A0-68ACDBB02811}"/>
              </a:ext>
            </a:extLst>
          </p:cNvPr>
          <p:cNvSpPr>
            <a:spLocks xmlns:a="http://schemas.openxmlformats.org/drawingml/2006/main" noGrp="1"/>
          </p:cNvSpPr>
          <p:nvPr/>
        </p:nvSpPr>
        <p:spPr>
          <a:xfrm xmlns:a="http://schemas.openxmlformats.org/drawingml/2006/main">
            <a:off x="7200900" y="2762250"/>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Fields • confidence • citations</a:t>
            </a:r>
          </a:p>
        </p:txBody>
      </p:sp>
      <p:sp>
        <p:nvSpPr>
          <p:cNvPr id="19" name="">
            <a:extLst xmlns:a="http://schemas.openxmlformats.org/drawingml/2006/main">
              <a:ext uri="{FF2B5EF4-FFF2-40B4-BE49-F238E27FC236}">
                <a16:creationId xmlns:a16="http://schemas.microsoft.com/office/drawing/2014/main" id="{59D79967-1A1B-40D2-8ABD-2D723FC7B597}"/>
              </a:ext>
            </a:extLst>
          </p:cNvPr>
          <p:cNvSpPr>
            <a:spLocks xmlns:a="http://schemas.openxmlformats.org/drawingml/2006/main" noGrp="1"/>
          </p:cNvSpPr>
          <p:nvPr/>
        </p:nvSpPr>
        <p:spPr>
          <a:xfrm xmlns:a="http://schemas.openxmlformats.org/drawingml/2006/main">
            <a:off x="7029450" y="3486150"/>
            <a:ext cx="2333625"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DFDF"/>
            </a:solidFill>
            <a:prstDash val="solid"/>
          </a:ln>
        </p:spPr>
      </p:sp>
      <p:sp>
        <p:nvSpPr>
          <p:cNvPr id="20" name="">
            <a:extLst xmlns:a="http://schemas.openxmlformats.org/drawingml/2006/main">
              <a:ext uri="{FF2B5EF4-FFF2-40B4-BE49-F238E27FC236}">
                <a16:creationId xmlns:a16="http://schemas.microsoft.com/office/drawing/2014/main" id="{3E441035-CD78-476D-99E0-C9234C487BB9}"/>
              </a:ext>
            </a:extLst>
          </p:cNvPr>
          <p:cNvSpPr>
            <a:spLocks xmlns:a="http://schemas.openxmlformats.org/drawingml/2006/main" noGrp="1"/>
          </p:cNvSpPr>
          <p:nvPr/>
        </p:nvSpPr>
        <p:spPr>
          <a:xfrm xmlns:a="http://schemas.openxmlformats.org/drawingml/2006/main">
            <a:off x="7200900" y="3600450"/>
            <a:ext cx="1990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SYSTEM CHECKS</a:t>
            </a:r>
          </a:p>
        </p:txBody>
      </p:sp>
      <p:sp>
        <p:nvSpPr>
          <p:cNvPr id="21" name="">
            <a:extLst xmlns:a="http://schemas.openxmlformats.org/drawingml/2006/main">
              <a:ext uri="{FF2B5EF4-FFF2-40B4-BE49-F238E27FC236}">
                <a16:creationId xmlns:a16="http://schemas.microsoft.com/office/drawing/2014/main" id="{492164AE-EE93-4896-9049-11F34AB1FBFF}"/>
              </a:ext>
            </a:extLst>
          </p:cNvPr>
          <p:cNvSpPr>
            <a:spLocks xmlns:a="http://schemas.openxmlformats.org/drawingml/2006/main" noGrp="1"/>
          </p:cNvSpPr>
          <p:nvPr/>
        </p:nvSpPr>
        <p:spPr>
          <a:xfrm xmlns:a="http://schemas.openxmlformats.org/drawingml/2006/main">
            <a:off x="7200900" y="38100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VALIDATE</a:t>
            </a:r>
          </a:p>
        </p:txBody>
      </p:sp>
      <p:sp>
        <p:nvSpPr>
          <p:cNvPr id="22" name="">
            <a:extLst xmlns:a="http://schemas.openxmlformats.org/drawingml/2006/main">
              <a:ext uri="{FF2B5EF4-FFF2-40B4-BE49-F238E27FC236}">
                <a16:creationId xmlns:a16="http://schemas.microsoft.com/office/drawing/2014/main" id="{83E62895-D18C-417B-B686-8B9DB6AEB7EE}"/>
              </a:ext>
            </a:extLst>
          </p:cNvPr>
          <p:cNvSpPr>
            <a:spLocks xmlns:a="http://schemas.openxmlformats.org/drawingml/2006/main" noGrp="1"/>
          </p:cNvSpPr>
          <p:nvPr/>
        </p:nvSpPr>
        <p:spPr>
          <a:xfrm xmlns:a="http://schemas.openxmlformats.org/drawingml/2006/main">
            <a:off x="7200900" y="4191000"/>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Schema + evidence checks</a:t>
            </a:r>
          </a:p>
        </p:txBody>
      </p:sp>
      <p:sp>
        <p:nvSpPr>
          <p:cNvPr id="23" name="">
            <a:extLst xmlns:a="http://schemas.openxmlformats.org/drawingml/2006/main">
              <a:ext uri="{FF2B5EF4-FFF2-40B4-BE49-F238E27FC236}">
                <a16:creationId xmlns:a16="http://schemas.microsoft.com/office/drawing/2014/main" id="{029E2550-AB15-4AD1-9631-F55D71BD559C}"/>
              </a:ext>
            </a:extLst>
          </p:cNvPr>
          <p:cNvSpPr>
            <a:spLocks xmlns:a="http://schemas.openxmlformats.org/drawingml/2006/main" noGrp="1"/>
          </p:cNvSpPr>
          <p:nvPr/>
        </p:nvSpPr>
        <p:spPr>
          <a:xfrm xmlns:a="http://schemas.openxmlformats.org/drawingml/2006/main">
            <a:off x="9906000" y="2752725"/>
            <a:ext cx="1657350" cy="1238250"/>
          </a:xfrm>
          <a:prstGeom xmlns:a="http://schemas.openxmlformats.org/drawingml/2006/main" prst="roundRect">
            <a:avLst>
              <a:gd name="adj" fmla="val 12308"/>
            </a:avLst>
          </a:prstGeom>
          <a:solidFill xmlns:a="http://schemas.openxmlformats.org/drawingml/2006/main">
            <a:srgbClr val="E1F1E7"/>
          </a:solidFill>
          <a:ln xmlns:a="http://schemas.openxmlformats.org/drawingml/2006/main" w="9525">
            <a:solidFill>
              <a:srgbClr val="B6D8C3"/>
            </a:solidFill>
            <a:prstDash val="solid"/>
          </a:ln>
        </p:spPr>
      </p:sp>
      <p:sp>
        <p:nvSpPr>
          <p:cNvPr id="24" name="">
            <a:extLst xmlns:a="http://schemas.openxmlformats.org/drawingml/2006/main">
              <a:ext uri="{FF2B5EF4-FFF2-40B4-BE49-F238E27FC236}">
                <a16:creationId xmlns:a16="http://schemas.microsoft.com/office/drawing/2014/main" id="{659A0700-EB6F-41D2-B286-09FD47D216D5}"/>
              </a:ext>
            </a:extLst>
          </p:cNvPr>
          <p:cNvSpPr>
            <a:spLocks xmlns:a="http://schemas.openxmlformats.org/drawingml/2006/main" noGrp="1"/>
          </p:cNvSpPr>
          <p:nvPr/>
        </p:nvSpPr>
        <p:spPr>
          <a:xfrm xmlns:a="http://schemas.openxmlformats.org/drawingml/2006/main">
            <a:off x="10077450" y="2867025"/>
            <a:ext cx="1314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RESULT</a:t>
            </a:r>
          </a:p>
        </p:txBody>
      </p:sp>
      <p:sp>
        <p:nvSpPr>
          <p:cNvPr id="25" name="">
            <a:extLst xmlns:a="http://schemas.openxmlformats.org/drawingml/2006/main">
              <a:ext uri="{FF2B5EF4-FFF2-40B4-BE49-F238E27FC236}">
                <a16:creationId xmlns:a16="http://schemas.microsoft.com/office/drawing/2014/main" id="{72846EDF-3D60-472D-B1F7-31CA9C005608}"/>
              </a:ext>
            </a:extLst>
          </p:cNvPr>
          <p:cNvSpPr>
            <a:spLocks xmlns:a="http://schemas.openxmlformats.org/drawingml/2006/main" noGrp="1"/>
          </p:cNvSpPr>
          <p:nvPr/>
        </p:nvSpPr>
        <p:spPr>
          <a:xfrm xmlns:a="http://schemas.openxmlformats.org/drawingml/2006/main">
            <a:off x="10077450" y="3076575"/>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55"/>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USE OR REVIEW</a:t>
            </a:r>
          </a:p>
        </p:txBody>
      </p:sp>
      <p:sp>
        <p:nvSpPr>
          <p:cNvPr id="26" name="">
            <a:extLst xmlns:a="http://schemas.openxmlformats.org/drawingml/2006/main">
              <a:ext uri="{FF2B5EF4-FFF2-40B4-BE49-F238E27FC236}">
                <a16:creationId xmlns:a16="http://schemas.microsoft.com/office/drawing/2014/main" id="{7D7FB829-0012-4158-9633-FD6F964B3633}"/>
              </a:ext>
            </a:extLst>
          </p:cNvPr>
          <p:cNvSpPr>
            <a:spLocks xmlns:a="http://schemas.openxmlformats.org/drawingml/2006/main" noGrp="1"/>
          </p:cNvSpPr>
          <p:nvPr/>
        </p:nvSpPr>
        <p:spPr>
          <a:xfrm xmlns:a="http://schemas.openxmlformats.org/drawingml/2006/main">
            <a:off x="10077450" y="3476625"/>
            <a:ext cx="1314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Validated extraction / review outcome</a:t>
            </a:r>
          </a:p>
        </p:txBody>
      </p:sp>
      <p:cxnSp>
        <p:nvCxnSpPr>
          <p:cNvPr id="60" name=""/>
          <p:cNvCxnSpPr>
            <a:stCxn xmlns:a="http://schemas.openxmlformats.org/drawingml/2006/main" id="7" idx="3"/>
            <a:endCxn xmlns:a="http://schemas.openxmlformats.org/drawingml/2006/main" id="11" idx="1"/>
          </p:cNvCxnSpPr>
          <p:nvPr/>
        </p:nvCxnSpPr>
        <p:spPr>
          <a:xfrm xmlns:a="http://schemas.openxmlformats.org/drawingml/2006/main" flipV="1">
            <a:off x="2905125" y="3133725"/>
            <a:ext cx="714375" cy="9525"/>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61" name=""/>
          <p:cNvCxnSpPr>
            <a:stCxn xmlns:a="http://schemas.openxmlformats.org/drawingml/2006/main" id="11" idx="3"/>
            <a:endCxn xmlns:a="http://schemas.openxmlformats.org/drawingml/2006/main" id="15" idx="1"/>
          </p:cNvCxnSpPr>
          <p:nvPr/>
        </p:nvCxnSpPr>
        <p:spPr>
          <a:xfrm xmlns:a="http://schemas.openxmlformats.org/drawingml/2006/main" flipV="1">
            <a:off x="6286500" y="2590800"/>
            <a:ext cx="742950" cy="542925"/>
          </a:xfrm>
          <a:prstGeom xmlns:a="http://schemas.openxmlformats.org/drawingml/2006/main" prst="bentConnector3">
            <a:avLst>
              <a:gd name="adj1" fmla="val 50000"/>
            </a:avLst>
          </a:prstGeom>
          <a:ln xmlns:a="http://schemas.openxmlformats.org/drawingml/2006/main" w="19050">
            <a:solidFill>
              <a:srgbClr val="168C88"/>
            </a:solidFill>
            <a:prstDash val="solid"/>
            <a:tailEnd type="triangle" w="sm" len="sm"/>
          </a:ln>
        </p:spPr>
      </p:cxnSp>
      <p:cxnSp>
        <p:nvCxnSpPr>
          <p:cNvPr id="62" name=""/>
          <p:cNvCxnSpPr>
            <a:stCxn xmlns:a="http://schemas.openxmlformats.org/drawingml/2006/main" id="15" idx="2"/>
            <a:endCxn xmlns:a="http://schemas.openxmlformats.org/drawingml/2006/main" id="19" idx="0"/>
          </p:cNvCxnSpPr>
          <p:nvPr/>
        </p:nvCxnSpPr>
        <p:spPr>
          <a:xfrm xmlns:a="http://schemas.openxmlformats.org/drawingml/2006/main">
            <a:off x="8196263" y="3124200"/>
            <a:ext cx="0" cy="36195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63" name=""/>
          <p:cNvCxnSpPr>
            <a:stCxn xmlns:a="http://schemas.openxmlformats.org/drawingml/2006/main" id="19" idx="3"/>
            <a:endCxn xmlns:a="http://schemas.openxmlformats.org/drawingml/2006/main" id="23" idx="1"/>
          </p:cNvCxnSpPr>
          <p:nvPr/>
        </p:nvCxnSpPr>
        <p:spPr>
          <a:xfrm xmlns:a="http://schemas.openxmlformats.org/drawingml/2006/main" flipV="1">
            <a:off x="9363075" y="3371850"/>
            <a:ext cx="542925" cy="64770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sp>
        <p:nvSpPr>
          <p:cNvPr id="31" name="">
            <a:extLst xmlns:a="http://schemas.openxmlformats.org/drawingml/2006/main">
              <a:ext uri="{FF2B5EF4-FFF2-40B4-BE49-F238E27FC236}">
                <a16:creationId xmlns:a16="http://schemas.microsoft.com/office/drawing/2014/main" id="{A0B9F7A5-10A6-48FB-ABCE-896465748475}"/>
              </a:ext>
            </a:extLst>
          </p:cNvPr>
          <p:cNvSpPr>
            <a:spLocks xmlns:a="http://schemas.openxmlformats.org/drawingml/2006/main" noGrp="1"/>
          </p:cNvSpPr>
          <p:nvPr/>
        </p:nvSpPr>
        <p:spPr>
          <a:xfrm xmlns:a="http://schemas.openxmlformats.org/drawingml/2006/main">
            <a:off x="666750" y="5105400"/>
            <a:ext cx="3476625" cy="285750"/>
          </a:xfrm>
          <a:prstGeom xmlns:a="http://schemas.openxmlformats.org/drawingml/2006/main" prst="roundRect">
            <a:avLst>
              <a:gd name="adj" fmla="val 50000"/>
            </a:avLst>
          </a:prstGeom>
          <a:solidFill xmlns:a="http://schemas.openxmlformats.org/drawingml/2006/main">
            <a:srgbClr val="FFF0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671723B-A305-4789-9711-07C03F516E15}"/>
              </a:ext>
            </a:extLst>
          </p:cNvPr>
          <p:cNvSpPr>
            <a:spLocks xmlns:a="http://schemas.openxmlformats.org/drawingml/2006/main" noGrp="1"/>
          </p:cNvSpPr>
          <p:nvPr/>
        </p:nvSpPr>
        <p:spPr>
          <a:xfrm xmlns:a="http://schemas.openxmlformats.org/drawingml/2006/main">
            <a:off x="762000" y="5124450"/>
            <a:ext cx="3286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LIVE MODEL QUALITY NOT YET EVALUATED</a:t>
            </a:r>
          </a:p>
        </p:txBody>
      </p:sp>
      <p:sp>
        <p:nvSpPr>
          <p:cNvPr id="33" name="">
            <a:extLst xmlns:a="http://schemas.openxmlformats.org/drawingml/2006/main">
              <a:ext uri="{FF2B5EF4-FFF2-40B4-BE49-F238E27FC236}">
                <a16:creationId xmlns:a16="http://schemas.microsoft.com/office/drawing/2014/main" id="{F285829E-6818-462B-9C50-1B002692402E}"/>
              </a:ext>
            </a:extLst>
          </p:cNvPr>
          <p:cNvSpPr>
            <a:spLocks xmlns:a="http://schemas.openxmlformats.org/drawingml/2006/main" noGrp="1"/>
          </p:cNvSpPr>
          <p:nvPr/>
        </p:nvSpPr>
        <p:spPr>
          <a:xfrm xmlns:a="http://schemas.openxmlformats.org/drawingml/2006/main">
            <a:off x="4400550" y="51054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5E6C74"/>
                </a:solidFill>
                <a:latin typeface="Arial"/>
                <a:ea typeface="Arial"/>
                <a:cs typeface="Arial"/>
              </a:defRPr>
            </a:pPr>
            <a:r>
              <a:rPr sz="1275" b="0">
                <a:solidFill>
                  <a:srgbClr val="5E6C74"/>
                </a:solidFill>
                <a:latin typeface="Arial"/>
                <a:ea typeface="Arial"/>
                <a:cs typeface="Arial"/>
              </a:rPr>
              <a:t>Current tests use generated fixtures and a deterministic fake adapter.</a:t>
            </a:r>
          </a:p>
        </p:txBody>
      </p:sp>
    </p:spTree>
    <p:extLst>
      <p:ext uri="{BB962C8B-B14F-4D97-AF65-F5344CB8AC3E}">
        <p14:creationId xmlns:p14="http://schemas.microsoft.com/office/powerpoint/2010/main" val="204070069"/>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B7BB1A7-6E87-4554-99F3-9EEE16044B47}"/>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02  /  WHY AGENTS</a:t>
            </a:r>
          </a:p>
        </p:txBody>
      </p:sp>
      <p:sp>
        <p:nvSpPr>
          <p:cNvPr id="2" name="">
            <a:extLst xmlns:a="http://schemas.openxmlformats.org/drawingml/2006/main">
              <a:ext uri="{FF2B5EF4-FFF2-40B4-BE49-F238E27FC236}">
                <a16:creationId xmlns:a16="http://schemas.microsoft.com/office/drawing/2014/main" id="{3BABE3C9-3ED0-4231-9AA1-54F968C87094}"/>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Multiple agents are useful only when responsibilities differ</a:t>
            </a:r>
          </a:p>
        </p:txBody>
      </p:sp>
      <p:sp>
        <p:nvSpPr>
          <p:cNvPr id="3" name="">
            <a:extLst xmlns:a="http://schemas.openxmlformats.org/drawingml/2006/main">
              <a:ext uri="{FF2B5EF4-FFF2-40B4-BE49-F238E27FC236}">
                <a16:creationId xmlns:a16="http://schemas.microsoft.com/office/drawing/2014/main" id="{8FA8787B-2822-4F46-AF28-AD605DD77D2D}"/>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DC20C8-BA6E-495F-A067-AF5879A15A0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D6AA33-D80A-4499-8F85-3913573C7B3F}"/>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978A1483-1BA3-4FCD-938D-BC5FAB2E3628}"/>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076F72D6-C0B1-43A4-922A-12D2BED1F735}"/>
              </a:ext>
            </a:extLst>
          </p:cNvPr>
          <p:cNvSpPr>
            <a:spLocks xmlns:a="http://schemas.openxmlformats.org/drawingml/2006/main" noGrp="1"/>
          </p:cNvSpPr>
          <p:nvPr/>
        </p:nvSpPr>
        <p:spPr>
          <a:xfrm xmlns:a="http://schemas.openxmlformats.org/drawingml/2006/main">
            <a:off x="647700" y="15049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0">
                <a:solidFill>
                  <a:srgbClr val="5E6C74"/>
                </a:solidFill>
                <a:latin typeface="Arial"/>
                <a:ea typeface="Arial"/>
                <a:cs typeface="Arial"/>
              </a:defRPr>
            </a:pPr>
            <a:r>
              <a:rPr sz="1500" b="0">
                <a:solidFill>
                  <a:srgbClr val="5E6C74"/>
                </a:solidFill>
                <a:latin typeface="Arial"/>
                <a:ea typeface="Arial"/>
                <a:cs typeface="Arial"/>
              </a:rPr>
              <a:t>The workflow contains separate reasoning jobs—not one undifferentiated “AI task.”</a:t>
            </a:r>
          </a:p>
        </p:txBody>
      </p:sp>
      <p:sp>
        <p:nvSpPr>
          <p:cNvPr id="8" name="">
            <a:extLst xmlns:a="http://schemas.openxmlformats.org/drawingml/2006/main">
              <a:ext uri="{FF2B5EF4-FFF2-40B4-BE49-F238E27FC236}">
                <a16:creationId xmlns:a16="http://schemas.microsoft.com/office/drawing/2014/main" id="{6056374B-1A37-4AC9-B7A5-C1F4D2DD4ECC}"/>
              </a:ext>
            </a:extLst>
          </p:cNvPr>
          <p:cNvSpPr>
            <a:spLocks xmlns:a="http://schemas.openxmlformats.org/drawingml/2006/main" noGrp="1"/>
          </p:cNvSpPr>
          <p:nvPr/>
        </p:nvSpPr>
        <p:spPr>
          <a:xfrm xmlns:a="http://schemas.openxmlformats.org/drawingml/2006/main">
            <a:off x="857250" y="2343150"/>
            <a:ext cx="295275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FDF"/>
            </a:solidFill>
            <a:prstDash val="solid"/>
          </a:ln>
        </p:spPr>
      </p:sp>
      <p:sp>
        <p:nvSpPr>
          <p:cNvPr id="9" name="">
            <a:extLst xmlns:a="http://schemas.openxmlformats.org/drawingml/2006/main">
              <a:ext uri="{FF2B5EF4-FFF2-40B4-BE49-F238E27FC236}">
                <a16:creationId xmlns:a16="http://schemas.microsoft.com/office/drawing/2014/main" id="{BD3A034E-7636-43DB-AEE3-3B0D23A96256}"/>
              </a:ext>
            </a:extLst>
          </p:cNvPr>
          <p:cNvSpPr>
            <a:spLocks xmlns:a="http://schemas.openxmlformats.org/drawingml/2006/main" noGrp="1"/>
          </p:cNvSpPr>
          <p:nvPr/>
        </p:nvSpPr>
        <p:spPr>
          <a:xfrm xmlns:a="http://schemas.openxmlformats.org/drawingml/2006/main">
            <a:off x="1028700" y="2457450"/>
            <a:ext cx="2609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SPECIALIZED RESPONSIBILITY</a:t>
            </a:r>
          </a:p>
        </p:txBody>
      </p:sp>
      <p:sp>
        <p:nvSpPr>
          <p:cNvPr id="10" name="">
            <a:extLst xmlns:a="http://schemas.openxmlformats.org/drawingml/2006/main">
              <a:ext uri="{FF2B5EF4-FFF2-40B4-BE49-F238E27FC236}">
                <a16:creationId xmlns:a16="http://schemas.microsoft.com/office/drawing/2014/main" id="{D1B2DA99-A00F-4EF0-9598-9BEAD93757B2}"/>
              </a:ext>
            </a:extLst>
          </p:cNvPr>
          <p:cNvSpPr>
            <a:spLocks xmlns:a="http://schemas.openxmlformats.org/drawingml/2006/main" noGrp="1"/>
          </p:cNvSpPr>
          <p:nvPr/>
        </p:nvSpPr>
        <p:spPr>
          <a:xfrm xmlns:a="http://schemas.openxmlformats.org/drawingml/2006/main">
            <a:off x="1028700" y="26670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DOCUMENT ROLE</a:t>
            </a:r>
          </a:p>
        </p:txBody>
      </p:sp>
      <p:sp>
        <p:nvSpPr>
          <p:cNvPr id="11" name="">
            <a:extLst xmlns:a="http://schemas.openxmlformats.org/drawingml/2006/main">
              <a:ext uri="{FF2B5EF4-FFF2-40B4-BE49-F238E27FC236}">
                <a16:creationId xmlns:a16="http://schemas.microsoft.com/office/drawing/2014/main" id="{F01BBB73-6A81-470C-820F-20F4905499A2}"/>
              </a:ext>
            </a:extLst>
          </p:cNvPr>
          <p:cNvSpPr>
            <a:spLocks xmlns:a="http://schemas.openxmlformats.org/drawingml/2006/main" noGrp="1"/>
          </p:cNvSpPr>
          <p:nvPr/>
        </p:nvSpPr>
        <p:spPr>
          <a:xfrm xmlns:a="http://schemas.openxmlformats.org/drawingml/2006/main">
            <a:off x="1028700" y="306705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Establish facts from sources</a:t>
            </a:r>
          </a:p>
        </p:txBody>
      </p:sp>
      <p:sp>
        <p:nvSpPr>
          <p:cNvPr id="12" name="">
            <a:extLst xmlns:a="http://schemas.openxmlformats.org/drawingml/2006/main">
              <a:ext uri="{FF2B5EF4-FFF2-40B4-BE49-F238E27FC236}">
                <a16:creationId xmlns:a16="http://schemas.microsoft.com/office/drawing/2014/main" id="{138D5534-87EC-48F6-AD74-21380DB5717E}"/>
              </a:ext>
            </a:extLst>
          </p:cNvPr>
          <p:cNvSpPr>
            <a:spLocks xmlns:a="http://schemas.openxmlformats.org/drawingml/2006/main" noGrp="1"/>
          </p:cNvSpPr>
          <p:nvPr/>
        </p:nvSpPr>
        <p:spPr>
          <a:xfrm xmlns:a="http://schemas.openxmlformats.org/drawingml/2006/main">
            <a:off x="4476750" y="2343150"/>
            <a:ext cx="295275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FDF"/>
            </a:solidFill>
            <a:prstDash val="solid"/>
          </a:ln>
        </p:spPr>
      </p:sp>
      <p:sp>
        <p:nvSpPr>
          <p:cNvPr id="13" name="">
            <a:extLst xmlns:a="http://schemas.openxmlformats.org/drawingml/2006/main">
              <a:ext uri="{FF2B5EF4-FFF2-40B4-BE49-F238E27FC236}">
                <a16:creationId xmlns:a16="http://schemas.microsoft.com/office/drawing/2014/main" id="{2385A04F-66C4-44BD-A021-853DE5BAC14B}"/>
              </a:ext>
            </a:extLst>
          </p:cNvPr>
          <p:cNvSpPr>
            <a:spLocks xmlns:a="http://schemas.openxmlformats.org/drawingml/2006/main" noGrp="1"/>
          </p:cNvSpPr>
          <p:nvPr/>
        </p:nvSpPr>
        <p:spPr>
          <a:xfrm xmlns:a="http://schemas.openxmlformats.org/drawingml/2006/main">
            <a:off x="4648200" y="2457450"/>
            <a:ext cx="2609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SPECIALIZED RESPONSIBILITY</a:t>
            </a:r>
          </a:p>
        </p:txBody>
      </p:sp>
      <p:sp>
        <p:nvSpPr>
          <p:cNvPr id="14" name="">
            <a:extLst xmlns:a="http://schemas.openxmlformats.org/drawingml/2006/main">
              <a:ext uri="{FF2B5EF4-FFF2-40B4-BE49-F238E27FC236}">
                <a16:creationId xmlns:a16="http://schemas.microsoft.com/office/drawing/2014/main" id="{FE42D90A-175B-473E-9738-E13DA670C04F}"/>
              </a:ext>
            </a:extLst>
          </p:cNvPr>
          <p:cNvSpPr>
            <a:spLocks xmlns:a="http://schemas.openxmlformats.org/drawingml/2006/main" noGrp="1"/>
          </p:cNvSpPr>
          <p:nvPr/>
        </p:nvSpPr>
        <p:spPr>
          <a:xfrm xmlns:a="http://schemas.openxmlformats.org/drawingml/2006/main">
            <a:off x="4648200" y="26670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VERIFICATION ROLE</a:t>
            </a:r>
          </a:p>
        </p:txBody>
      </p:sp>
      <p:sp>
        <p:nvSpPr>
          <p:cNvPr id="15" name="">
            <a:extLst xmlns:a="http://schemas.openxmlformats.org/drawingml/2006/main">
              <a:ext uri="{FF2B5EF4-FFF2-40B4-BE49-F238E27FC236}">
                <a16:creationId xmlns:a16="http://schemas.microsoft.com/office/drawing/2014/main" id="{3484A9D1-5BD4-4458-8A24-5F9778C54919}"/>
              </a:ext>
            </a:extLst>
          </p:cNvPr>
          <p:cNvSpPr>
            <a:spLocks xmlns:a="http://schemas.openxmlformats.org/drawingml/2006/main" noGrp="1"/>
          </p:cNvSpPr>
          <p:nvPr/>
        </p:nvSpPr>
        <p:spPr>
          <a:xfrm xmlns:a="http://schemas.openxmlformats.org/drawingml/2006/main">
            <a:off x="4648200" y="306705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Answer configured questions</a:t>
            </a:r>
          </a:p>
        </p:txBody>
      </p:sp>
      <p:sp>
        <p:nvSpPr>
          <p:cNvPr id="16" name="">
            <a:extLst xmlns:a="http://schemas.openxmlformats.org/drawingml/2006/main">
              <a:ext uri="{FF2B5EF4-FFF2-40B4-BE49-F238E27FC236}">
                <a16:creationId xmlns:a16="http://schemas.microsoft.com/office/drawing/2014/main" id="{27F51EE2-D183-41BD-9358-85C9A6B7A850}"/>
              </a:ext>
            </a:extLst>
          </p:cNvPr>
          <p:cNvSpPr>
            <a:spLocks xmlns:a="http://schemas.openxmlformats.org/drawingml/2006/main" noGrp="1"/>
          </p:cNvSpPr>
          <p:nvPr/>
        </p:nvSpPr>
        <p:spPr>
          <a:xfrm xmlns:a="http://schemas.openxmlformats.org/drawingml/2006/main">
            <a:off x="8096250" y="2343150"/>
            <a:ext cx="295275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FDF"/>
            </a:solidFill>
            <a:prstDash val="solid"/>
          </a:ln>
        </p:spPr>
      </p:sp>
      <p:sp>
        <p:nvSpPr>
          <p:cNvPr id="17" name="">
            <a:extLst xmlns:a="http://schemas.openxmlformats.org/drawingml/2006/main">
              <a:ext uri="{FF2B5EF4-FFF2-40B4-BE49-F238E27FC236}">
                <a16:creationId xmlns:a16="http://schemas.microsoft.com/office/drawing/2014/main" id="{D692EB69-6375-458D-BD0C-F34109122573}"/>
              </a:ext>
            </a:extLst>
          </p:cNvPr>
          <p:cNvSpPr>
            <a:spLocks xmlns:a="http://schemas.openxmlformats.org/drawingml/2006/main" noGrp="1"/>
          </p:cNvSpPr>
          <p:nvPr/>
        </p:nvSpPr>
        <p:spPr>
          <a:xfrm xmlns:a="http://schemas.openxmlformats.org/drawingml/2006/main">
            <a:off x="8267700" y="2457450"/>
            <a:ext cx="2609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SPECIALIZED RESPONSIBILITY</a:t>
            </a:r>
          </a:p>
        </p:txBody>
      </p:sp>
      <p:sp>
        <p:nvSpPr>
          <p:cNvPr id="18" name="">
            <a:extLst xmlns:a="http://schemas.openxmlformats.org/drawingml/2006/main">
              <a:ext uri="{FF2B5EF4-FFF2-40B4-BE49-F238E27FC236}">
                <a16:creationId xmlns:a16="http://schemas.microsoft.com/office/drawing/2014/main" id="{F9C5CB45-FA15-48E7-9701-5FE8C1386F89}"/>
              </a:ext>
            </a:extLst>
          </p:cNvPr>
          <p:cNvSpPr>
            <a:spLocks xmlns:a="http://schemas.openxmlformats.org/drawingml/2006/main" noGrp="1"/>
          </p:cNvSpPr>
          <p:nvPr/>
        </p:nvSpPr>
        <p:spPr>
          <a:xfrm xmlns:a="http://schemas.openxmlformats.org/drawingml/2006/main">
            <a:off x="8267700" y="26670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WORKFLOW ROLE</a:t>
            </a:r>
          </a:p>
        </p:txBody>
      </p:sp>
      <p:sp>
        <p:nvSpPr>
          <p:cNvPr id="19" name="">
            <a:extLst xmlns:a="http://schemas.openxmlformats.org/drawingml/2006/main">
              <a:ext uri="{FF2B5EF4-FFF2-40B4-BE49-F238E27FC236}">
                <a16:creationId xmlns:a16="http://schemas.microsoft.com/office/drawing/2014/main" id="{AF66F83D-095D-44A0-AD2E-8FB8F0D2226B}"/>
              </a:ext>
            </a:extLst>
          </p:cNvPr>
          <p:cNvSpPr>
            <a:spLocks xmlns:a="http://schemas.openxmlformats.org/drawingml/2006/main" noGrp="1"/>
          </p:cNvSpPr>
          <p:nvPr/>
        </p:nvSpPr>
        <p:spPr>
          <a:xfrm xmlns:a="http://schemas.openxmlformats.org/drawingml/2006/main">
            <a:off x="8267700" y="306705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Propose a valid next step</a:t>
            </a:r>
          </a:p>
        </p:txBody>
      </p:sp>
      <p:sp>
        <p:nvSpPr>
          <p:cNvPr id="20" name="">
            <a:extLst xmlns:a="http://schemas.openxmlformats.org/drawingml/2006/main">
              <a:ext uri="{FF2B5EF4-FFF2-40B4-BE49-F238E27FC236}">
                <a16:creationId xmlns:a16="http://schemas.microsoft.com/office/drawing/2014/main" id="{C4E9F99A-4647-4EA5-8FB7-1A7869991CF9}"/>
              </a:ext>
            </a:extLst>
          </p:cNvPr>
          <p:cNvSpPr>
            <a:spLocks xmlns:a="http://schemas.openxmlformats.org/drawingml/2006/main" noGrp="1"/>
          </p:cNvSpPr>
          <p:nvPr/>
        </p:nvSpPr>
        <p:spPr>
          <a:xfrm xmlns:a="http://schemas.openxmlformats.org/drawingml/2006/main">
            <a:off x="3381375" y="4400550"/>
            <a:ext cx="5429250" cy="1066800"/>
          </a:xfrm>
          <a:prstGeom xmlns:a="http://schemas.openxmlformats.org/drawingml/2006/main" prst="roundRect">
            <a:avLst>
              <a:gd name="adj" fmla="val 14286"/>
            </a:avLst>
          </a:prstGeom>
          <a:solidFill xmlns:a="http://schemas.openxmlformats.org/drawingml/2006/main">
            <a:srgbClr val="10263B"/>
          </a:solidFill>
          <a:ln xmlns:a="http://schemas.openxmlformats.org/drawingml/2006/main" w="9525">
            <a:solidFill>
              <a:srgbClr val="10263B"/>
            </a:solidFill>
            <a:prstDash val="solid"/>
          </a:ln>
        </p:spPr>
      </p:sp>
      <p:sp>
        <p:nvSpPr>
          <p:cNvPr id="21" name="">
            <a:extLst xmlns:a="http://schemas.openxmlformats.org/drawingml/2006/main">
              <a:ext uri="{FF2B5EF4-FFF2-40B4-BE49-F238E27FC236}">
                <a16:creationId xmlns:a16="http://schemas.microsoft.com/office/drawing/2014/main" id="{9E421995-9C3A-43CE-941F-C6ADB08C6B67}"/>
              </a:ext>
            </a:extLst>
          </p:cNvPr>
          <p:cNvSpPr>
            <a:spLocks xmlns:a="http://schemas.openxmlformats.org/drawingml/2006/main" noGrp="1"/>
          </p:cNvSpPr>
          <p:nvPr/>
        </p:nvSpPr>
        <p:spPr>
          <a:xfrm xmlns:a="http://schemas.openxmlformats.org/drawingml/2006/main">
            <a:off x="3552825" y="4514850"/>
            <a:ext cx="508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PLANNED ORCHESTRATION</a:t>
            </a:r>
          </a:p>
        </p:txBody>
      </p:sp>
      <p:sp>
        <p:nvSpPr>
          <p:cNvPr id="22" name="">
            <a:extLst xmlns:a="http://schemas.openxmlformats.org/drawingml/2006/main">
              <a:ext uri="{FF2B5EF4-FFF2-40B4-BE49-F238E27FC236}">
                <a16:creationId xmlns:a16="http://schemas.microsoft.com/office/drawing/2014/main" id="{39E63F84-1339-40A7-BE0D-41231A182ED5}"/>
              </a:ext>
            </a:extLst>
          </p:cNvPr>
          <p:cNvSpPr>
            <a:spLocks xmlns:a="http://schemas.openxmlformats.org/drawingml/2006/main" noGrp="1"/>
          </p:cNvSpPr>
          <p:nvPr/>
        </p:nvSpPr>
        <p:spPr>
          <a:xfrm xmlns:a="http://schemas.openxmlformats.org/drawingml/2006/main">
            <a:off x="3552825" y="4724400"/>
            <a:ext cx="508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SUPERVISOR / COORDINATOR</a:t>
            </a:r>
          </a:p>
        </p:txBody>
      </p:sp>
      <p:sp>
        <p:nvSpPr>
          <p:cNvPr id="23" name="">
            <a:extLst xmlns:a="http://schemas.openxmlformats.org/drawingml/2006/main">
              <a:ext uri="{FF2B5EF4-FFF2-40B4-BE49-F238E27FC236}">
                <a16:creationId xmlns:a16="http://schemas.microsoft.com/office/drawing/2014/main" id="{075988F6-6F12-4CBA-86ED-8ABE77F5D67A}"/>
              </a:ext>
            </a:extLst>
          </p:cNvPr>
          <p:cNvSpPr>
            <a:spLocks xmlns:a="http://schemas.openxmlformats.org/drawingml/2006/main" noGrp="1"/>
          </p:cNvSpPr>
          <p:nvPr/>
        </p:nvSpPr>
        <p:spPr>
          <a:xfrm xmlns:a="http://schemas.openxmlformats.org/drawingml/2006/main">
            <a:off x="3552825" y="5105400"/>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D2DEE3"/>
                </a:solidFill>
                <a:latin typeface="Arial"/>
                <a:ea typeface="Arial"/>
                <a:cs typeface="Arial"/>
              </a:defRPr>
            </a:pPr>
            <a:r>
              <a:rPr sz="1125" b="0">
                <a:solidFill>
                  <a:srgbClr val="D2DEE3"/>
                </a:solidFill>
                <a:latin typeface="Arial"/>
                <a:ea typeface="Arial"/>
                <a:cs typeface="Arial"/>
              </a:rPr>
              <a:t>Coordinates work through explicit inputs, outputs, and case events</a:t>
            </a:r>
          </a:p>
        </p:txBody>
      </p:sp>
      <p:sp>
        <p:nvSpPr>
          <p:cNvPr id="24" name="">
            <a:extLst xmlns:a="http://schemas.openxmlformats.org/drawingml/2006/main">
              <a:ext uri="{FF2B5EF4-FFF2-40B4-BE49-F238E27FC236}">
                <a16:creationId xmlns:a16="http://schemas.microsoft.com/office/drawing/2014/main" id="{C249FF9C-649E-4542-A35B-2EFB8049AAAB}"/>
              </a:ext>
            </a:extLst>
          </p:cNvPr>
          <p:cNvSpPr>
            <a:spLocks xmlns:a="http://schemas.openxmlformats.org/drawingml/2006/main" noGrp="1"/>
          </p:cNvSpPr>
          <p:nvPr/>
        </p:nvSpPr>
        <p:spPr>
          <a:xfrm xmlns:a="http://schemas.openxmlformats.org/drawingml/2006/main">
            <a:off x="2333625" y="3905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6" name=""/>
          <p:cNvCxnSpPr>
            <a:stCxn xmlns:a="http://schemas.openxmlformats.org/drawingml/2006/main" id="20" idx="0"/>
            <a:endCxn xmlns:a="http://schemas.openxmlformats.org/drawingml/2006/main" id="24" idx="2"/>
          </p:cNvCxnSpPr>
          <p:nvPr/>
        </p:nvCxnSpPr>
        <p:spPr>
          <a:xfrm xmlns:a="http://schemas.openxmlformats.org/drawingml/2006/main" flipH="1" flipV="1">
            <a:off x="2338388" y="3914775"/>
            <a:ext cx="3757613" cy="485775"/>
          </a:xfrm>
          <a:prstGeom xmlns:a="http://schemas.openxmlformats.org/drawingml/2006/main" prst="bentConnector4">
            <a:avLst>
              <a:gd name="adj1" fmla="val 0"/>
              <a:gd name="adj2" fmla="val 50000"/>
            </a:avLst>
          </a:prstGeom>
          <a:ln xmlns:a="http://schemas.openxmlformats.org/drawingml/2006/main" w="19050">
            <a:solidFill>
              <a:srgbClr val="D79A2B"/>
            </a:solidFill>
            <a:prstDash val="dash"/>
          </a:ln>
        </p:spPr>
      </p:cxnSp>
      <p:sp>
        <p:nvSpPr>
          <p:cNvPr id="26" name="">
            <a:extLst xmlns:a="http://schemas.openxmlformats.org/drawingml/2006/main">
              <a:ext uri="{FF2B5EF4-FFF2-40B4-BE49-F238E27FC236}">
                <a16:creationId xmlns:a16="http://schemas.microsoft.com/office/drawing/2014/main" id="{933A337F-34E5-4A53-B809-C0F6859F6014}"/>
              </a:ext>
            </a:extLst>
          </p:cNvPr>
          <p:cNvSpPr>
            <a:spLocks xmlns:a="http://schemas.openxmlformats.org/drawingml/2006/main" noGrp="1"/>
          </p:cNvSpPr>
          <p:nvPr/>
        </p:nvSpPr>
        <p:spPr>
          <a:xfrm xmlns:a="http://schemas.openxmlformats.org/drawingml/2006/main">
            <a:off x="5953125" y="3905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8" name=""/>
          <p:cNvCxnSpPr>
            <a:stCxn xmlns:a="http://schemas.openxmlformats.org/drawingml/2006/main" id="20" idx="0"/>
            <a:endCxn xmlns:a="http://schemas.openxmlformats.org/drawingml/2006/main" id="26" idx="2"/>
          </p:cNvCxnSpPr>
          <p:nvPr/>
        </p:nvCxnSpPr>
        <p:spPr>
          <a:xfrm xmlns:a="http://schemas.openxmlformats.org/drawingml/2006/main" flipH="1" flipV="1">
            <a:off x="5957888" y="3914775"/>
            <a:ext cx="138113" cy="485775"/>
          </a:xfrm>
          <a:prstGeom xmlns:a="http://schemas.openxmlformats.org/drawingml/2006/main" prst="bentConnector4">
            <a:avLst>
              <a:gd name="adj1" fmla="val 0"/>
              <a:gd name="adj2" fmla="val 50000"/>
            </a:avLst>
          </a:prstGeom>
          <a:ln xmlns:a="http://schemas.openxmlformats.org/drawingml/2006/main" w="19050">
            <a:solidFill>
              <a:srgbClr val="D79A2B"/>
            </a:solidFill>
            <a:prstDash val="dash"/>
          </a:ln>
        </p:spPr>
      </p:cxnSp>
      <p:sp>
        <p:nvSpPr>
          <p:cNvPr id="28" name="">
            <a:extLst xmlns:a="http://schemas.openxmlformats.org/drawingml/2006/main">
              <a:ext uri="{FF2B5EF4-FFF2-40B4-BE49-F238E27FC236}">
                <a16:creationId xmlns:a16="http://schemas.microsoft.com/office/drawing/2014/main" id="{2C65D210-45C8-410C-9D6C-07ED4F3EFB6B}"/>
              </a:ext>
            </a:extLst>
          </p:cNvPr>
          <p:cNvSpPr>
            <a:spLocks xmlns:a="http://schemas.openxmlformats.org/drawingml/2006/main" noGrp="1"/>
          </p:cNvSpPr>
          <p:nvPr/>
        </p:nvSpPr>
        <p:spPr>
          <a:xfrm xmlns:a="http://schemas.openxmlformats.org/drawingml/2006/main">
            <a:off x="9572625" y="3905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0" name=""/>
          <p:cNvCxnSpPr>
            <a:stCxn xmlns:a="http://schemas.openxmlformats.org/drawingml/2006/main" id="20" idx="0"/>
            <a:endCxn xmlns:a="http://schemas.openxmlformats.org/drawingml/2006/main" id="28" idx="2"/>
          </p:cNvCxnSpPr>
          <p:nvPr/>
        </p:nvCxnSpPr>
        <p:spPr>
          <a:xfrm xmlns:a="http://schemas.openxmlformats.org/drawingml/2006/main" flipV="1">
            <a:off x="6096000" y="3914775"/>
            <a:ext cx="3481388" cy="485775"/>
          </a:xfrm>
          <a:prstGeom xmlns:a="http://schemas.openxmlformats.org/drawingml/2006/main" prst="bentConnector4">
            <a:avLst>
              <a:gd name="adj1" fmla="val 0"/>
              <a:gd name="adj2" fmla="val 50000"/>
            </a:avLst>
          </a:prstGeom>
          <a:ln xmlns:a="http://schemas.openxmlformats.org/drawingml/2006/main" w="19050">
            <a:solidFill>
              <a:srgbClr val="D79A2B"/>
            </a:solidFill>
            <a:prstDash val="dash"/>
          </a:ln>
        </p:spPr>
      </p:cxnSp>
      <p:sp>
        <p:nvSpPr>
          <p:cNvPr id="30" name="">
            <a:extLst xmlns:a="http://schemas.openxmlformats.org/drawingml/2006/main">
              <a:ext uri="{FF2B5EF4-FFF2-40B4-BE49-F238E27FC236}">
                <a16:creationId xmlns:a16="http://schemas.microsoft.com/office/drawing/2014/main" id="{E85E95E6-2DE8-4154-8BF0-6D66A3D09BB3}"/>
              </a:ext>
            </a:extLst>
          </p:cNvPr>
          <p:cNvSpPr>
            <a:spLocks xmlns:a="http://schemas.openxmlformats.org/drawingml/2006/main" noGrp="1"/>
          </p:cNvSpPr>
          <p:nvPr/>
        </p:nvSpPr>
        <p:spPr>
          <a:xfrm xmlns:a="http://schemas.openxmlformats.org/drawingml/2006/main">
            <a:off x="857250" y="5829300"/>
            <a:ext cx="4000500" cy="285750"/>
          </a:xfrm>
          <a:prstGeom xmlns:a="http://schemas.openxmlformats.org/drawingml/2006/main" prst="roundRect">
            <a:avLst>
              <a:gd name="adj" fmla="val 50000"/>
            </a:avLst>
          </a:prstGeom>
          <a:solidFill xmlns:a="http://schemas.openxmlformats.org/drawingml/2006/main">
            <a:srgbClr val="FFF0C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63BF531-2251-44CA-936F-06B4B1BB8EC3}"/>
              </a:ext>
            </a:extLst>
          </p:cNvPr>
          <p:cNvSpPr>
            <a:spLocks xmlns:a="http://schemas.openxmlformats.org/drawingml/2006/main" noGrp="1"/>
          </p:cNvSpPr>
          <p:nvPr/>
        </p:nvSpPr>
        <p:spPr>
          <a:xfrm xmlns:a="http://schemas.openxmlformats.org/drawingml/2006/main">
            <a:off x="952500" y="58483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TARGET ARCHITECTURE • NOT YET IMPLEMENTED</a:t>
            </a:r>
          </a:p>
        </p:txBody>
      </p:sp>
    </p:spTree>
    <p:extLst>
      <p:ext uri="{BB962C8B-B14F-4D97-AF65-F5344CB8AC3E}">
        <p14:creationId xmlns:p14="http://schemas.microsoft.com/office/powerpoint/2010/main" val="924442501"/>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08B562A-5344-4CBE-B258-ACFFC4AE591C}"/>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03  /  SYSTEM DESIGN</a:t>
            </a:r>
          </a:p>
        </p:txBody>
      </p:sp>
      <p:sp>
        <p:nvSpPr>
          <p:cNvPr id="2" name="">
            <a:extLst xmlns:a="http://schemas.openxmlformats.org/drawingml/2006/main">
              <a:ext uri="{FF2B5EF4-FFF2-40B4-BE49-F238E27FC236}">
                <a16:creationId xmlns:a16="http://schemas.microsoft.com/office/drawing/2014/main" id="{7ED28D8E-BADB-4054-991D-0D30E4EADBC1}"/>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The structure separates interpretation, control, and authority</a:t>
            </a:r>
          </a:p>
        </p:txBody>
      </p:sp>
      <p:sp>
        <p:nvSpPr>
          <p:cNvPr id="3" name="">
            <a:extLst xmlns:a="http://schemas.openxmlformats.org/drawingml/2006/main">
              <a:ext uri="{FF2B5EF4-FFF2-40B4-BE49-F238E27FC236}">
                <a16:creationId xmlns:a16="http://schemas.microsoft.com/office/drawing/2014/main" id="{C50A2C11-490F-4DD9-A5E5-BDE1DB2DB22C}"/>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05DF4B-069B-42F1-95D2-DFEB11E3C0F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EB2930-1C1B-443E-9A41-7E268602DC95}"/>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9B7E0188-8B3E-4862-B07C-FEBA438FAED3}"/>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CD5F157B-5155-42F3-BF6E-F26F9227F7F1}"/>
              </a:ext>
            </a:extLst>
          </p:cNvPr>
          <p:cNvSpPr>
            <a:spLocks xmlns:a="http://schemas.openxmlformats.org/drawingml/2006/main" noGrp="1"/>
          </p:cNvSpPr>
          <p:nvPr/>
        </p:nvSpPr>
        <p:spPr>
          <a:xfrm xmlns:a="http://schemas.openxmlformats.org/drawingml/2006/main">
            <a:off x="647700" y="2190750"/>
            <a:ext cx="163830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17D9A9D9-597B-4950-AD8E-594E25F1726F}"/>
              </a:ext>
            </a:extLst>
          </p:cNvPr>
          <p:cNvSpPr>
            <a:spLocks xmlns:a="http://schemas.openxmlformats.org/drawingml/2006/main" noGrp="1"/>
          </p:cNvSpPr>
          <p:nvPr/>
        </p:nvSpPr>
        <p:spPr>
          <a:xfrm xmlns:a="http://schemas.openxmlformats.org/drawingml/2006/main">
            <a:off x="819150" y="23050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INPUT</a:t>
            </a:r>
          </a:p>
        </p:txBody>
      </p:sp>
      <p:sp>
        <p:nvSpPr>
          <p:cNvPr id="9" name="">
            <a:extLst xmlns:a="http://schemas.openxmlformats.org/drawingml/2006/main">
              <a:ext uri="{FF2B5EF4-FFF2-40B4-BE49-F238E27FC236}">
                <a16:creationId xmlns:a16="http://schemas.microsoft.com/office/drawing/2014/main" id="{286161CC-78FF-41BB-843F-01EE722C3BFE}"/>
              </a:ext>
            </a:extLst>
          </p:cNvPr>
          <p:cNvSpPr>
            <a:spLocks xmlns:a="http://schemas.openxmlformats.org/drawingml/2006/main" noGrp="1"/>
          </p:cNvSpPr>
          <p:nvPr/>
        </p:nvSpPr>
        <p:spPr>
          <a:xfrm xmlns:a="http://schemas.openxmlformats.org/drawingml/2006/main">
            <a:off x="819150" y="25146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DOCUMENTS</a:t>
            </a:r>
          </a:p>
        </p:txBody>
      </p:sp>
      <p:sp>
        <p:nvSpPr>
          <p:cNvPr id="10" name="">
            <a:extLst xmlns:a="http://schemas.openxmlformats.org/drawingml/2006/main">
              <a:ext uri="{FF2B5EF4-FFF2-40B4-BE49-F238E27FC236}">
                <a16:creationId xmlns:a16="http://schemas.microsoft.com/office/drawing/2014/main" id="{13028550-0114-4560-B25A-AEC95444F547}"/>
              </a:ext>
            </a:extLst>
          </p:cNvPr>
          <p:cNvSpPr>
            <a:spLocks xmlns:a="http://schemas.openxmlformats.org/drawingml/2006/main" noGrp="1"/>
          </p:cNvSpPr>
          <p:nvPr/>
        </p:nvSpPr>
        <p:spPr>
          <a:xfrm xmlns:a="http://schemas.openxmlformats.org/drawingml/2006/main">
            <a:off x="819150" y="29337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Versioned files</a:t>
            </a:r>
          </a:p>
        </p:txBody>
      </p:sp>
      <p:sp>
        <p:nvSpPr>
          <p:cNvPr id="11" name="">
            <a:extLst xmlns:a="http://schemas.openxmlformats.org/drawingml/2006/main">
              <a:ext uri="{FF2B5EF4-FFF2-40B4-BE49-F238E27FC236}">
                <a16:creationId xmlns:a16="http://schemas.microsoft.com/office/drawing/2014/main" id="{5166274C-DB61-41DC-83C8-BADA1D9E3E92}"/>
              </a:ext>
            </a:extLst>
          </p:cNvPr>
          <p:cNvSpPr>
            <a:spLocks xmlns:a="http://schemas.openxmlformats.org/drawingml/2006/main" noGrp="1"/>
          </p:cNvSpPr>
          <p:nvPr/>
        </p:nvSpPr>
        <p:spPr>
          <a:xfrm xmlns:a="http://schemas.openxmlformats.org/drawingml/2006/main">
            <a:off x="2647950" y="2190750"/>
            <a:ext cx="1752600" cy="1123950"/>
          </a:xfrm>
          <a:prstGeom xmlns:a="http://schemas.openxmlformats.org/drawingml/2006/main" prst="roundRect">
            <a:avLst>
              <a:gd name="adj" fmla="val 13559"/>
            </a:avLst>
          </a:prstGeom>
          <a:solidFill xmlns:a="http://schemas.openxmlformats.org/drawingml/2006/main">
            <a:srgbClr val="E1F1E7"/>
          </a:solidFill>
          <a:ln xmlns:a="http://schemas.openxmlformats.org/drawingml/2006/main" w="9525">
            <a:solidFill>
              <a:srgbClr val="B6D8C3"/>
            </a:solidFill>
            <a:prstDash val="solid"/>
          </a:ln>
        </p:spPr>
      </p:sp>
      <p:sp>
        <p:nvSpPr>
          <p:cNvPr id="12" name="">
            <a:extLst xmlns:a="http://schemas.openxmlformats.org/drawingml/2006/main">
              <a:ext uri="{FF2B5EF4-FFF2-40B4-BE49-F238E27FC236}">
                <a16:creationId xmlns:a16="http://schemas.microsoft.com/office/drawing/2014/main" id="{7E2150BF-6557-4EC4-BE12-0BFCA69D34B2}"/>
              </a:ext>
            </a:extLst>
          </p:cNvPr>
          <p:cNvSpPr>
            <a:spLocks xmlns:a="http://schemas.openxmlformats.org/drawingml/2006/main" noGrp="1"/>
          </p:cNvSpPr>
          <p:nvPr/>
        </p:nvSpPr>
        <p:spPr>
          <a:xfrm xmlns:a="http://schemas.openxmlformats.org/drawingml/2006/main">
            <a:off x="2819400" y="230505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IMPLEMENTED</a:t>
            </a:r>
          </a:p>
        </p:txBody>
      </p:sp>
      <p:sp>
        <p:nvSpPr>
          <p:cNvPr id="13" name="">
            <a:extLst xmlns:a="http://schemas.openxmlformats.org/drawingml/2006/main">
              <a:ext uri="{FF2B5EF4-FFF2-40B4-BE49-F238E27FC236}">
                <a16:creationId xmlns:a16="http://schemas.microsoft.com/office/drawing/2014/main" id="{187A1AB2-BA35-4E2A-8E8C-4ADECFB47B4A}"/>
              </a:ext>
            </a:extLst>
          </p:cNvPr>
          <p:cNvSpPr>
            <a:spLocks xmlns:a="http://schemas.openxmlformats.org/drawingml/2006/main" noGrp="1"/>
          </p:cNvSpPr>
          <p:nvPr/>
        </p:nvSpPr>
        <p:spPr>
          <a:xfrm xmlns:a="http://schemas.openxmlformats.org/drawingml/2006/main">
            <a:off x="2819400" y="251460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PARSE + OCR</a:t>
            </a:r>
          </a:p>
        </p:txBody>
      </p:sp>
      <p:sp>
        <p:nvSpPr>
          <p:cNvPr id="14" name="">
            <a:extLst xmlns:a="http://schemas.openxmlformats.org/drawingml/2006/main">
              <a:ext uri="{FF2B5EF4-FFF2-40B4-BE49-F238E27FC236}">
                <a16:creationId xmlns:a16="http://schemas.microsoft.com/office/drawing/2014/main" id="{9B89C072-CC50-49E6-A56E-7809F54AD958}"/>
              </a:ext>
            </a:extLst>
          </p:cNvPr>
          <p:cNvSpPr>
            <a:spLocks xmlns:a="http://schemas.openxmlformats.org/drawingml/2006/main" noGrp="1"/>
          </p:cNvSpPr>
          <p:nvPr/>
        </p:nvSpPr>
        <p:spPr>
          <a:xfrm xmlns:a="http://schemas.openxmlformats.org/drawingml/2006/main">
            <a:off x="2819400" y="293370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Source blocks</a:t>
            </a:r>
          </a:p>
        </p:txBody>
      </p:sp>
      <p:sp>
        <p:nvSpPr>
          <p:cNvPr id="15" name="">
            <a:extLst xmlns:a="http://schemas.openxmlformats.org/drawingml/2006/main">
              <a:ext uri="{FF2B5EF4-FFF2-40B4-BE49-F238E27FC236}">
                <a16:creationId xmlns:a16="http://schemas.microsoft.com/office/drawing/2014/main" id="{444C62D3-77B5-40E2-A03D-6A31FBC25C36}"/>
              </a:ext>
            </a:extLst>
          </p:cNvPr>
          <p:cNvSpPr>
            <a:spLocks xmlns:a="http://schemas.openxmlformats.org/drawingml/2006/main" noGrp="1"/>
          </p:cNvSpPr>
          <p:nvPr/>
        </p:nvSpPr>
        <p:spPr>
          <a:xfrm xmlns:a="http://schemas.openxmlformats.org/drawingml/2006/main">
            <a:off x="4752975" y="2190750"/>
            <a:ext cx="1866900" cy="1123950"/>
          </a:xfrm>
          <a:prstGeom xmlns:a="http://schemas.openxmlformats.org/drawingml/2006/main" prst="roundRect">
            <a:avLst>
              <a:gd name="adj" fmla="val 13559"/>
            </a:avLst>
          </a:prstGeom>
          <a:solidFill xmlns:a="http://schemas.openxmlformats.org/drawingml/2006/main">
            <a:srgbClr val="E1F1E7"/>
          </a:solidFill>
          <a:ln xmlns:a="http://schemas.openxmlformats.org/drawingml/2006/main" w="9525">
            <a:solidFill>
              <a:srgbClr val="B6D8C3"/>
            </a:solidFill>
            <a:prstDash val="solid"/>
          </a:ln>
        </p:spPr>
      </p:sp>
      <p:sp>
        <p:nvSpPr>
          <p:cNvPr id="16" name="">
            <a:extLst xmlns:a="http://schemas.openxmlformats.org/drawingml/2006/main">
              <a:ext uri="{FF2B5EF4-FFF2-40B4-BE49-F238E27FC236}">
                <a16:creationId xmlns:a16="http://schemas.microsoft.com/office/drawing/2014/main" id="{D61B6776-EB98-4BEE-90D5-BE031EF96F9E}"/>
              </a:ext>
            </a:extLst>
          </p:cNvPr>
          <p:cNvSpPr>
            <a:spLocks xmlns:a="http://schemas.openxmlformats.org/drawingml/2006/main" noGrp="1"/>
          </p:cNvSpPr>
          <p:nvPr/>
        </p:nvSpPr>
        <p:spPr>
          <a:xfrm xmlns:a="http://schemas.openxmlformats.org/drawingml/2006/main">
            <a:off x="4924425" y="23050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IMPLEMENTED</a:t>
            </a:r>
          </a:p>
        </p:txBody>
      </p:sp>
      <p:sp>
        <p:nvSpPr>
          <p:cNvPr id="17" name="">
            <a:extLst xmlns:a="http://schemas.openxmlformats.org/drawingml/2006/main">
              <a:ext uri="{FF2B5EF4-FFF2-40B4-BE49-F238E27FC236}">
                <a16:creationId xmlns:a16="http://schemas.microsoft.com/office/drawing/2014/main" id="{64400972-9C3A-49D3-ACFA-65CF99ED983C}"/>
              </a:ext>
            </a:extLst>
          </p:cNvPr>
          <p:cNvSpPr>
            <a:spLocks xmlns:a="http://schemas.openxmlformats.org/drawingml/2006/main" noGrp="1"/>
          </p:cNvSpPr>
          <p:nvPr/>
        </p:nvSpPr>
        <p:spPr>
          <a:xfrm xmlns:a="http://schemas.openxmlformats.org/drawingml/2006/main">
            <a:off x="4924425" y="2514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AI INTERPRETATION</a:t>
            </a:r>
          </a:p>
        </p:txBody>
      </p:sp>
      <p:sp>
        <p:nvSpPr>
          <p:cNvPr id="18" name="">
            <a:extLst xmlns:a="http://schemas.openxmlformats.org/drawingml/2006/main">
              <a:ext uri="{FF2B5EF4-FFF2-40B4-BE49-F238E27FC236}">
                <a16:creationId xmlns:a16="http://schemas.microsoft.com/office/drawing/2014/main" id="{F3E933C1-D881-4583-886A-B33E1EA88E03}"/>
              </a:ext>
            </a:extLst>
          </p:cNvPr>
          <p:cNvSpPr>
            <a:spLocks xmlns:a="http://schemas.openxmlformats.org/drawingml/2006/main" noGrp="1"/>
          </p:cNvSpPr>
          <p:nvPr/>
        </p:nvSpPr>
        <p:spPr>
          <a:xfrm xmlns:a="http://schemas.openxmlformats.org/drawingml/2006/main">
            <a:off x="4924425" y="2933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Classify + extract</a:t>
            </a:r>
          </a:p>
        </p:txBody>
      </p:sp>
      <p:sp>
        <p:nvSpPr>
          <p:cNvPr id="19" name="">
            <a:extLst xmlns:a="http://schemas.openxmlformats.org/drawingml/2006/main">
              <a:ext uri="{FF2B5EF4-FFF2-40B4-BE49-F238E27FC236}">
                <a16:creationId xmlns:a16="http://schemas.microsoft.com/office/drawing/2014/main" id="{411ACB75-5EF0-468E-A0A4-B09917B81F07}"/>
              </a:ext>
            </a:extLst>
          </p:cNvPr>
          <p:cNvSpPr>
            <a:spLocks xmlns:a="http://schemas.openxmlformats.org/drawingml/2006/main" noGrp="1"/>
          </p:cNvSpPr>
          <p:nvPr/>
        </p:nvSpPr>
        <p:spPr>
          <a:xfrm xmlns:a="http://schemas.openxmlformats.org/drawingml/2006/main">
            <a:off x="6981825" y="2190750"/>
            <a:ext cx="1809750" cy="1123950"/>
          </a:xfrm>
          <a:prstGeom xmlns:a="http://schemas.openxmlformats.org/drawingml/2006/main" prst="roundRect">
            <a:avLst>
              <a:gd name="adj" fmla="val 13559"/>
            </a:avLst>
          </a:prstGeom>
          <a:solidFill xmlns:a="http://schemas.openxmlformats.org/drawingml/2006/main">
            <a:srgbClr val="E1F1E7"/>
          </a:solidFill>
          <a:ln xmlns:a="http://schemas.openxmlformats.org/drawingml/2006/main" w="9525">
            <a:solidFill>
              <a:srgbClr val="B6D8C3"/>
            </a:solidFill>
            <a:prstDash val="solid"/>
          </a:ln>
        </p:spPr>
      </p:sp>
      <p:sp>
        <p:nvSpPr>
          <p:cNvPr id="20" name="">
            <a:extLst xmlns:a="http://schemas.openxmlformats.org/drawingml/2006/main">
              <a:ext uri="{FF2B5EF4-FFF2-40B4-BE49-F238E27FC236}">
                <a16:creationId xmlns:a16="http://schemas.microsoft.com/office/drawing/2014/main" id="{115E0B30-1425-4FAD-AB85-A1C4F2522717}"/>
              </a:ext>
            </a:extLst>
          </p:cNvPr>
          <p:cNvSpPr>
            <a:spLocks xmlns:a="http://schemas.openxmlformats.org/drawingml/2006/main" noGrp="1"/>
          </p:cNvSpPr>
          <p:nvPr/>
        </p:nvSpPr>
        <p:spPr>
          <a:xfrm xmlns:a="http://schemas.openxmlformats.org/drawingml/2006/main">
            <a:off x="7153275" y="23050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IMPLEMENTED</a:t>
            </a:r>
          </a:p>
        </p:txBody>
      </p:sp>
      <p:sp>
        <p:nvSpPr>
          <p:cNvPr id="21" name="">
            <a:extLst xmlns:a="http://schemas.openxmlformats.org/drawingml/2006/main">
              <a:ext uri="{FF2B5EF4-FFF2-40B4-BE49-F238E27FC236}">
                <a16:creationId xmlns:a16="http://schemas.microsoft.com/office/drawing/2014/main" id="{4BA24BFE-2A1D-424E-B903-189EF86C50C7}"/>
              </a:ext>
            </a:extLst>
          </p:cNvPr>
          <p:cNvSpPr>
            <a:spLocks xmlns:a="http://schemas.openxmlformats.org/drawingml/2006/main" noGrp="1"/>
          </p:cNvSpPr>
          <p:nvPr/>
        </p:nvSpPr>
        <p:spPr>
          <a:xfrm xmlns:a="http://schemas.openxmlformats.org/drawingml/2006/main">
            <a:off x="7153275"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CASE EVIDENCE</a:t>
            </a:r>
          </a:p>
        </p:txBody>
      </p:sp>
      <p:sp>
        <p:nvSpPr>
          <p:cNvPr id="22" name="">
            <a:extLst xmlns:a="http://schemas.openxmlformats.org/drawingml/2006/main">
              <a:ext uri="{FF2B5EF4-FFF2-40B4-BE49-F238E27FC236}">
                <a16:creationId xmlns:a16="http://schemas.microsoft.com/office/drawing/2014/main" id="{4F39C7A0-F181-47E4-97D2-E7FE469A123C}"/>
              </a:ext>
            </a:extLst>
          </p:cNvPr>
          <p:cNvSpPr>
            <a:spLocks xmlns:a="http://schemas.openxmlformats.org/drawingml/2006/main" noGrp="1"/>
          </p:cNvSpPr>
          <p:nvPr/>
        </p:nvSpPr>
        <p:spPr>
          <a:xfrm xmlns:a="http://schemas.openxmlformats.org/drawingml/2006/main">
            <a:off x="7153275" y="2933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Claims + provenance</a:t>
            </a:r>
          </a:p>
        </p:txBody>
      </p:sp>
      <p:sp>
        <p:nvSpPr>
          <p:cNvPr id="23" name="">
            <a:extLst xmlns:a="http://schemas.openxmlformats.org/drawingml/2006/main">
              <a:ext uri="{FF2B5EF4-FFF2-40B4-BE49-F238E27FC236}">
                <a16:creationId xmlns:a16="http://schemas.microsoft.com/office/drawing/2014/main" id="{5D531F7B-0D87-4A0C-A04E-BA1C821B0ACE}"/>
              </a:ext>
            </a:extLst>
          </p:cNvPr>
          <p:cNvSpPr>
            <a:spLocks xmlns:a="http://schemas.openxmlformats.org/drawingml/2006/main" noGrp="1"/>
          </p:cNvSpPr>
          <p:nvPr/>
        </p:nvSpPr>
        <p:spPr>
          <a:xfrm xmlns:a="http://schemas.openxmlformats.org/drawingml/2006/main">
            <a:off x="9086850" y="2190750"/>
            <a:ext cx="2400300" cy="1123950"/>
          </a:xfrm>
          <a:prstGeom xmlns:a="http://schemas.openxmlformats.org/drawingml/2006/main" prst="roundRect">
            <a:avLst>
              <a:gd name="adj" fmla="val 13559"/>
            </a:avLst>
          </a:prstGeom>
          <a:solidFill xmlns:a="http://schemas.openxmlformats.org/drawingml/2006/main">
            <a:srgbClr val="FFF0CF"/>
          </a:solidFill>
          <a:ln xmlns:a="http://schemas.openxmlformats.org/drawingml/2006/main" w="9525">
            <a:solidFill>
              <a:srgbClr val="D79A2B"/>
            </a:solidFill>
            <a:prstDash val="solid"/>
          </a:ln>
        </p:spPr>
      </p:sp>
      <p:sp>
        <p:nvSpPr>
          <p:cNvPr id="24" name="">
            <a:extLst xmlns:a="http://schemas.openxmlformats.org/drawingml/2006/main">
              <a:ext uri="{FF2B5EF4-FFF2-40B4-BE49-F238E27FC236}">
                <a16:creationId xmlns:a16="http://schemas.microsoft.com/office/drawing/2014/main" id="{F70E0F48-2004-4354-8AC2-32421FFBB9D6}"/>
              </a:ext>
            </a:extLst>
          </p:cNvPr>
          <p:cNvSpPr>
            <a:spLocks xmlns:a="http://schemas.openxmlformats.org/drawingml/2006/main" noGrp="1"/>
          </p:cNvSpPr>
          <p:nvPr/>
        </p:nvSpPr>
        <p:spPr>
          <a:xfrm xmlns:a="http://schemas.openxmlformats.org/drawingml/2006/main">
            <a:off x="9258300" y="2305050"/>
            <a:ext cx="2057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PLANNED</a:t>
            </a:r>
          </a:p>
        </p:txBody>
      </p:sp>
      <p:sp>
        <p:nvSpPr>
          <p:cNvPr id="25" name="">
            <a:extLst xmlns:a="http://schemas.openxmlformats.org/drawingml/2006/main">
              <a:ext uri="{FF2B5EF4-FFF2-40B4-BE49-F238E27FC236}">
                <a16:creationId xmlns:a16="http://schemas.microsoft.com/office/drawing/2014/main" id="{1052FD8C-C69C-43FF-AF5F-945F23452A06}"/>
              </a:ext>
            </a:extLst>
          </p:cNvPr>
          <p:cNvSpPr>
            <a:spLocks xmlns:a="http://schemas.openxmlformats.org/drawingml/2006/main" noGrp="1"/>
          </p:cNvSpPr>
          <p:nvPr/>
        </p:nvSpPr>
        <p:spPr>
          <a:xfrm xmlns:a="http://schemas.openxmlformats.org/drawingml/2006/main">
            <a:off x="9258300" y="25146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B2B36"/>
                </a:solidFill>
                <a:latin typeface="Arial"/>
                <a:ea typeface="Arial"/>
                <a:cs typeface="Arial"/>
              </a:defRPr>
            </a:pPr>
            <a:r>
              <a:rPr sz="1200" b="1">
                <a:solidFill>
                  <a:srgbClr val="1B2B36"/>
                </a:solidFill>
                <a:latin typeface="Arial"/>
                <a:ea typeface="Arial"/>
                <a:cs typeface="Arial"/>
              </a:rPr>
              <a:t>AGENT ROLES</a:t>
            </a:r>
          </a:p>
        </p:txBody>
      </p:sp>
      <p:sp>
        <p:nvSpPr>
          <p:cNvPr id="26" name="">
            <a:extLst xmlns:a="http://schemas.openxmlformats.org/drawingml/2006/main">
              <a:ext uri="{FF2B5EF4-FFF2-40B4-BE49-F238E27FC236}">
                <a16:creationId xmlns:a16="http://schemas.microsoft.com/office/drawing/2014/main" id="{88727937-49BC-4B36-B866-2AAB13DC6DFB}"/>
              </a:ext>
            </a:extLst>
          </p:cNvPr>
          <p:cNvSpPr>
            <a:spLocks xmlns:a="http://schemas.openxmlformats.org/drawingml/2006/main" noGrp="1"/>
          </p:cNvSpPr>
          <p:nvPr/>
        </p:nvSpPr>
        <p:spPr>
          <a:xfrm xmlns:a="http://schemas.openxmlformats.org/drawingml/2006/main">
            <a:off x="9258300" y="29337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Planned coordination</a:t>
            </a:r>
          </a:p>
        </p:txBody>
      </p:sp>
      <p:cxnSp>
        <p:nvCxnSpPr>
          <p:cNvPr id="75" name=""/>
          <p:cNvCxnSpPr>
            <a:stCxn xmlns:a="http://schemas.openxmlformats.org/drawingml/2006/main" id="7" idx="3"/>
            <a:endCxn xmlns:a="http://schemas.openxmlformats.org/drawingml/2006/main" id="11" idx="1"/>
          </p:cNvCxnSpPr>
          <p:nvPr/>
        </p:nvCxnSpPr>
        <p:spPr>
          <a:xfrm xmlns:a="http://schemas.openxmlformats.org/drawingml/2006/main">
            <a:off x="2286000" y="2752725"/>
            <a:ext cx="361950"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76" name=""/>
          <p:cNvCxnSpPr>
            <a:stCxn xmlns:a="http://schemas.openxmlformats.org/drawingml/2006/main" id="11" idx="3"/>
            <a:endCxn xmlns:a="http://schemas.openxmlformats.org/drawingml/2006/main" id="15" idx="1"/>
          </p:cNvCxnSpPr>
          <p:nvPr/>
        </p:nvCxnSpPr>
        <p:spPr>
          <a:xfrm xmlns:a="http://schemas.openxmlformats.org/drawingml/2006/main">
            <a:off x="4400550" y="2752725"/>
            <a:ext cx="35242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77" name=""/>
          <p:cNvCxnSpPr>
            <a:stCxn xmlns:a="http://schemas.openxmlformats.org/drawingml/2006/main" id="15" idx="3"/>
            <a:endCxn xmlns:a="http://schemas.openxmlformats.org/drawingml/2006/main" id="19" idx="1"/>
          </p:cNvCxnSpPr>
          <p:nvPr/>
        </p:nvCxnSpPr>
        <p:spPr>
          <a:xfrm xmlns:a="http://schemas.openxmlformats.org/drawingml/2006/main">
            <a:off x="6619875" y="2752725"/>
            <a:ext cx="361950"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78" name=""/>
          <p:cNvCxnSpPr>
            <a:stCxn xmlns:a="http://schemas.openxmlformats.org/drawingml/2006/main" id="19" idx="3"/>
            <a:endCxn xmlns:a="http://schemas.openxmlformats.org/drawingml/2006/main" id="23" idx="1"/>
          </p:cNvCxnSpPr>
          <p:nvPr/>
        </p:nvCxnSpPr>
        <p:spPr>
          <a:xfrm xmlns:a="http://schemas.openxmlformats.org/drawingml/2006/main">
            <a:off x="8791575" y="2752725"/>
            <a:ext cx="295275" cy="0"/>
          </a:xfrm>
          <a:prstGeom xmlns:a="http://schemas.openxmlformats.org/drawingml/2006/main" prst="straightConnector1">
            <a:avLst/>
          </a:prstGeom>
          <a:ln xmlns:a="http://schemas.openxmlformats.org/drawingml/2006/main" w="19050">
            <a:solidFill>
              <a:srgbClr val="D79A2B"/>
            </a:solidFill>
            <a:prstDash val="dash"/>
            <a:tailEnd type="triangle" w="sm" len="sm"/>
          </a:ln>
        </p:spPr>
      </p:cxnSp>
      <p:sp>
        <p:nvSpPr>
          <p:cNvPr id="31" name="">
            <a:extLst xmlns:a="http://schemas.openxmlformats.org/drawingml/2006/main">
              <a:ext uri="{FF2B5EF4-FFF2-40B4-BE49-F238E27FC236}">
                <a16:creationId xmlns:a16="http://schemas.microsoft.com/office/drawing/2014/main" id="{B8B05A10-73DC-419C-83CA-DB64AC35D484}"/>
              </a:ext>
            </a:extLst>
          </p:cNvPr>
          <p:cNvSpPr>
            <a:spLocks xmlns:a="http://schemas.openxmlformats.org/drawingml/2006/main" noGrp="1"/>
          </p:cNvSpPr>
          <p:nvPr/>
        </p:nvSpPr>
        <p:spPr>
          <a:xfrm xmlns:a="http://schemas.openxmlformats.org/drawingml/2006/main">
            <a:off x="2686050" y="4095750"/>
            <a:ext cx="2524125" cy="1143000"/>
          </a:xfrm>
          <a:prstGeom xmlns:a="http://schemas.openxmlformats.org/drawingml/2006/main" prst="roundRect">
            <a:avLst>
              <a:gd name="adj" fmla="val 13333"/>
            </a:avLst>
          </a:prstGeom>
          <a:solidFill xmlns:a="http://schemas.openxmlformats.org/drawingml/2006/main">
            <a:srgbClr val="10263B"/>
          </a:solidFill>
          <a:ln xmlns:a="http://schemas.openxmlformats.org/drawingml/2006/main" w="9525">
            <a:solidFill>
              <a:srgbClr val="10263B"/>
            </a:solidFill>
            <a:prstDash val="solid"/>
          </a:ln>
        </p:spPr>
      </p:sp>
      <p:sp>
        <p:nvSpPr>
          <p:cNvPr id="32" name="">
            <a:extLst xmlns:a="http://schemas.openxmlformats.org/drawingml/2006/main">
              <a:ext uri="{FF2B5EF4-FFF2-40B4-BE49-F238E27FC236}">
                <a16:creationId xmlns:a16="http://schemas.microsoft.com/office/drawing/2014/main" id="{C7D86452-02D6-4318-A046-AA38C3F28281}"/>
              </a:ext>
            </a:extLst>
          </p:cNvPr>
          <p:cNvSpPr>
            <a:spLocks xmlns:a="http://schemas.openxmlformats.org/drawingml/2006/main" noGrp="1"/>
          </p:cNvSpPr>
          <p:nvPr/>
        </p:nvSpPr>
        <p:spPr>
          <a:xfrm xmlns:a="http://schemas.openxmlformats.org/drawingml/2006/main">
            <a:off x="2857500" y="4210050"/>
            <a:ext cx="21812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IMPLEMENTED CONTROL</a:t>
            </a:r>
          </a:p>
        </p:txBody>
      </p:sp>
      <p:sp>
        <p:nvSpPr>
          <p:cNvPr id="33" name="">
            <a:extLst xmlns:a="http://schemas.openxmlformats.org/drawingml/2006/main">
              <a:ext uri="{FF2B5EF4-FFF2-40B4-BE49-F238E27FC236}">
                <a16:creationId xmlns:a16="http://schemas.microsoft.com/office/drawing/2014/main" id="{23FAEC2A-95C1-4E7C-914A-BE63D6C75B99}"/>
              </a:ext>
            </a:extLst>
          </p:cNvPr>
          <p:cNvSpPr>
            <a:spLocks xmlns:a="http://schemas.openxmlformats.org/drawingml/2006/main" noGrp="1"/>
          </p:cNvSpPr>
          <p:nvPr/>
        </p:nvSpPr>
        <p:spPr>
          <a:xfrm xmlns:a="http://schemas.openxmlformats.org/drawingml/2006/main">
            <a:off x="2857500" y="4419600"/>
            <a:ext cx="2181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TOOL GATEWAY</a:t>
            </a:r>
          </a:p>
        </p:txBody>
      </p:sp>
      <p:sp>
        <p:nvSpPr>
          <p:cNvPr id="34" name="">
            <a:extLst xmlns:a="http://schemas.openxmlformats.org/drawingml/2006/main">
              <a:ext uri="{FF2B5EF4-FFF2-40B4-BE49-F238E27FC236}">
                <a16:creationId xmlns:a16="http://schemas.microsoft.com/office/drawing/2014/main" id="{BCFD8DD8-E9FD-4A51-A0E2-5466AA07514D}"/>
              </a:ext>
            </a:extLst>
          </p:cNvPr>
          <p:cNvSpPr>
            <a:spLocks xmlns:a="http://schemas.openxmlformats.org/drawingml/2006/main" noGrp="1"/>
          </p:cNvSpPr>
          <p:nvPr/>
        </p:nvSpPr>
        <p:spPr>
          <a:xfrm xmlns:a="http://schemas.openxmlformats.org/drawingml/2006/main">
            <a:off x="2857500" y="4800600"/>
            <a:ext cx="21812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D2DEE3"/>
                </a:solidFill>
                <a:latin typeface="Arial"/>
                <a:ea typeface="Arial"/>
                <a:cs typeface="Arial"/>
              </a:defRPr>
            </a:pPr>
            <a:r>
              <a:rPr sz="1050" b="0">
                <a:solidFill>
                  <a:srgbClr val="D2DEE3"/>
                </a:solidFill>
                <a:latin typeface="Arial"/>
                <a:ea typeface="Arial"/>
                <a:cs typeface="Arial"/>
              </a:rPr>
              <a:t>Policy checks + execution records</a:t>
            </a:r>
          </a:p>
        </p:txBody>
      </p:sp>
      <p:sp>
        <p:nvSpPr>
          <p:cNvPr id="35" name="">
            <a:extLst xmlns:a="http://schemas.openxmlformats.org/drawingml/2006/main">
              <a:ext uri="{FF2B5EF4-FFF2-40B4-BE49-F238E27FC236}">
                <a16:creationId xmlns:a16="http://schemas.microsoft.com/office/drawing/2014/main" id="{2DA148C8-BFFC-4808-9A09-BA31502963C3}"/>
              </a:ext>
            </a:extLst>
          </p:cNvPr>
          <p:cNvSpPr>
            <a:spLocks xmlns:a="http://schemas.openxmlformats.org/drawingml/2006/main" noGrp="1"/>
          </p:cNvSpPr>
          <p:nvPr/>
        </p:nvSpPr>
        <p:spPr>
          <a:xfrm xmlns:a="http://schemas.openxmlformats.org/drawingml/2006/main">
            <a:off x="5829300" y="4095750"/>
            <a:ext cx="2476500" cy="1143000"/>
          </a:xfrm>
          <a:prstGeom xmlns:a="http://schemas.openxmlformats.org/drawingml/2006/main" prst="roundRect">
            <a:avLst>
              <a:gd name="adj" fmla="val 13333"/>
            </a:avLst>
          </a:prstGeom>
          <a:solidFill xmlns:a="http://schemas.openxmlformats.org/drawingml/2006/main">
            <a:srgbClr val="E1F1E7"/>
          </a:solidFill>
          <a:ln xmlns:a="http://schemas.openxmlformats.org/drawingml/2006/main" w="9525">
            <a:solidFill>
              <a:srgbClr val="B6D8C3"/>
            </a:solidFill>
            <a:prstDash val="solid"/>
          </a:ln>
        </p:spPr>
      </p:sp>
      <p:sp>
        <p:nvSpPr>
          <p:cNvPr id="36" name="">
            <a:extLst xmlns:a="http://schemas.openxmlformats.org/drawingml/2006/main">
              <a:ext uri="{FF2B5EF4-FFF2-40B4-BE49-F238E27FC236}">
                <a16:creationId xmlns:a16="http://schemas.microsoft.com/office/drawing/2014/main" id="{45BB0DAF-9AE3-4587-9A0F-4064FC50401B}"/>
              </a:ext>
            </a:extLst>
          </p:cNvPr>
          <p:cNvSpPr>
            <a:spLocks xmlns:a="http://schemas.openxmlformats.org/drawingml/2006/main" noGrp="1"/>
          </p:cNvSpPr>
          <p:nvPr/>
        </p:nvSpPr>
        <p:spPr>
          <a:xfrm xmlns:a="http://schemas.openxmlformats.org/drawingml/2006/main">
            <a:off x="6000750" y="4210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IMPLEMENTED</a:t>
            </a:r>
          </a:p>
        </p:txBody>
      </p:sp>
      <p:sp>
        <p:nvSpPr>
          <p:cNvPr id="37" name="">
            <a:extLst xmlns:a="http://schemas.openxmlformats.org/drawingml/2006/main">
              <a:ext uri="{FF2B5EF4-FFF2-40B4-BE49-F238E27FC236}">
                <a16:creationId xmlns:a16="http://schemas.microsoft.com/office/drawing/2014/main" id="{C4FC60B3-4916-45D3-9887-C9CFFF4D8C29}"/>
              </a:ext>
            </a:extLst>
          </p:cNvPr>
          <p:cNvSpPr>
            <a:spLocks xmlns:a="http://schemas.openxmlformats.org/drawingml/2006/main" noGrp="1"/>
          </p:cNvSpPr>
          <p:nvPr/>
        </p:nvSpPr>
        <p:spPr>
          <a:xfrm xmlns:a="http://schemas.openxmlformats.org/drawingml/2006/main">
            <a:off x="6000750" y="4419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RULES + CALCULATIONS</a:t>
            </a:r>
          </a:p>
        </p:txBody>
      </p:sp>
      <p:sp>
        <p:nvSpPr>
          <p:cNvPr id="38" name="">
            <a:extLst xmlns:a="http://schemas.openxmlformats.org/drawingml/2006/main">
              <a:ext uri="{FF2B5EF4-FFF2-40B4-BE49-F238E27FC236}">
                <a16:creationId xmlns:a16="http://schemas.microsoft.com/office/drawing/2014/main" id="{C2BE21D2-89B7-45B4-AB9E-00268356D92D}"/>
              </a:ext>
            </a:extLst>
          </p:cNvPr>
          <p:cNvSpPr>
            <a:spLocks xmlns:a="http://schemas.openxmlformats.org/drawingml/2006/main" noGrp="1"/>
          </p:cNvSpPr>
          <p:nvPr/>
        </p:nvSpPr>
        <p:spPr>
          <a:xfrm xmlns:a="http://schemas.openxmlformats.org/drawingml/2006/main">
            <a:off x="6000750" y="4800600"/>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Verification checks</a:t>
            </a:r>
          </a:p>
        </p:txBody>
      </p:sp>
      <p:sp>
        <p:nvSpPr>
          <p:cNvPr id="39" name="">
            <a:extLst xmlns:a="http://schemas.openxmlformats.org/drawingml/2006/main">
              <a:ext uri="{FF2B5EF4-FFF2-40B4-BE49-F238E27FC236}">
                <a16:creationId xmlns:a16="http://schemas.microsoft.com/office/drawing/2014/main" id="{6441A612-E3BA-4D3C-AD0F-17EF89F247CC}"/>
              </a:ext>
            </a:extLst>
          </p:cNvPr>
          <p:cNvSpPr>
            <a:spLocks xmlns:a="http://schemas.openxmlformats.org/drawingml/2006/main" noGrp="1"/>
          </p:cNvSpPr>
          <p:nvPr/>
        </p:nvSpPr>
        <p:spPr>
          <a:xfrm xmlns:a="http://schemas.openxmlformats.org/drawingml/2006/main">
            <a:off x="8924925" y="4095750"/>
            <a:ext cx="2562225"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8DFDF"/>
            </a:solidFill>
            <a:prstDash val="solid"/>
          </a:ln>
        </p:spPr>
      </p:sp>
      <p:sp>
        <p:nvSpPr>
          <p:cNvPr id="40" name="">
            <a:extLst xmlns:a="http://schemas.openxmlformats.org/drawingml/2006/main">
              <a:ext uri="{FF2B5EF4-FFF2-40B4-BE49-F238E27FC236}">
                <a16:creationId xmlns:a16="http://schemas.microsoft.com/office/drawing/2014/main" id="{F0016BC5-F3F9-4E7D-AE3D-E6BCD053A71D}"/>
              </a:ext>
            </a:extLst>
          </p:cNvPr>
          <p:cNvSpPr>
            <a:spLocks xmlns:a="http://schemas.openxmlformats.org/drawingml/2006/main" noGrp="1"/>
          </p:cNvSpPr>
          <p:nvPr/>
        </p:nvSpPr>
        <p:spPr>
          <a:xfrm xmlns:a="http://schemas.openxmlformats.org/drawingml/2006/main">
            <a:off x="9096375" y="4210050"/>
            <a:ext cx="2219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CONTROL + AUTHORITY</a:t>
            </a:r>
          </a:p>
        </p:txBody>
      </p:sp>
      <p:sp>
        <p:nvSpPr>
          <p:cNvPr id="41" name="">
            <a:extLst xmlns:a="http://schemas.openxmlformats.org/drawingml/2006/main">
              <a:ext uri="{FF2B5EF4-FFF2-40B4-BE49-F238E27FC236}">
                <a16:creationId xmlns:a16="http://schemas.microsoft.com/office/drawing/2014/main" id="{C074F533-0A77-4E79-B55D-628C80A95EE6}"/>
              </a:ext>
            </a:extLst>
          </p:cNvPr>
          <p:cNvSpPr>
            <a:spLocks xmlns:a="http://schemas.openxmlformats.org/drawingml/2006/main" noGrp="1"/>
          </p:cNvSpPr>
          <p:nvPr/>
        </p:nvSpPr>
        <p:spPr>
          <a:xfrm xmlns:a="http://schemas.openxmlformats.org/drawingml/2006/main">
            <a:off x="9096375" y="4419600"/>
            <a:ext cx="2219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WORKFLOW + HUMAN</a:t>
            </a:r>
          </a:p>
        </p:txBody>
      </p:sp>
      <p:sp>
        <p:nvSpPr>
          <p:cNvPr id="42" name="">
            <a:extLst xmlns:a="http://schemas.openxmlformats.org/drawingml/2006/main">
              <a:ext uri="{FF2B5EF4-FFF2-40B4-BE49-F238E27FC236}">
                <a16:creationId xmlns:a16="http://schemas.microsoft.com/office/drawing/2014/main" id="{EC13FE36-7145-4345-A065-8A2C99FC6A07}"/>
              </a:ext>
            </a:extLst>
          </p:cNvPr>
          <p:cNvSpPr>
            <a:spLocks xmlns:a="http://schemas.openxmlformats.org/drawingml/2006/main" noGrp="1"/>
          </p:cNvSpPr>
          <p:nvPr/>
        </p:nvSpPr>
        <p:spPr>
          <a:xfrm xmlns:a="http://schemas.openxmlformats.org/drawingml/2006/main">
            <a:off x="9096375" y="4800600"/>
            <a:ext cx="2219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Validated transitions • review</a:t>
            </a:r>
          </a:p>
        </p:txBody>
      </p:sp>
      <p:cxnSp>
        <p:nvCxnSpPr>
          <p:cNvPr id="91" name=""/>
          <p:cNvCxnSpPr>
            <a:stCxn xmlns:a="http://schemas.openxmlformats.org/drawingml/2006/main" id="23" idx="2"/>
            <a:endCxn xmlns:a="http://schemas.openxmlformats.org/drawingml/2006/main" id="31" idx="0"/>
          </p:cNvCxnSpPr>
          <p:nvPr/>
        </p:nvCxnSpPr>
        <p:spPr>
          <a:xfrm xmlns:a="http://schemas.openxmlformats.org/drawingml/2006/main" flipH="1">
            <a:off x="3948113" y="3314700"/>
            <a:ext cx="6338888" cy="781050"/>
          </a:xfrm>
          <a:prstGeom xmlns:a="http://schemas.openxmlformats.org/drawingml/2006/main" prst="bentConnector4">
            <a:avLst>
              <a:gd name="adj1" fmla="val 0"/>
              <a:gd name="adj2" fmla="val 50000"/>
            </a:avLst>
          </a:prstGeom>
          <a:ln xmlns:a="http://schemas.openxmlformats.org/drawingml/2006/main" w="19050">
            <a:solidFill>
              <a:srgbClr val="D79A2B"/>
            </a:solidFill>
            <a:prstDash val="dash"/>
            <a:tailEnd type="triangle" w="sm" len="sm"/>
          </a:ln>
        </p:spPr>
      </p:cxnSp>
      <p:cxnSp>
        <p:nvCxnSpPr>
          <p:cNvPr id="92" name=""/>
          <p:cNvCxnSpPr>
            <a:stCxn xmlns:a="http://schemas.openxmlformats.org/drawingml/2006/main" id="31" idx="3"/>
            <a:endCxn xmlns:a="http://schemas.openxmlformats.org/drawingml/2006/main" id="35" idx="1"/>
          </p:cNvCxnSpPr>
          <p:nvPr/>
        </p:nvCxnSpPr>
        <p:spPr>
          <a:xfrm xmlns:a="http://schemas.openxmlformats.org/drawingml/2006/main">
            <a:off x="5210175" y="4667250"/>
            <a:ext cx="61912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cxnSp>
        <p:nvCxnSpPr>
          <p:cNvPr id="93" name=""/>
          <p:cNvCxnSpPr>
            <a:stCxn xmlns:a="http://schemas.openxmlformats.org/drawingml/2006/main" id="35" idx="3"/>
            <a:endCxn xmlns:a="http://schemas.openxmlformats.org/drawingml/2006/main" id="39" idx="1"/>
          </p:cNvCxnSpPr>
          <p:nvPr/>
        </p:nvCxnSpPr>
        <p:spPr>
          <a:xfrm xmlns:a="http://schemas.openxmlformats.org/drawingml/2006/main">
            <a:off x="8305800" y="4667250"/>
            <a:ext cx="619125" cy="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sp>
        <p:nvSpPr>
          <p:cNvPr id="46" name="">
            <a:extLst xmlns:a="http://schemas.openxmlformats.org/drawingml/2006/main">
              <a:ext uri="{FF2B5EF4-FFF2-40B4-BE49-F238E27FC236}">
                <a16:creationId xmlns:a16="http://schemas.microsoft.com/office/drawing/2014/main" id="{9B148F6A-D4F3-48FF-8624-24F4C43E537C}"/>
              </a:ext>
            </a:extLst>
          </p:cNvPr>
          <p:cNvSpPr>
            <a:spLocks xmlns:a="http://schemas.openxmlformats.org/drawingml/2006/main" noGrp="1"/>
          </p:cNvSpPr>
          <p:nvPr/>
        </p:nvSpPr>
        <p:spPr>
          <a:xfrm xmlns:a="http://schemas.openxmlformats.org/drawingml/2006/main">
            <a:off x="2686050" y="5524500"/>
            <a:ext cx="4572000" cy="285750"/>
          </a:xfrm>
          <a:prstGeom xmlns:a="http://schemas.openxmlformats.org/drawingml/2006/main" prst="roundRect">
            <a:avLst>
              <a:gd name="adj" fmla="val 50000"/>
            </a:avLst>
          </a:prstGeom>
          <a:solidFill xmlns:a="http://schemas.openxmlformats.org/drawingml/2006/main">
            <a:srgbClr val="DDF2EF"/>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99B6961-E5B2-42AB-87AE-A29A53615A16}"/>
              </a:ext>
            </a:extLst>
          </p:cNvPr>
          <p:cNvSpPr>
            <a:spLocks xmlns:a="http://schemas.openxmlformats.org/drawingml/2006/main" noGrp="1"/>
          </p:cNvSpPr>
          <p:nvPr/>
        </p:nvSpPr>
        <p:spPr>
          <a:xfrm xmlns:a="http://schemas.openxmlformats.org/drawingml/2006/main">
            <a:off x="2781300" y="55435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EVIDENCE + EVENTS PRESERVE THE DECISION TRAIL</a:t>
            </a:r>
          </a:p>
        </p:txBody>
      </p:sp>
      <p:sp>
        <p:nvSpPr>
          <p:cNvPr id="48" name="">
            <a:extLst xmlns:a="http://schemas.openxmlformats.org/drawingml/2006/main">
              <a:ext uri="{FF2B5EF4-FFF2-40B4-BE49-F238E27FC236}">
                <a16:creationId xmlns:a16="http://schemas.microsoft.com/office/drawing/2014/main" id="{6BF02CD1-FB0B-481D-AFCC-1919E03753B2}"/>
              </a:ext>
            </a:extLst>
          </p:cNvPr>
          <p:cNvSpPr>
            <a:spLocks xmlns:a="http://schemas.openxmlformats.org/drawingml/2006/main" noGrp="1"/>
          </p:cNvSpPr>
          <p:nvPr/>
        </p:nvSpPr>
        <p:spPr>
          <a:xfrm xmlns:a="http://schemas.openxmlformats.org/drawingml/2006/main">
            <a:off x="7543800" y="5486400"/>
            <a:ext cx="3943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275" b="1">
                <a:solidFill>
                  <a:srgbClr val="10263B"/>
                </a:solidFill>
                <a:latin typeface="Arial"/>
                <a:ea typeface="Arial"/>
                <a:cs typeface="Arial"/>
              </a:defRPr>
            </a:pPr>
            <a:r>
              <a:rPr sz="1275" b="1">
                <a:solidFill>
                  <a:srgbClr val="10263B"/>
                </a:solidFill>
                <a:latin typeface="Arial"/>
                <a:ea typeface="Arial"/>
                <a:cs typeface="Arial"/>
              </a:rPr>
              <a:t>AI proposes; policy and workflow govern.</a:t>
            </a:r>
          </a:p>
        </p:txBody>
      </p:sp>
    </p:spTree>
    <p:extLst>
      <p:ext uri="{BB962C8B-B14F-4D97-AF65-F5344CB8AC3E}">
        <p14:creationId xmlns:p14="http://schemas.microsoft.com/office/powerpoint/2010/main" val="1851027113"/>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CF4E2F4-8C24-43A7-B7CC-2C63A6FF2F4C}"/>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04  /  WALKTHROUGH</a:t>
            </a:r>
          </a:p>
        </p:txBody>
      </p:sp>
      <p:sp>
        <p:nvSpPr>
          <p:cNvPr id="2" name="">
            <a:extLst xmlns:a="http://schemas.openxmlformats.org/drawingml/2006/main">
              <a:ext uri="{FF2B5EF4-FFF2-40B4-BE49-F238E27FC236}">
                <a16:creationId xmlns:a16="http://schemas.microsoft.com/office/drawing/2014/main" id="{F8AF390C-FA94-47FD-AA0A-15F5A2ADD465}"/>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A discrepancy becomes reviewable work—not an invisible decision</a:t>
            </a:r>
          </a:p>
        </p:txBody>
      </p:sp>
      <p:sp>
        <p:nvSpPr>
          <p:cNvPr id="3" name="">
            <a:extLst xmlns:a="http://schemas.openxmlformats.org/drawingml/2006/main">
              <a:ext uri="{FF2B5EF4-FFF2-40B4-BE49-F238E27FC236}">
                <a16:creationId xmlns:a16="http://schemas.microsoft.com/office/drawing/2014/main" id="{50710ED5-E7B7-4A5C-B84F-1F52473DF207}"/>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A92C21-0B04-4217-9341-5E47E900A18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8FCB36-A627-4E8D-A3EF-30373D8CFA8A}"/>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40CA67DD-470D-4860-9AC9-F754AF062B6B}"/>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301B2BB3-6897-4C3C-AD48-F31B8E645494}"/>
              </a:ext>
            </a:extLst>
          </p:cNvPr>
          <p:cNvSpPr>
            <a:spLocks xmlns:a="http://schemas.openxmlformats.org/drawingml/2006/main" noGrp="1"/>
          </p:cNvSpPr>
          <p:nvPr/>
        </p:nvSpPr>
        <p:spPr>
          <a:xfrm xmlns:a="http://schemas.openxmlformats.org/drawingml/2006/main">
            <a:off x="666750" y="2124075"/>
            <a:ext cx="2476500" cy="1000125"/>
          </a:xfrm>
          <a:prstGeom xmlns:a="http://schemas.openxmlformats.org/drawingml/2006/main" prst="roundRect">
            <a:avLst>
              <a:gd name="adj" fmla="val 15238"/>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1B276AE8-6EA3-403A-928C-EB5068A1AF63}"/>
              </a:ext>
            </a:extLst>
          </p:cNvPr>
          <p:cNvSpPr>
            <a:spLocks xmlns:a="http://schemas.openxmlformats.org/drawingml/2006/main" noGrp="1"/>
          </p:cNvSpPr>
          <p:nvPr/>
        </p:nvSpPr>
        <p:spPr>
          <a:xfrm xmlns:a="http://schemas.openxmlformats.org/drawingml/2006/main">
            <a:off x="838200" y="2238375"/>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SUPPLIER CLAIM</a:t>
            </a:r>
          </a:p>
        </p:txBody>
      </p:sp>
      <p:sp>
        <p:nvSpPr>
          <p:cNvPr id="9" name="">
            <a:extLst xmlns:a="http://schemas.openxmlformats.org/drawingml/2006/main">
              <a:ext uri="{FF2B5EF4-FFF2-40B4-BE49-F238E27FC236}">
                <a16:creationId xmlns:a16="http://schemas.microsoft.com/office/drawing/2014/main" id="{81D198A5-BA26-4B7C-B861-4D6D28CE9A6A}"/>
              </a:ext>
            </a:extLst>
          </p:cNvPr>
          <p:cNvSpPr>
            <a:spLocks xmlns:a="http://schemas.openxmlformats.org/drawingml/2006/main" noGrp="1"/>
          </p:cNvSpPr>
          <p:nvPr/>
        </p:nvSpPr>
        <p:spPr>
          <a:xfrm xmlns:a="http://schemas.openxmlformats.org/drawingml/2006/main">
            <a:off x="838200" y="244792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INVOICE TOTAL</a:t>
            </a:r>
          </a:p>
        </p:txBody>
      </p:sp>
      <p:sp>
        <p:nvSpPr>
          <p:cNvPr id="10" name="">
            <a:extLst xmlns:a="http://schemas.openxmlformats.org/drawingml/2006/main">
              <a:ext uri="{FF2B5EF4-FFF2-40B4-BE49-F238E27FC236}">
                <a16:creationId xmlns:a16="http://schemas.microsoft.com/office/drawing/2014/main" id="{70CD91A9-CF5C-4851-85D1-4BDF8B19A4A0}"/>
              </a:ext>
            </a:extLst>
          </p:cNvPr>
          <p:cNvSpPr>
            <a:spLocks xmlns:a="http://schemas.openxmlformats.org/drawingml/2006/main" noGrp="1"/>
          </p:cNvSpPr>
          <p:nvPr/>
        </p:nvSpPr>
        <p:spPr>
          <a:xfrm xmlns:a="http://schemas.openxmlformats.org/drawingml/2006/main">
            <a:off x="838200" y="2828925"/>
            <a:ext cx="2133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Value + source citation</a:t>
            </a:r>
          </a:p>
        </p:txBody>
      </p:sp>
      <p:sp>
        <p:nvSpPr>
          <p:cNvPr id="11" name="">
            <a:extLst xmlns:a="http://schemas.openxmlformats.org/drawingml/2006/main">
              <a:ext uri="{FF2B5EF4-FFF2-40B4-BE49-F238E27FC236}">
                <a16:creationId xmlns:a16="http://schemas.microsoft.com/office/drawing/2014/main" id="{2734E497-A262-43D1-93EB-39C4E3ED327D}"/>
              </a:ext>
            </a:extLst>
          </p:cNvPr>
          <p:cNvSpPr>
            <a:spLocks xmlns:a="http://schemas.openxmlformats.org/drawingml/2006/main" noGrp="1"/>
          </p:cNvSpPr>
          <p:nvPr/>
        </p:nvSpPr>
        <p:spPr>
          <a:xfrm xmlns:a="http://schemas.openxmlformats.org/drawingml/2006/main">
            <a:off x="666750" y="3714750"/>
            <a:ext cx="2476500" cy="1000125"/>
          </a:xfrm>
          <a:prstGeom xmlns:a="http://schemas.openxmlformats.org/drawingml/2006/main" prst="roundRect">
            <a:avLst>
              <a:gd name="adj" fmla="val 15238"/>
            </a:avLst>
          </a:prstGeom>
          <a:solidFill xmlns:a="http://schemas.openxmlformats.org/drawingml/2006/main">
            <a:srgbClr val="FFFFFF"/>
          </a:solidFill>
          <a:ln xmlns:a="http://schemas.openxmlformats.org/drawingml/2006/main" w="9525">
            <a:solidFill>
              <a:srgbClr val="D8DFDF"/>
            </a:solidFill>
            <a:prstDash val="solid"/>
          </a:ln>
        </p:spPr>
      </p:sp>
      <p:sp>
        <p:nvSpPr>
          <p:cNvPr id="12" name="">
            <a:extLst xmlns:a="http://schemas.openxmlformats.org/drawingml/2006/main">
              <a:ext uri="{FF2B5EF4-FFF2-40B4-BE49-F238E27FC236}">
                <a16:creationId xmlns:a16="http://schemas.microsoft.com/office/drawing/2014/main" id="{D74BA5F2-A465-4DEE-8249-008194E789EB}"/>
              </a:ext>
            </a:extLst>
          </p:cNvPr>
          <p:cNvSpPr>
            <a:spLocks xmlns:a="http://schemas.openxmlformats.org/drawingml/2006/main" noGrp="1"/>
          </p:cNvSpPr>
          <p:nvPr/>
        </p:nvSpPr>
        <p:spPr>
          <a:xfrm xmlns:a="http://schemas.openxmlformats.org/drawingml/2006/main">
            <a:off x="838200" y="38290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BUYER AGREEMENT</a:t>
            </a:r>
          </a:p>
        </p:txBody>
      </p:sp>
      <p:sp>
        <p:nvSpPr>
          <p:cNvPr id="13" name="">
            <a:extLst xmlns:a="http://schemas.openxmlformats.org/drawingml/2006/main">
              <a:ext uri="{FF2B5EF4-FFF2-40B4-BE49-F238E27FC236}">
                <a16:creationId xmlns:a16="http://schemas.microsoft.com/office/drawing/2014/main" id="{2FFA18F1-0DDF-45D3-89E7-F853F9D82FB1}"/>
              </a:ext>
            </a:extLst>
          </p:cNvPr>
          <p:cNvSpPr>
            <a:spLocks xmlns:a="http://schemas.openxmlformats.org/drawingml/2006/main" noGrp="1"/>
          </p:cNvSpPr>
          <p:nvPr/>
        </p:nvSpPr>
        <p:spPr>
          <a:xfrm xmlns:a="http://schemas.openxmlformats.org/drawingml/2006/main">
            <a:off x="838200" y="40386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972"/>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PURCHASE ORDER TOTAL</a:t>
            </a:r>
          </a:p>
        </p:txBody>
      </p:sp>
      <p:sp>
        <p:nvSpPr>
          <p:cNvPr id="14" name="">
            <a:extLst xmlns:a="http://schemas.openxmlformats.org/drawingml/2006/main">
              <a:ext uri="{FF2B5EF4-FFF2-40B4-BE49-F238E27FC236}">
                <a16:creationId xmlns:a16="http://schemas.microsoft.com/office/drawing/2014/main" id="{AE29EADA-04AB-4444-8B25-1E4B26137F96}"/>
              </a:ext>
            </a:extLst>
          </p:cNvPr>
          <p:cNvSpPr>
            <a:spLocks xmlns:a="http://schemas.openxmlformats.org/drawingml/2006/main" noGrp="1"/>
          </p:cNvSpPr>
          <p:nvPr/>
        </p:nvSpPr>
        <p:spPr>
          <a:xfrm xmlns:a="http://schemas.openxmlformats.org/drawingml/2006/main">
            <a:off x="838200" y="4419600"/>
            <a:ext cx="2133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Value + source citation</a:t>
            </a:r>
          </a:p>
        </p:txBody>
      </p:sp>
      <p:sp>
        <p:nvSpPr>
          <p:cNvPr id="15" name="">
            <a:extLst xmlns:a="http://schemas.openxmlformats.org/drawingml/2006/main">
              <a:ext uri="{FF2B5EF4-FFF2-40B4-BE49-F238E27FC236}">
                <a16:creationId xmlns:a16="http://schemas.microsoft.com/office/drawing/2014/main" id="{D975EA8F-7A48-4A55-965D-4AD9C04DE315}"/>
              </a:ext>
            </a:extLst>
          </p:cNvPr>
          <p:cNvSpPr>
            <a:spLocks xmlns:a="http://schemas.openxmlformats.org/drawingml/2006/main" noGrp="1"/>
          </p:cNvSpPr>
          <p:nvPr/>
        </p:nvSpPr>
        <p:spPr>
          <a:xfrm xmlns:a="http://schemas.openxmlformats.org/drawingml/2006/main">
            <a:off x="3962400" y="2867025"/>
            <a:ext cx="2333625" cy="1123950"/>
          </a:xfrm>
          <a:prstGeom xmlns:a="http://schemas.openxmlformats.org/drawingml/2006/main" prst="roundRect">
            <a:avLst>
              <a:gd name="adj" fmla="val 13559"/>
            </a:avLst>
          </a:prstGeom>
          <a:solidFill xmlns:a="http://schemas.openxmlformats.org/drawingml/2006/main">
            <a:srgbClr val="10263B"/>
          </a:solidFill>
          <a:ln xmlns:a="http://schemas.openxmlformats.org/drawingml/2006/main" w="9525">
            <a:solidFill>
              <a:srgbClr val="10263B"/>
            </a:solidFill>
            <a:prstDash val="solid"/>
          </a:ln>
        </p:spPr>
      </p:sp>
      <p:sp>
        <p:nvSpPr>
          <p:cNvPr id="16" name="">
            <a:extLst xmlns:a="http://schemas.openxmlformats.org/drawingml/2006/main">
              <a:ext uri="{FF2B5EF4-FFF2-40B4-BE49-F238E27FC236}">
                <a16:creationId xmlns:a16="http://schemas.microsoft.com/office/drawing/2014/main" id="{1FF32E5E-299E-4B66-BDC0-DDF2F56D8E85}"/>
              </a:ext>
            </a:extLst>
          </p:cNvPr>
          <p:cNvSpPr>
            <a:spLocks xmlns:a="http://schemas.openxmlformats.org/drawingml/2006/main" noGrp="1"/>
          </p:cNvSpPr>
          <p:nvPr/>
        </p:nvSpPr>
        <p:spPr>
          <a:xfrm xmlns:a="http://schemas.openxmlformats.org/drawingml/2006/main">
            <a:off x="4133850" y="2981325"/>
            <a:ext cx="1990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VERIFICATION</a:t>
            </a:r>
          </a:p>
        </p:txBody>
      </p:sp>
      <p:sp>
        <p:nvSpPr>
          <p:cNvPr id="17" name="">
            <a:extLst xmlns:a="http://schemas.openxmlformats.org/drawingml/2006/main">
              <a:ext uri="{FF2B5EF4-FFF2-40B4-BE49-F238E27FC236}">
                <a16:creationId xmlns:a16="http://schemas.microsoft.com/office/drawing/2014/main" id="{C782A8B6-6B7E-4BBA-B0FA-6A41545BAE75}"/>
              </a:ext>
            </a:extLst>
          </p:cNvPr>
          <p:cNvSpPr>
            <a:spLocks xmlns:a="http://schemas.openxmlformats.org/drawingml/2006/main" noGrp="1"/>
          </p:cNvSpPr>
          <p:nvPr/>
        </p:nvSpPr>
        <p:spPr>
          <a:xfrm xmlns:a="http://schemas.openxmlformats.org/drawingml/2006/main">
            <a:off x="4133850" y="3190875"/>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31"/>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CONFIGURED CHECK</a:t>
            </a:r>
          </a:p>
        </p:txBody>
      </p:sp>
      <p:sp>
        <p:nvSpPr>
          <p:cNvPr id="18" name="">
            <a:extLst xmlns:a="http://schemas.openxmlformats.org/drawingml/2006/main">
              <a:ext uri="{FF2B5EF4-FFF2-40B4-BE49-F238E27FC236}">
                <a16:creationId xmlns:a16="http://schemas.microsoft.com/office/drawing/2014/main" id="{4EF5E3BA-4604-42BA-B943-7C1B25B9B1AB}"/>
              </a:ext>
            </a:extLst>
          </p:cNvPr>
          <p:cNvSpPr>
            <a:spLocks xmlns:a="http://schemas.openxmlformats.org/drawingml/2006/main" noGrp="1"/>
          </p:cNvSpPr>
          <p:nvPr/>
        </p:nvSpPr>
        <p:spPr>
          <a:xfrm xmlns:a="http://schemas.openxmlformats.org/drawingml/2006/main">
            <a:off x="4133850" y="3571875"/>
            <a:ext cx="1990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D2DEE3"/>
                </a:solidFill>
                <a:latin typeface="Arial"/>
                <a:ea typeface="Arial"/>
                <a:cs typeface="Arial"/>
              </a:defRPr>
            </a:pPr>
            <a:r>
              <a:rPr sz="1125" b="0">
                <a:solidFill>
                  <a:srgbClr val="D2DEE3"/>
                </a:solidFill>
                <a:latin typeface="Arial"/>
                <a:ea typeface="Arial"/>
                <a:cs typeface="Arial"/>
              </a:rPr>
              <a:t>Compare the two values</a:t>
            </a:r>
          </a:p>
        </p:txBody>
      </p:sp>
      <p:sp>
        <p:nvSpPr>
          <p:cNvPr id="19" name="">
            <a:extLst xmlns:a="http://schemas.openxmlformats.org/drawingml/2006/main">
              <a:ext uri="{FF2B5EF4-FFF2-40B4-BE49-F238E27FC236}">
                <a16:creationId xmlns:a16="http://schemas.microsoft.com/office/drawing/2014/main" id="{DE078664-F272-48C5-B093-2956631B3240}"/>
              </a:ext>
            </a:extLst>
          </p:cNvPr>
          <p:cNvSpPr>
            <a:spLocks xmlns:a="http://schemas.openxmlformats.org/drawingml/2006/main" noGrp="1"/>
          </p:cNvSpPr>
          <p:nvPr/>
        </p:nvSpPr>
        <p:spPr>
          <a:xfrm xmlns:a="http://schemas.openxmlformats.org/drawingml/2006/main">
            <a:off x="7134225" y="2867025"/>
            <a:ext cx="2095500" cy="1123950"/>
          </a:xfrm>
          <a:prstGeom xmlns:a="http://schemas.openxmlformats.org/drawingml/2006/main" prst="roundRect">
            <a:avLst>
              <a:gd name="adj" fmla="val 13559"/>
            </a:avLst>
          </a:prstGeom>
          <a:solidFill xmlns:a="http://schemas.openxmlformats.org/drawingml/2006/main">
            <a:srgbClr val="F8E9E5"/>
          </a:solidFill>
          <a:ln xmlns:a="http://schemas.openxmlformats.org/drawingml/2006/main" w="9525">
            <a:solidFill>
              <a:srgbClr val="E5B7AD"/>
            </a:solidFill>
            <a:prstDash val="solid"/>
          </a:ln>
        </p:spPr>
      </p:sp>
      <p:sp>
        <p:nvSpPr>
          <p:cNvPr id="20" name="">
            <a:extLst xmlns:a="http://schemas.openxmlformats.org/drawingml/2006/main">
              <a:ext uri="{FF2B5EF4-FFF2-40B4-BE49-F238E27FC236}">
                <a16:creationId xmlns:a16="http://schemas.microsoft.com/office/drawing/2014/main" id="{68FE343F-DDC4-43D3-8042-87A7E8C5C35A}"/>
              </a:ext>
            </a:extLst>
          </p:cNvPr>
          <p:cNvSpPr>
            <a:spLocks xmlns:a="http://schemas.openxmlformats.org/drawingml/2006/main" noGrp="1"/>
          </p:cNvSpPr>
          <p:nvPr/>
        </p:nvSpPr>
        <p:spPr>
          <a:xfrm xmlns:a="http://schemas.openxmlformats.org/drawingml/2006/main">
            <a:off x="7305675" y="2981325"/>
            <a:ext cx="1752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86155"/>
                </a:solidFill>
                <a:latin typeface="Arial"/>
                <a:ea typeface="Arial"/>
                <a:cs typeface="Arial"/>
              </a:defRPr>
            </a:pPr>
            <a:r>
              <a:rPr sz="975" b="1">
                <a:solidFill>
                  <a:srgbClr val="B86155"/>
                </a:solidFill>
                <a:latin typeface="Arial"/>
                <a:ea typeface="Arial"/>
                <a:cs typeface="Arial"/>
              </a:rPr>
              <a:t>CHECK RESULT</a:t>
            </a:r>
          </a:p>
        </p:txBody>
      </p:sp>
      <p:sp>
        <p:nvSpPr>
          <p:cNvPr id="21" name="">
            <a:extLst xmlns:a="http://schemas.openxmlformats.org/drawingml/2006/main">
              <a:ext uri="{FF2B5EF4-FFF2-40B4-BE49-F238E27FC236}">
                <a16:creationId xmlns:a16="http://schemas.microsoft.com/office/drawing/2014/main" id="{84763FC4-8D40-4A00-99E5-08312CD77C3F}"/>
              </a:ext>
            </a:extLst>
          </p:cNvPr>
          <p:cNvSpPr>
            <a:spLocks xmlns:a="http://schemas.openxmlformats.org/drawingml/2006/main" noGrp="1"/>
          </p:cNvSpPr>
          <p:nvPr/>
        </p:nvSpPr>
        <p:spPr>
          <a:xfrm xmlns:a="http://schemas.openxmlformats.org/drawingml/2006/main">
            <a:off x="7305675" y="3190875"/>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B2B36"/>
                </a:solidFill>
                <a:latin typeface="Arial"/>
                <a:ea typeface="Arial"/>
                <a:cs typeface="Arial"/>
              </a:defRPr>
            </a:pPr>
            <a:r>
              <a:rPr sz="1575" b="1">
                <a:solidFill>
                  <a:srgbClr val="1B2B36"/>
                </a:solidFill>
                <a:latin typeface="Arial"/>
                <a:ea typeface="Arial"/>
                <a:cs typeface="Arial"/>
              </a:rPr>
              <a:t>DISCREPANCY</a:t>
            </a:r>
          </a:p>
        </p:txBody>
      </p:sp>
      <p:sp>
        <p:nvSpPr>
          <p:cNvPr id="22" name="">
            <a:extLst xmlns:a="http://schemas.openxmlformats.org/drawingml/2006/main">
              <a:ext uri="{FF2B5EF4-FFF2-40B4-BE49-F238E27FC236}">
                <a16:creationId xmlns:a16="http://schemas.microsoft.com/office/drawing/2014/main" id="{B7AF3A82-7A69-4344-9759-9E57C9021A11}"/>
              </a:ext>
            </a:extLst>
          </p:cNvPr>
          <p:cNvSpPr>
            <a:spLocks xmlns:a="http://schemas.openxmlformats.org/drawingml/2006/main" noGrp="1"/>
          </p:cNvSpPr>
          <p:nvPr/>
        </p:nvSpPr>
        <p:spPr>
          <a:xfrm xmlns:a="http://schemas.openxmlformats.org/drawingml/2006/main">
            <a:off x="7305675" y="3571875"/>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E6C74"/>
                </a:solidFill>
                <a:latin typeface="Arial"/>
                <a:ea typeface="Arial"/>
                <a:cs typeface="Arial"/>
              </a:defRPr>
            </a:pPr>
            <a:r>
              <a:rPr sz="1125" b="0">
                <a:solidFill>
                  <a:srgbClr val="5E6C74"/>
                </a:solidFill>
                <a:latin typeface="Arial"/>
                <a:ea typeface="Arial"/>
                <a:cs typeface="Arial"/>
              </a:rPr>
              <a:t>Recorded with evidence</a:t>
            </a:r>
          </a:p>
        </p:txBody>
      </p:sp>
      <p:sp>
        <p:nvSpPr>
          <p:cNvPr id="23" name="">
            <a:extLst xmlns:a="http://schemas.openxmlformats.org/drawingml/2006/main">
              <a:ext uri="{FF2B5EF4-FFF2-40B4-BE49-F238E27FC236}">
                <a16:creationId xmlns:a16="http://schemas.microsoft.com/office/drawing/2014/main" id="{03E9C287-26CB-42F4-B9E1-54E9C999EF10}"/>
              </a:ext>
            </a:extLst>
          </p:cNvPr>
          <p:cNvSpPr>
            <a:spLocks xmlns:a="http://schemas.openxmlformats.org/drawingml/2006/main" noGrp="1"/>
          </p:cNvSpPr>
          <p:nvPr/>
        </p:nvSpPr>
        <p:spPr>
          <a:xfrm xmlns:a="http://schemas.openxmlformats.org/drawingml/2006/main">
            <a:off x="9858375" y="2867025"/>
            <a:ext cx="1733550" cy="1123950"/>
          </a:xfrm>
          <a:prstGeom xmlns:a="http://schemas.openxmlformats.org/drawingml/2006/main" prst="roundRect">
            <a:avLst>
              <a:gd name="adj" fmla="val 13559"/>
            </a:avLst>
          </a:prstGeom>
          <a:solidFill xmlns:a="http://schemas.openxmlformats.org/drawingml/2006/main">
            <a:srgbClr val="FFF0CF"/>
          </a:solidFill>
          <a:ln xmlns:a="http://schemas.openxmlformats.org/drawingml/2006/main" w="9525">
            <a:solidFill>
              <a:srgbClr val="E5C77E"/>
            </a:solidFill>
            <a:prstDash val="solid"/>
          </a:ln>
        </p:spPr>
      </p:sp>
      <p:sp>
        <p:nvSpPr>
          <p:cNvPr id="24" name="">
            <a:extLst xmlns:a="http://schemas.openxmlformats.org/drawingml/2006/main">
              <a:ext uri="{FF2B5EF4-FFF2-40B4-BE49-F238E27FC236}">
                <a16:creationId xmlns:a16="http://schemas.microsoft.com/office/drawing/2014/main" id="{3091CABA-0166-4541-B2BF-148DF64D740D}"/>
              </a:ext>
            </a:extLst>
          </p:cNvPr>
          <p:cNvSpPr>
            <a:spLocks xmlns:a="http://schemas.openxmlformats.org/drawingml/2006/main" noGrp="1"/>
          </p:cNvSpPr>
          <p:nvPr/>
        </p:nvSpPr>
        <p:spPr>
          <a:xfrm xmlns:a="http://schemas.openxmlformats.org/drawingml/2006/main">
            <a:off x="10029825" y="2981325"/>
            <a:ext cx="1390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HUMAN REVIEW</a:t>
            </a:r>
          </a:p>
        </p:txBody>
      </p:sp>
      <p:sp>
        <p:nvSpPr>
          <p:cNvPr id="25" name="">
            <a:extLst xmlns:a="http://schemas.openxmlformats.org/drawingml/2006/main">
              <a:ext uri="{FF2B5EF4-FFF2-40B4-BE49-F238E27FC236}">
                <a16:creationId xmlns:a16="http://schemas.microsoft.com/office/drawing/2014/main" id="{06A4957C-221C-410A-9BC4-B266417F8349}"/>
              </a:ext>
            </a:extLst>
          </p:cNvPr>
          <p:cNvSpPr>
            <a:spLocks xmlns:a="http://schemas.openxmlformats.org/drawingml/2006/main" noGrp="1"/>
          </p:cNvSpPr>
          <p:nvPr/>
        </p:nvSpPr>
        <p:spPr>
          <a:xfrm xmlns:a="http://schemas.openxmlformats.org/drawingml/2006/main">
            <a:off x="10029825" y="31908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B2B36"/>
                </a:solidFill>
                <a:latin typeface="Arial"/>
                <a:ea typeface="Arial"/>
                <a:cs typeface="Arial"/>
              </a:defRPr>
            </a:pPr>
            <a:r>
              <a:rPr sz="1350" b="1">
                <a:solidFill>
                  <a:srgbClr val="1B2B36"/>
                </a:solidFill>
                <a:latin typeface="Arial"/>
                <a:ea typeface="Arial"/>
                <a:cs typeface="Arial"/>
              </a:rPr>
              <a:t>PENDING TASK</a:t>
            </a:r>
          </a:p>
        </p:txBody>
      </p:sp>
      <p:sp>
        <p:nvSpPr>
          <p:cNvPr id="26" name="">
            <a:extLst xmlns:a="http://schemas.openxmlformats.org/drawingml/2006/main">
              <a:ext uri="{FF2B5EF4-FFF2-40B4-BE49-F238E27FC236}">
                <a16:creationId xmlns:a16="http://schemas.microsoft.com/office/drawing/2014/main" id="{A5A5DBFC-7064-48BE-88AA-69BE4903F2DB}"/>
              </a:ext>
            </a:extLst>
          </p:cNvPr>
          <p:cNvSpPr>
            <a:spLocks xmlns:a="http://schemas.openxmlformats.org/drawingml/2006/main" noGrp="1"/>
          </p:cNvSpPr>
          <p:nvPr/>
        </p:nvSpPr>
        <p:spPr>
          <a:xfrm xmlns:a="http://schemas.openxmlformats.org/drawingml/2006/main">
            <a:off x="10029825" y="3571875"/>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49"/>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Unassigned; manual pickup</a:t>
            </a:r>
          </a:p>
        </p:txBody>
      </p:sp>
      <p:cxnSp>
        <p:nvCxnSpPr>
          <p:cNvPr id="59" name=""/>
          <p:cNvCxnSpPr>
            <a:stCxn xmlns:a="http://schemas.openxmlformats.org/drawingml/2006/main" id="7" idx="3"/>
            <a:endCxn xmlns:a="http://schemas.openxmlformats.org/drawingml/2006/main" id="15" idx="1"/>
          </p:cNvCxnSpPr>
          <p:nvPr/>
        </p:nvCxnSpPr>
        <p:spPr>
          <a:xfrm xmlns:a="http://schemas.openxmlformats.org/drawingml/2006/main">
            <a:off x="3143250" y="2624138"/>
            <a:ext cx="819150" cy="804863"/>
          </a:xfrm>
          <a:prstGeom xmlns:a="http://schemas.openxmlformats.org/drawingml/2006/main" prst="bentConnector3">
            <a:avLst>
              <a:gd name="adj1" fmla="val 50000"/>
            </a:avLst>
          </a:prstGeom>
          <a:ln xmlns:a="http://schemas.openxmlformats.org/drawingml/2006/main" w="19050">
            <a:solidFill>
              <a:srgbClr val="168C88"/>
            </a:solidFill>
            <a:prstDash val="solid"/>
            <a:tailEnd type="triangle" w="sm" len="sm"/>
          </a:ln>
        </p:spPr>
      </p:cxnSp>
      <p:cxnSp>
        <p:nvCxnSpPr>
          <p:cNvPr id="60" name=""/>
          <p:cNvCxnSpPr>
            <a:stCxn xmlns:a="http://schemas.openxmlformats.org/drawingml/2006/main" id="11" idx="3"/>
            <a:endCxn xmlns:a="http://schemas.openxmlformats.org/drawingml/2006/main" id="15" idx="1"/>
          </p:cNvCxnSpPr>
          <p:nvPr/>
        </p:nvCxnSpPr>
        <p:spPr>
          <a:xfrm xmlns:a="http://schemas.openxmlformats.org/drawingml/2006/main" flipV="1">
            <a:off x="3143250" y="3429000"/>
            <a:ext cx="819150" cy="785813"/>
          </a:xfrm>
          <a:prstGeom xmlns:a="http://schemas.openxmlformats.org/drawingml/2006/main" prst="bentConnector3">
            <a:avLst>
              <a:gd name="adj1" fmla="val 50000"/>
            </a:avLst>
          </a:prstGeom>
          <a:ln xmlns:a="http://schemas.openxmlformats.org/drawingml/2006/main" w="19050">
            <a:solidFill>
              <a:srgbClr val="168C88"/>
            </a:solidFill>
            <a:prstDash val="solid"/>
            <a:tailEnd type="triangle" w="sm" len="sm"/>
          </a:ln>
        </p:spPr>
      </p:cxnSp>
      <p:cxnSp>
        <p:nvCxnSpPr>
          <p:cNvPr id="61" name=""/>
          <p:cNvCxnSpPr>
            <a:stCxn xmlns:a="http://schemas.openxmlformats.org/drawingml/2006/main" id="15" idx="3"/>
            <a:endCxn xmlns:a="http://schemas.openxmlformats.org/drawingml/2006/main" id="19" idx="1"/>
          </p:cNvCxnSpPr>
          <p:nvPr/>
        </p:nvCxnSpPr>
        <p:spPr>
          <a:xfrm xmlns:a="http://schemas.openxmlformats.org/drawingml/2006/main">
            <a:off x="6296025" y="3429000"/>
            <a:ext cx="838200" cy="0"/>
          </a:xfrm>
          <a:prstGeom xmlns:a="http://schemas.openxmlformats.org/drawingml/2006/main" prst="straightConnector1">
            <a:avLst/>
          </a:prstGeom>
          <a:ln xmlns:a="http://schemas.openxmlformats.org/drawingml/2006/main" w="19050">
            <a:solidFill>
              <a:srgbClr val="B86155"/>
            </a:solidFill>
            <a:prstDash val="solid"/>
            <a:tailEnd type="triangle" w="sm" len="sm"/>
          </a:ln>
        </p:spPr>
      </p:cxnSp>
      <p:cxnSp>
        <p:nvCxnSpPr>
          <p:cNvPr id="62" name=""/>
          <p:cNvCxnSpPr>
            <a:stCxn xmlns:a="http://schemas.openxmlformats.org/drawingml/2006/main" id="19" idx="3"/>
            <a:endCxn xmlns:a="http://schemas.openxmlformats.org/drawingml/2006/main" id="23" idx="1"/>
          </p:cNvCxnSpPr>
          <p:nvPr/>
        </p:nvCxnSpPr>
        <p:spPr>
          <a:xfrm xmlns:a="http://schemas.openxmlformats.org/drawingml/2006/main">
            <a:off x="9229725" y="3429000"/>
            <a:ext cx="628650" cy="0"/>
          </a:xfrm>
          <a:prstGeom xmlns:a="http://schemas.openxmlformats.org/drawingml/2006/main" prst="straightConnector1">
            <a:avLst/>
          </a:prstGeom>
          <a:ln xmlns:a="http://schemas.openxmlformats.org/drawingml/2006/main" w="19050">
            <a:solidFill>
              <a:srgbClr val="D79A2B"/>
            </a:solidFill>
            <a:prstDash val="solid"/>
            <a:tailEnd type="triangle" w="sm" len="sm"/>
          </a:ln>
        </p:spPr>
      </p:cxnSp>
      <p:sp>
        <p:nvSpPr>
          <p:cNvPr id="31" name="">
            <a:extLst xmlns:a="http://schemas.openxmlformats.org/drawingml/2006/main">
              <a:ext uri="{FF2B5EF4-FFF2-40B4-BE49-F238E27FC236}">
                <a16:creationId xmlns:a16="http://schemas.microsoft.com/office/drawing/2014/main" id="{4CE84FBA-BB7A-4E84-8DF3-5DBF0BB3F1DC}"/>
              </a:ext>
            </a:extLst>
          </p:cNvPr>
          <p:cNvSpPr>
            <a:spLocks xmlns:a="http://schemas.openxmlformats.org/drawingml/2006/main" noGrp="1"/>
          </p:cNvSpPr>
          <p:nvPr/>
        </p:nvSpPr>
        <p:spPr>
          <a:xfrm xmlns:a="http://schemas.openxmlformats.org/drawingml/2006/main">
            <a:off x="666750" y="5381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Current boundary</a:t>
            </a:r>
          </a:p>
        </p:txBody>
      </p:sp>
      <p:sp>
        <p:nvSpPr>
          <p:cNvPr id="32" name="">
            <a:extLst xmlns:a="http://schemas.openxmlformats.org/drawingml/2006/main">
              <a:ext uri="{FF2B5EF4-FFF2-40B4-BE49-F238E27FC236}">
                <a16:creationId xmlns:a16="http://schemas.microsoft.com/office/drawing/2014/main" id="{258B08DA-AE14-4C61-9066-58FA52F4C7B6}"/>
              </a:ext>
            </a:extLst>
          </p:cNvPr>
          <p:cNvSpPr>
            <a:spLocks xmlns:a="http://schemas.openxmlformats.org/drawingml/2006/main" noGrp="1"/>
          </p:cNvSpPr>
          <p:nvPr/>
        </p:nvSpPr>
        <p:spPr>
          <a:xfrm xmlns:a="http://schemas.openxmlformats.org/drawingml/2006/main">
            <a:off x="666750" y="56388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0263B"/>
                </a:solidFill>
                <a:latin typeface="Arial"/>
                <a:ea typeface="Arial"/>
                <a:cs typeface="Arial"/>
              </a:defRPr>
            </a:pPr>
            <a:r>
              <a:rPr sz="1425" b="1">
                <a:solidFill>
                  <a:srgbClr val="10263B"/>
                </a:solidFill>
                <a:latin typeface="Arial"/>
                <a:ea typeface="Arial"/>
                <a:cs typeface="Arial"/>
              </a:rPr>
              <a:t>The system creates the review task; reviewer assignment policy is still future work.</a:t>
            </a:r>
          </a:p>
        </p:txBody>
      </p:sp>
    </p:spTree>
    <p:extLst>
      <p:ext uri="{BB962C8B-B14F-4D97-AF65-F5344CB8AC3E}">
        <p14:creationId xmlns:p14="http://schemas.microsoft.com/office/powerpoint/2010/main" val="315353494"/>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1B9BE7A-417B-4312-8D1E-3F743774BC47}"/>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05  /  CURRENT STATUS</a:t>
            </a:r>
          </a:p>
        </p:txBody>
      </p:sp>
      <p:sp>
        <p:nvSpPr>
          <p:cNvPr id="2" name="">
            <a:extLst xmlns:a="http://schemas.openxmlformats.org/drawingml/2006/main">
              <a:ext uri="{FF2B5EF4-FFF2-40B4-BE49-F238E27FC236}">
                <a16:creationId xmlns:a16="http://schemas.microsoft.com/office/drawing/2014/main" id="{F82D7F02-A868-4ED4-87BE-37EA98C673C3}"/>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The project has working foundations behind the design</a:t>
            </a:r>
          </a:p>
        </p:txBody>
      </p:sp>
      <p:sp>
        <p:nvSpPr>
          <p:cNvPr id="3" name="">
            <a:extLst xmlns:a="http://schemas.openxmlformats.org/drawingml/2006/main">
              <a:ext uri="{FF2B5EF4-FFF2-40B4-BE49-F238E27FC236}">
                <a16:creationId xmlns:a16="http://schemas.microsoft.com/office/drawing/2014/main" id="{F7AB5503-E39C-4545-B596-B55CBF30C816}"/>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B55D53-512C-49F4-9812-5AEF75611DC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98CF7F-07EB-4584-89EF-E332D0BB0E6A}"/>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D5B320F2-0FAB-4A3B-B962-07055F066CE5}"/>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A654914B-51FD-400F-BC1C-4B9F18B472E9}"/>
              </a:ext>
            </a:extLst>
          </p:cNvPr>
          <p:cNvSpPr>
            <a:spLocks xmlns:a="http://schemas.openxmlformats.org/drawingml/2006/main" noGrp="1"/>
          </p:cNvSpPr>
          <p:nvPr/>
        </p:nvSpPr>
        <p:spPr>
          <a:xfrm xmlns:a="http://schemas.openxmlformats.org/drawingml/2006/main">
            <a:off x="647700" y="1752600"/>
            <a:ext cx="5048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FDF"/>
            </a:solidFill>
            <a:prstDash val="solid"/>
          </a:ln>
        </p:spPr>
      </p:sp>
      <p:sp>
        <p:nvSpPr>
          <p:cNvPr id="8" name="">
            <a:extLst xmlns:a="http://schemas.openxmlformats.org/drawingml/2006/main">
              <a:ext uri="{FF2B5EF4-FFF2-40B4-BE49-F238E27FC236}">
                <a16:creationId xmlns:a16="http://schemas.microsoft.com/office/drawing/2014/main" id="{93496295-6185-4880-88AE-9B516B042269}"/>
              </a:ext>
            </a:extLst>
          </p:cNvPr>
          <p:cNvSpPr>
            <a:spLocks xmlns:a="http://schemas.openxmlformats.org/drawingml/2006/main" noGrp="1"/>
          </p:cNvSpPr>
          <p:nvPr/>
        </p:nvSpPr>
        <p:spPr>
          <a:xfrm xmlns:a="http://schemas.openxmlformats.org/drawingml/2006/main">
            <a:off x="647700" y="1752600"/>
            <a:ext cx="57150" cy="1200150"/>
          </a:xfrm>
          <a:prstGeom xmlns:a="http://schemas.openxmlformats.org/drawingml/2006/main" prst="rect">
            <a:avLst/>
          </a:prstGeom>
          <a:solidFill xmlns:a="http://schemas.openxmlformats.org/drawingml/2006/main">
            <a:srgbClr val="28745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CCB194C-E0B1-4D87-B5C8-12175FBFA1B0}"/>
              </a:ext>
            </a:extLst>
          </p:cNvPr>
          <p:cNvSpPr>
            <a:spLocks xmlns:a="http://schemas.openxmlformats.org/drawingml/2006/main" noGrp="1"/>
          </p:cNvSpPr>
          <p:nvPr/>
        </p:nvSpPr>
        <p:spPr>
          <a:xfrm xmlns:a="http://schemas.openxmlformats.org/drawingml/2006/main">
            <a:off x="819150" y="1866900"/>
            <a:ext cx="470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IMPLEMENTED</a:t>
            </a:r>
          </a:p>
        </p:txBody>
      </p:sp>
      <p:sp>
        <p:nvSpPr>
          <p:cNvPr id="10" name="">
            <a:extLst xmlns:a="http://schemas.openxmlformats.org/drawingml/2006/main">
              <a:ext uri="{FF2B5EF4-FFF2-40B4-BE49-F238E27FC236}">
                <a16:creationId xmlns:a16="http://schemas.microsoft.com/office/drawing/2014/main" id="{2558B7F6-2EAC-493A-B264-CDB3B74E0F58}"/>
              </a:ext>
            </a:extLst>
          </p:cNvPr>
          <p:cNvSpPr>
            <a:spLocks xmlns:a="http://schemas.openxmlformats.org/drawingml/2006/main" noGrp="1"/>
          </p:cNvSpPr>
          <p:nvPr/>
        </p:nvSpPr>
        <p:spPr>
          <a:xfrm xmlns:a="http://schemas.openxmlformats.org/drawingml/2006/main">
            <a:off x="819150" y="20764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PROCESS FOUNDATION</a:t>
            </a:r>
          </a:p>
        </p:txBody>
      </p:sp>
      <p:sp>
        <p:nvSpPr>
          <p:cNvPr id="11" name="">
            <a:extLst xmlns:a="http://schemas.openxmlformats.org/drawingml/2006/main">
              <a:ext uri="{FF2B5EF4-FFF2-40B4-BE49-F238E27FC236}">
                <a16:creationId xmlns:a16="http://schemas.microsoft.com/office/drawing/2014/main" id="{273E266A-29F6-4545-B290-15603B1802C6}"/>
              </a:ext>
            </a:extLst>
          </p:cNvPr>
          <p:cNvSpPr>
            <a:spLocks xmlns:a="http://schemas.openxmlformats.org/drawingml/2006/main" noGrp="1"/>
          </p:cNvSpPr>
          <p:nvPr/>
        </p:nvSpPr>
        <p:spPr>
          <a:xfrm xmlns:a="http://schemas.openxmlformats.org/drawingml/2006/main">
            <a:off x="819150" y="2457450"/>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Configurable cases, process versions, and workflows</a:t>
            </a:r>
          </a:p>
        </p:txBody>
      </p:sp>
      <p:sp>
        <p:nvSpPr>
          <p:cNvPr id="12" name="">
            <a:extLst xmlns:a="http://schemas.openxmlformats.org/drawingml/2006/main">
              <a:ext uri="{FF2B5EF4-FFF2-40B4-BE49-F238E27FC236}">
                <a16:creationId xmlns:a16="http://schemas.microsoft.com/office/drawing/2014/main" id="{E77E3C32-8225-436C-A2B8-08D79D113FC5}"/>
              </a:ext>
            </a:extLst>
          </p:cNvPr>
          <p:cNvSpPr>
            <a:spLocks xmlns:a="http://schemas.openxmlformats.org/drawingml/2006/main" noGrp="1"/>
          </p:cNvSpPr>
          <p:nvPr/>
        </p:nvSpPr>
        <p:spPr>
          <a:xfrm xmlns:a="http://schemas.openxmlformats.org/drawingml/2006/main">
            <a:off x="6029325" y="1752600"/>
            <a:ext cx="5048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FDF"/>
            </a:solidFill>
            <a:prstDash val="solid"/>
          </a:ln>
        </p:spPr>
      </p:sp>
      <p:sp>
        <p:nvSpPr>
          <p:cNvPr id="13" name="">
            <a:extLst xmlns:a="http://schemas.openxmlformats.org/drawingml/2006/main">
              <a:ext uri="{FF2B5EF4-FFF2-40B4-BE49-F238E27FC236}">
                <a16:creationId xmlns:a16="http://schemas.microsoft.com/office/drawing/2014/main" id="{7E62EF69-279F-4A16-A5A6-3130DE8F8AD7}"/>
              </a:ext>
            </a:extLst>
          </p:cNvPr>
          <p:cNvSpPr>
            <a:spLocks xmlns:a="http://schemas.openxmlformats.org/drawingml/2006/main" noGrp="1"/>
          </p:cNvSpPr>
          <p:nvPr/>
        </p:nvSpPr>
        <p:spPr>
          <a:xfrm xmlns:a="http://schemas.openxmlformats.org/drawingml/2006/main">
            <a:off x="6029325" y="1752600"/>
            <a:ext cx="57150" cy="1200150"/>
          </a:xfrm>
          <a:prstGeom xmlns:a="http://schemas.openxmlformats.org/drawingml/2006/main" prst="rect">
            <a:avLst/>
          </a:prstGeom>
          <a:solidFill xmlns:a="http://schemas.openxmlformats.org/drawingml/2006/main">
            <a:srgbClr val="28745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52D151-04E6-40C7-BCBF-5B6225D93905}"/>
              </a:ext>
            </a:extLst>
          </p:cNvPr>
          <p:cNvSpPr>
            <a:spLocks xmlns:a="http://schemas.openxmlformats.org/drawingml/2006/main" noGrp="1"/>
          </p:cNvSpPr>
          <p:nvPr/>
        </p:nvSpPr>
        <p:spPr>
          <a:xfrm xmlns:a="http://schemas.openxmlformats.org/drawingml/2006/main">
            <a:off x="6200775" y="1866900"/>
            <a:ext cx="470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IMPLEMENTED</a:t>
            </a:r>
          </a:p>
        </p:txBody>
      </p:sp>
      <p:sp>
        <p:nvSpPr>
          <p:cNvPr id="15" name="">
            <a:extLst xmlns:a="http://schemas.openxmlformats.org/drawingml/2006/main">
              <a:ext uri="{FF2B5EF4-FFF2-40B4-BE49-F238E27FC236}">
                <a16:creationId xmlns:a16="http://schemas.microsoft.com/office/drawing/2014/main" id="{CB29C97C-500D-4618-A532-A1142A491E45}"/>
              </a:ext>
            </a:extLst>
          </p:cNvPr>
          <p:cNvSpPr>
            <a:spLocks xmlns:a="http://schemas.openxmlformats.org/drawingml/2006/main" noGrp="1"/>
          </p:cNvSpPr>
          <p:nvPr/>
        </p:nvSpPr>
        <p:spPr>
          <a:xfrm xmlns:a="http://schemas.openxmlformats.org/drawingml/2006/main">
            <a:off x="6200775" y="20764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DETERMINISTIC CHECKS</a:t>
            </a:r>
          </a:p>
        </p:txBody>
      </p:sp>
      <p:sp>
        <p:nvSpPr>
          <p:cNvPr id="16" name="">
            <a:extLst xmlns:a="http://schemas.openxmlformats.org/drawingml/2006/main">
              <a:ext uri="{FF2B5EF4-FFF2-40B4-BE49-F238E27FC236}">
                <a16:creationId xmlns:a16="http://schemas.microsoft.com/office/drawing/2014/main" id="{3BC09706-FBB4-4100-871E-3246537394E7}"/>
              </a:ext>
            </a:extLst>
          </p:cNvPr>
          <p:cNvSpPr>
            <a:spLocks xmlns:a="http://schemas.openxmlformats.org/drawingml/2006/main" noGrp="1"/>
          </p:cNvSpPr>
          <p:nvPr/>
        </p:nvSpPr>
        <p:spPr>
          <a:xfrm xmlns:a="http://schemas.openxmlformats.org/drawingml/2006/main">
            <a:off x="6200775" y="2457450"/>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Rules, calculations, and verification</a:t>
            </a:r>
          </a:p>
        </p:txBody>
      </p:sp>
      <p:sp>
        <p:nvSpPr>
          <p:cNvPr id="17" name="">
            <a:extLst xmlns:a="http://schemas.openxmlformats.org/drawingml/2006/main">
              <a:ext uri="{FF2B5EF4-FFF2-40B4-BE49-F238E27FC236}">
                <a16:creationId xmlns:a16="http://schemas.microsoft.com/office/drawing/2014/main" id="{8864DC22-7408-44B6-A965-53F5C8AE05EF}"/>
              </a:ext>
            </a:extLst>
          </p:cNvPr>
          <p:cNvSpPr>
            <a:spLocks xmlns:a="http://schemas.openxmlformats.org/drawingml/2006/main" noGrp="1"/>
          </p:cNvSpPr>
          <p:nvPr/>
        </p:nvSpPr>
        <p:spPr>
          <a:xfrm xmlns:a="http://schemas.openxmlformats.org/drawingml/2006/main">
            <a:off x="647700" y="3219450"/>
            <a:ext cx="5048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FDF"/>
            </a:solidFill>
            <a:prstDash val="solid"/>
          </a:ln>
        </p:spPr>
      </p:sp>
      <p:sp>
        <p:nvSpPr>
          <p:cNvPr id="18" name="">
            <a:extLst xmlns:a="http://schemas.openxmlformats.org/drawingml/2006/main">
              <a:ext uri="{FF2B5EF4-FFF2-40B4-BE49-F238E27FC236}">
                <a16:creationId xmlns:a16="http://schemas.microsoft.com/office/drawing/2014/main" id="{7333A320-B939-424C-AC7E-DAC8A4E4B73D}"/>
              </a:ext>
            </a:extLst>
          </p:cNvPr>
          <p:cNvSpPr>
            <a:spLocks xmlns:a="http://schemas.openxmlformats.org/drawingml/2006/main" noGrp="1"/>
          </p:cNvSpPr>
          <p:nvPr/>
        </p:nvSpPr>
        <p:spPr>
          <a:xfrm xmlns:a="http://schemas.openxmlformats.org/drawingml/2006/main">
            <a:off x="647700" y="3219450"/>
            <a:ext cx="57150" cy="1200150"/>
          </a:xfrm>
          <a:prstGeom xmlns:a="http://schemas.openxmlformats.org/drawingml/2006/main" prst="rect">
            <a:avLst/>
          </a:prstGeom>
          <a:solidFill xmlns:a="http://schemas.openxmlformats.org/drawingml/2006/main">
            <a:srgbClr val="28745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E0975D-3D2D-459B-9CD2-51DFAF53F175}"/>
              </a:ext>
            </a:extLst>
          </p:cNvPr>
          <p:cNvSpPr>
            <a:spLocks xmlns:a="http://schemas.openxmlformats.org/drawingml/2006/main" noGrp="1"/>
          </p:cNvSpPr>
          <p:nvPr/>
        </p:nvSpPr>
        <p:spPr>
          <a:xfrm xmlns:a="http://schemas.openxmlformats.org/drawingml/2006/main">
            <a:off x="819150" y="3333750"/>
            <a:ext cx="470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IMPLEMENTED</a:t>
            </a:r>
          </a:p>
        </p:txBody>
      </p:sp>
      <p:sp>
        <p:nvSpPr>
          <p:cNvPr id="20" name="">
            <a:extLst xmlns:a="http://schemas.openxmlformats.org/drawingml/2006/main">
              <a:ext uri="{FF2B5EF4-FFF2-40B4-BE49-F238E27FC236}">
                <a16:creationId xmlns:a16="http://schemas.microsoft.com/office/drawing/2014/main" id="{9A83A70F-4E31-45B8-9F87-A47EC20531F8}"/>
              </a:ext>
            </a:extLst>
          </p:cNvPr>
          <p:cNvSpPr>
            <a:spLocks xmlns:a="http://schemas.openxmlformats.org/drawingml/2006/main" noGrp="1"/>
          </p:cNvSpPr>
          <p:nvPr/>
        </p:nvSpPr>
        <p:spPr>
          <a:xfrm xmlns:a="http://schemas.openxmlformats.org/drawingml/2006/main">
            <a:off x="819150" y="354330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CONTROLLED TOOLS</a:t>
            </a:r>
          </a:p>
        </p:txBody>
      </p:sp>
      <p:sp>
        <p:nvSpPr>
          <p:cNvPr id="21" name="">
            <a:extLst xmlns:a="http://schemas.openxmlformats.org/drawingml/2006/main">
              <a:ext uri="{FF2B5EF4-FFF2-40B4-BE49-F238E27FC236}">
                <a16:creationId xmlns:a16="http://schemas.microsoft.com/office/drawing/2014/main" id="{FAC910E9-2242-4D10-9947-D94A8CDCF0B7}"/>
              </a:ext>
            </a:extLst>
          </p:cNvPr>
          <p:cNvSpPr>
            <a:spLocks xmlns:a="http://schemas.openxmlformats.org/drawingml/2006/main" noGrp="1"/>
          </p:cNvSpPr>
          <p:nvPr/>
        </p:nvSpPr>
        <p:spPr>
          <a:xfrm xmlns:a="http://schemas.openxmlformats.org/drawingml/2006/main">
            <a:off x="819150" y="3924300"/>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Policy-enforced Tool Gateway + execution records</a:t>
            </a:r>
          </a:p>
        </p:txBody>
      </p:sp>
      <p:sp>
        <p:nvSpPr>
          <p:cNvPr id="22" name="">
            <a:extLst xmlns:a="http://schemas.openxmlformats.org/drawingml/2006/main">
              <a:ext uri="{FF2B5EF4-FFF2-40B4-BE49-F238E27FC236}">
                <a16:creationId xmlns:a16="http://schemas.microsoft.com/office/drawing/2014/main" id="{7E0EA5EE-C9CA-47A7-859B-CD08EA978E7B}"/>
              </a:ext>
            </a:extLst>
          </p:cNvPr>
          <p:cNvSpPr>
            <a:spLocks xmlns:a="http://schemas.openxmlformats.org/drawingml/2006/main" noGrp="1"/>
          </p:cNvSpPr>
          <p:nvPr/>
        </p:nvSpPr>
        <p:spPr>
          <a:xfrm xmlns:a="http://schemas.openxmlformats.org/drawingml/2006/main">
            <a:off x="6029325" y="3219450"/>
            <a:ext cx="5048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FDF"/>
            </a:solidFill>
            <a:prstDash val="solid"/>
          </a:ln>
        </p:spPr>
      </p:sp>
      <p:sp>
        <p:nvSpPr>
          <p:cNvPr id="23" name="">
            <a:extLst xmlns:a="http://schemas.openxmlformats.org/drawingml/2006/main">
              <a:ext uri="{FF2B5EF4-FFF2-40B4-BE49-F238E27FC236}">
                <a16:creationId xmlns:a16="http://schemas.microsoft.com/office/drawing/2014/main" id="{AFAD24D7-1912-49A4-AD51-2BCA9DF92DE3}"/>
              </a:ext>
            </a:extLst>
          </p:cNvPr>
          <p:cNvSpPr>
            <a:spLocks xmlns:a="http://schemas.openxmlformats.org/drawingml/2006/main" noGrp="1"/>
          </p:cNvSpPr>
          <p:nvPr/>
        </p:nvSpPr>
        <p:spPr>
          <a:xfrm xmlns:a="http://schemas.openxmlformats.org/drawingml/2006/main">
            <a:off x="6029325" y="3219450"/>
            <a:ext cx="57150" cy="1200150"/>
          </a:xfrm>
          <a:prstGeom xmlns:a="http://schemas.openxmlformats.org/drawingml/2006/main" prst="rect">
            <a:avLst/>
          </a:prstGeom>
          <a:solidFill xmlns:a="http://schemas.openxmlformats.org/drawingml/2006/main">
            <a:srgbClr val="28745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2235723-1DEF-4A40-B1B7-F03413F067B9}"/>
              </a:ext>
            </a:extLst>
          </p:cNvPr>
          <p:cNvSpPr>
            <a:spLocks xmlns:a="http://schemas.openxmlformats.org/drawingml/2006/main" noGrp="1"/>
          </p:cNvSpPr>
          <p:nvPr/>
        </p:nvSpPr>
        <p:spPr>
          <a:xfrm xmlns:a="http://schemas.openxmlformats.org/drawingml/2006/main">
            <a:off x="6200775" y="3333750"/>
            <a:ext cx="470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IMPLEMENTED</a:t>
            </a:r>
          </a:p>
        </p:txBody>
      </p:sp>
      <p:sp>
        <p:nvSpPr>
          <p:cNvPr id="25" name="">
            <a:extLst xmlns:a="http://schemas.openxmlformats.org/drawingml/2006/main">
              <a:ext uri="{FF2B5EF4-FFF2-40B4-BE49-F238E27FC236}">
                <a16:creationId xmlns:a16="http://schemas.microsoft.com/office/drawing/2014/main" id="{C553533B-542B-4D48-BD7A-522B3C28C736}"/>
              </a:ext>
            </a:extLst>
          </p:cNvPr>
          <p:cNvSpPr>
            <a:spLocks xmlns:a="http://schemas.openxmlformats.org/drawingml/2006/main" noGrp="1"/>
          </p:cNvSpPr>
          <p:nvPr/>
        </p:nvSpPr>
        <p:spPr>
          <a:xfrm xmlns:a="http://schemas.openxmlformats.org/drawingml/2006/main">
            <a:off x="6200775" y="354330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B2B36"/>
                </a:solidFill>
                <a:latin typeface="Arial"/>
                <a:ea typeface="Arial"/>
                <a:cs typeface="Arial"/>
              </a:defRPr>
            </a:pPr>
            <a:r>
              <a:rPr sz="1425" b="1">
                <a:solidFill>
                  <a:srgbClr val="1B2B36"/>
                </a:solidFill>
                <a:latin typeface="Arial"/>
                <a:ea typeface="Arial"/>
                <a:cs typeface="Arial"/>
              </a:rPr>
              <a:t>DOCUMENT PIPELINE</a:t>
            </a:r>
          </a:p>
        </p:txBody>
      </p:sp>
      <p:sp>
        <p:nvSpPr>
          <p:cNvPr id="26" name="">
            <a:extLst xmlns:a="http://schemas.openxmlformats.org/drawingml/2006/main">
              <a:ext uri="{FF2B5EF4-FFF2-40B4-BE49-F238E27FC236}">
                <a16:creationId xmlns:a16="http://schemas.microsoft.com/office/drawing/2014/main" id="{7202F0F0-90A2-4706-9C95-0AB02D3779D5}"/>
              </a:ext>
            </a:extLst>
          </p:cNvPr>
          <p:cNvSpPr>
            <a:spLocks xmlns:a="http://schemas.openxmlformats.org/drawingml/2006/main" noGrp="1"/>
          </p:cNvSpPr>
          <p:nvPr/>
        </p:nvSpPr>
        <p:spPr>
          <a:xfrm xmlns:a="http://schemas.openxmlformats.org/drawingml/2006/main">
            <a:off x="6200775" y="3924300"/>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Versioned storage, parsing, extraction, citations, review tasks</a:t>
            </a:r>
          </a:p>
        </p:txBody>
      </p:sp>
      <p:sp>
        <p:nvSpPr>
          <p:cNvPr id="27" name="">
            <a:extLst xmlns:a="http://schemas.openxmlformats.org/drawingml/2006/main">
              <a:ext uri="{FF2B5EF4-FFF2-40B4-BE49-F238E27FC236}">
                <a16:creationId xmlns:a16="http://schemas.microsoft.com/office/drawing/2014/main" id="{79AB41C6-DFAC-4051-B817-B3C15B8997D0}"/>
              </a:ext>
            </a:extLst>
          </p:cNvPr>
          <p:cNvSpPr>
            <a:spLocks xmlns:a="http://schemas.openxmlformats.org/drawingml/2006/main" noGrp="1"/>
          </p:cNvSpPr>
          <p:nvPr/>
        </p:nvSpPr>
        <p:spPr>
          <a:xfrm xmlns:a="http://schemas.openxmlformats.org/drawingml/2006/main">
            <a:off x="647700" y="4914900"/>
            <a:ext cx="10896600" cy="990600"/>
          </a:xfrm>
          <a:prstGeom xmlns:a="http://schemas.openxmlformats.org/drawingml/2006/main" prst="roundRect">
            <a:avLst>
              <a:gd name="adj" fmla="val 17308"/>
            </a:avLst>
          </a:prstGeom>
          <a:solidFill xmlns:a="http://schemas.openxmlformats.org/drawingml/2006/main">
            <a:srgbClr val="1026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A37D92C-A3B4-4FBD-893E-75AA57931102}"/>
              </a:ext>
            </a:extLst>
          </p:cNvPr>
          <p:cNvSpPr>
            <a:spLocks xmlns:a="http://schemas.openxmlformats.org/drawingml/2006/main" noGrp="1"/>
          </p:cNvSpPr>
          <p:nvPr/>
        </p:nvSpPr>
        <p:spPr>
          <a:xfrm xmlns:a="http://schemas.openxmlformats.org/drawingml/2006/main">
            <a:off x="895350" y="5019675"/>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675" b="1">
                <a:solidFill>
                  <a:srgbClr val="FFFFFF"/>
                </a:solidFill>
                <a:latin typeface="Arial"/>
                <a:ea typeface="Arial"/>
                <a:cs typeface="Arial"/>
              </a:defRPr>
            </a:pPr>
            <a:r>
              <a:rPr sz="3675" b="1">
                <a:solidFill>
                  <a:srgbClr val="FFFFFF"/>
                </a:solidFill>
                <a:latin typeface="Arial"/>
                <a:ea typeface="Arial"/>
                <a:cs typeface="Arial"/>
              </a:rPr>
              <a:t>63</a:t>
            </a:r>
          </a:p>
        </p:txBody>
      </p:sp>
      <p:sp>
        <p:nvSpPr>
          <p:cNvPr id="29" name="">
            <a:extLst xmlns:a="http://schemas.openxmlformats.org/drawingml/2006/main">
              <a:ext uri="{FF2B5EF4-FFF2-40B4-BE49-F238E27FC236}">
                <a16:creationId xmlns:a16="http://schemas.microsoft.com/office/drawing/2014/main" id="{B05EDAC1-3107-413B-AE31-AD848D0177D6}"/>
              </a:ext>
            </a:extLst>
          </p:cNvPr>
          <p:cNvSpPr>
            <a:spLocks xmlns:a="http://schemas.openxmlformats.org/drawingml/2006/main" noGrp="1"/>
          </p:cNvSpPr>
          <p:nvPr/>
        </p:nvSpPr>
        <p:spPr>
          <a:xfrm xmlns:a="http://schemas.openxmlformats.org/drawingml/2006/main">
            <a:off x="2038350" y="5181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backend tests passed</a:t>
            </a:r>
          </a:p>
        </p:txBody>
      </p:sp>
      <p:sp>
        <p:nvSpPr>
          <p:cNvPr id="30" name="">
            <a:extLst xmlns:a="http://schemas.openxmlformats.org/drawingml/2006/main">
              <a:ext uri="{FF2B5EF4-FFF2-40B4-BE49-F238E27FC236}">
                <a16:creationId xmlns:a16="http://schemas.microsoft.com/office/drawing/2014/main" id="{1C4F2F56-0A69-41CA-9E75-EB839090E0EB}"/>
              </a:ext>
            </a:extLst>
          </p:cNvPr>
          <p:cNvSpPr>
            <a:spLocks xmlns:a="http://schemas.openxmlformats.org/drawingml/2006/main" noGrp="1"/>
          </p:cNvSpPr>
          <p:nvPr/>
        </p:nvSpPr>
        <p:spPr>
          <a:xfrm xmlns:a="http://schemas.openxmlformats.org/drawingml/2006/main">
            <a:off x="5076825" y="5124450"/>
            <a:ext cx="19050" cy="571500"/>
          </a:xfrm>
          <a:prstGeom xmlns:a="http://schemas.openxmlformats.org/drawingml/2006/main" prst="rect">
            <a:avLst/>
          </a:prstGeom>
          <a:solidFill xmlns:a="http://schemas.openxmlformats.org/drawingml/2006/main">
            <a:srgbClr val="52718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D7385F2-0DEC-4CC8-8EFA-8E873781F14E}"/>
              </a:ext>
            </a:extLst>
          </p:cNvPr>
          <p:cNvSpPr>
            <a:spLocks xmlns:a="http://schemas.openxmlformats.org/drawingml/2006/main" noGrp="1"/>
          </p:cNvSpPr>
          <p:nvPr/>
        </p:nvSpPr>
        <p:spPr>
          <a:xfrm xmlns:a="http://schemas.openxmlformats.org/drawingml/2006/main">
            <a:off x="5391150" y="5048250"/>
            <a:ext cx="576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D2DEE3"/>
                </a:solidFill>
                <a:latin typeface="Arial"/>
                <a:ea typeface="Arial"/>
                <a:cs typeface="Arial"/>
              </a:defRPr>
            </a:pPr>
            <a:r>
              <a:rPr sz="1350" b="0">
                <a:solidFill>
                  <a:srgbClr val="D2DEE3"/>
                </a:solidFill>
                <a:latin typeface="Arial"/>
                <a:ea typeface="Arial"/>
                <a:cs typeface="Arial"/>
              </a:rPr>
              <a:t>Generated fixtures + deterministic fake model adapter</a:t>
            </a:r>
          </a:p>
        </p:txBody>
      </p:sp>
      <p:sp>
        <p:nvSpPr>
          <p:cNvPr id="32" name="">
            <a:extLst xmlns:a="http://schemas.openxmlformats.org/drawingml/2006/main">
              <a:ext uri="{FF2B5EF4-FFF2-40B4-BE49-F238E27FC236}">
                <a16:creationId xmlns:a16="http://schemas.microsoft.com/office/drawing/2014/main" id="{CD393E2A-D3EA-4D29-B436-1DDA42520773}"/>
              </a:ext>
            </a:extLst>
          </p:cNvPr>
          <p:cNvSpPr>
            <a:spLocks xmlns:a="http://schemas.openxmlformats.org/drawingml/2006/main" noGrp="1"/>
          </p:cNvSpPr>
          <p:nvPr/>
        </p:nvSpPr>
        <p:spPr>
          <a:xfrm xmlns:a="http://schemas.openxmlformats.org/drawingml/2006/main">
            <a:off x="5391150" y="5381625"/>
            <a:ext cx="576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8BCBC4"/>
                </a:solidFill>
                <a:latin typeface="Arial"/>
                <a:ea typeface="Arial"/>
                <a:cs typeface="Arial"/>
              </a:defRPr>
            </a:pPr>
            <a:r>
              <a:rPr sz="1200" b="1">
                <a:solidFill>
                  <a:srgbClr val="8BCBC4"/>
                </a:solidFill>
                <a:latin typeface="Arial"/>
                <a:ea typeface="Arial"/>
                <a:cs typeface="Arial"/>
              </a:rPr>
              <a:t>The suite validates software behavior—not live model accuracy.</a:t>
            </a:r>
          </a:p>
        </p:txBody>
      </p:sp>
    </p:spTree>
    <p:extLst>
      <p:ext uri="{BB962C8B-B14F-4D97-AF65-F5344CB8AC3E}">
        <p14:creationId xmlns:p14="http://schemas.microsoft.com/office/powerpoint/2010/main" val="251043300"/>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73344296-C4EE-4E20-A171-5DE108A6F125}"/>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05  /  CURRENT STATUS</a:t>
            </a:r>
          </a:p>
        </p:txBody>
      </p:sp>
      <p:sp>
        <p:nvSpPr>
          <p:cNvPr id="2" name="">
            <a:extLst xmlns:a="http://schemas.openxmlformats.org/drawingml/2006/main">
              <a:ext uri="{FF2B5EF4-FFF2-40B4-BE49-F238E27FC236}">
                <a16:creationId xmlns:a16="http://schemas.microsoft.com/office/drawing/2014/main" id="{2D62A7B4-1565-4309-AC60-AFC66D26E21A}"/>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Next: validate real inputs and connect orchestration</a:t>
            </a:r>
          </a:p>
        </p:txBody>
      </p:sp>
      <p:sp>
        <p:nvSpPr>
          <p:cNvPr id="3" name="">
            <a:extLst xmlns:a="http://schemas.openxmlformats.org/drawingml/2006/main">
              <a:ext uri="{FF2B5EF4-FFF2-40B4-BE49-F238E27FC236}">
                <a16:creationId xmlns:a16="http://schemas.microsoft.com/office/drawing/2014/main" id="{91846F10-FA5A-42E0-BBE2-7C070545162D}"/>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B35BA1-67DC-4A4E-8E7D-5EF5DBD24FF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B0F283-0585-42DE-83BB-B3F2830117B0}"/>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F856408F-D2A4-4C27-88BC-803054733A09}"/>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4055E44D-4438-445C-8F5C-19F8AECC0352}"/>
              </a:ext>
            </a:extLst>
          </p:cNvPr>
          <p:cNvSpPr>
            <a:spLocks xmlns:a="http://schemas.openxmlformats.org/drawingml/2006/main" noGrp="1"/>
          </p:cNvSpPr>
          <p:nvPr/>
        </p:nvSpPr>
        <p:spPr>
          <a:xfrm xmlns:a="http://schemas.openxmlformats.org/drawingml/2006/main">
            <a:off x="666750" y="2628900"/>
            <a:ext cx="1905000" cy="1162050"/>
          </a:xfrm>
          <a:prstGeom xmlns:a="http://schemas.openxmlformats.org/drawingml/2006/main" prst="roundRect">
            <a:avLst>
              <a:gd name="adj" fmla="val 13115"/>
            </a:avLst>
          </a:prstGeom>
          <a:solidFill xmlns:a="http://schemas.openxmlformats.org/drawingml/2006/main">
            <a:srgbClr val="E1F1E7"/>
          </a:solidFill>
          <a:ln xmlns:a="http://schemas.openxmlformats.org/drawingml/2006/main" w="9525">
            <a:solidFill>
              <a:srgbClr val="B6D8C3"/>
            </a:solidFill>
            <a:prstDash val="solid"/>
          </a:ln>
        </p:spPr>
      </p:sp>
      <p:sp>
        <p:nvSpPr>
          <p:cNvPr id="8" name="">
            <a:extLst xmlns:a="http://schemas.openxmlformats.org/drawingml/2006/main">
              <a:ext uri="{FF2B5EF4-FFF2-40B4-BE49-F238E27FC236}">
                <a16:creationId xmlns:a16="http://schemas.microsoft.com/office/drawing/2014/main" id="{E86E7FC8-205D-4A73-9816-5EA173071575}"/>
              </a:ext>
            </a:extLst>
          </p:cNvPr>
          <p:cNvSpPr>
            <a:spLocks xmlns:a="http://schemas.openxmlformats.org/drawingml/2006/main" noGrp="1"/>
          </p:cNvSpPr>
          <p:nvPr/>
        </p:nvSpPr>
        <p:spPr>
          <a:xfrm xmlns:a="http://schemas.openxmlformats.org/drawingml/2006/main">
            <a:off x="838200" y="2743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287451"/>
                </a:solidFill>
                <a:latin typeface="Arial"/>
                <a:ea typeface="Arial"/>
                <a:cs typeface="Arial"/>
              </a:defRPr>
            </a:pPr>
            <a:r>
              <a:rPr sz="975" b="1">
                <a:solidFill>
                  <a:srgbClr val="287451"/>
                </a:solidFill>
                <a:latin typeface="Arial"/>
                <a:ea typeface="Arial"/>
                <a:cs typeface="Arial"/>
              </a:rPr>
              <a:t>SEQUENCE 01</a:t>
            </a:r>
          </a:p>
        </p:txBody>
      </p:sp>
      <p:sp>
        <p:nvSpPr>
          <p:cNvPr id="9" name="">
            <a:extLst xmlns:a="http://schemas.openxmlformats.org/drawingml/2006/main">
              <a:ext uri="{FF2B5EF4-FFF2-40B4-BE49-F238E27FC236}">
                <a16:creationId xmlns:a16="http://schemas.microsoft.com/office/drawing/2014/main" id="{06200C72-BB0C-4503-8BDF-E8BF5E2761E8}"/>
              </a:ext>
            </a:extLst>
          </p:cNvPr>
          <p:cNvSpPr>
            <a:spLocks xmlns:a="http://schemas.openxmlformats.org/drawingml/2006/main" noGrp="1"/>
          </p:cNvSpPr>
          <p:nvPr/>
        </p:nvSpPr>
        <p:spPr>
          <a:xfrm xmlns:a="http://schemas.openxmlformats.org/drawingml/2006/main">
            <a:off x="838200" y="2952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B2B36"/>
                </a:solidFill>
                <a:latin typeface="Arial"/>
                <a:ea typeface="Arial"/>
                <a:cs typeface="Arial"/>
              </a:defRPr>
            </a:pPr>
            <a:r>
              <a:rPr sz="1275" b="1">
                <a:solidFill>
                  <a:srgbClr val="1B2B36"/>
                </a:solidFill>
                <a:latin typeface="Arial"/>
                <a:ea typeface="Arial"/>
                <a:cs typeface="Arial"/>
              </a:rPr>
              <a:t>DONE</a:t>
            </a:r>
          </a:p>
        </p:txBody>
      </p:sp>
      <p:sp>
        <p:nvSpPr>
          <p:cNvPr id="10" name="">
            <a:extLst xmlns:a="http://schemas.openxmlformats.org/drawingml/2006/main">
              <a:ext uri="{FF2B5EF4-FFF2-40B4-BE49-F238E27FC236}">
                <a16:creationId xmlns:a16="http://schemas.microsoft.com/office/drawing/2014/main" id="{72F441FC-BB8B-4CD0-9734-629B6442E68D}"/>
              </a:ext>
            </a:extLst>
          </p:cNvPr>
          <p:cNvSpPr>
            <a:spLocks xmlns:a="http://schemas.openxmlformats.org/drawingml/2006/main" noGrp="1"/>
          </p:cNvSpPr>
          <p:nvPr/>
        </p:nvSpPr>
        <p:spPr>
          <a:xfrm xmlns:a="http://schemas.openxmlformats.org/drawingml/2006/main">
            <a:off x="838200" y="3333750"/>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Implemented foundations</a:t>
            </a:r>
          </a:p>
        </p:txBody>
      </p:sp>
      <p:sp>
        <p:nvSpPr>
          <p:cNvPr id="11" name="">
            <a:extLst xmlns:a="http://schemas.openxmlformats.org/drawingml/2006/main">
              <a:ext uri="{FF2B5EF4-FFF2-40B4-BE49-F238E27FC236}">
                <a16:creationId xmlns:a16="http://schemas.microsoft.com/office/drawing/2014/main" id="{AA62CE46-8AE4-4434-B960-14DA4D91FAE1}"/>
              </a:ext>
            </a:extLst>
          </p:cNvPr>
          <p:cNvSpPr>
            <a:spLocks xmlns:a="http://schemas.openxmlformats.org/drawingml/2006/main" noGrp="1"/>
          </p:cNvSpPr>
          <p:nvPr/>
        </p:nvSpPr>
        <p:spPr>
          <a:xfrm xmlns:a="http://schemas.openxmlformats.org/drawingml/2006/main">
            <a:off x="2809875" y="31051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4" name=""/>
          <p:cNvCxnSpPr>
            <a:stCxn xmlns:a="http://schemas.openxmlformats.org/drawingml/2006/main" id="7" idx="3"/>
            <a:endCxn xmlns:a="http://schemas.openxmlformats.org/drawingml/2006/main" id="11" idx="1"/>
          </p:cNvCxnSpPr>
          <p:nvPr/>
        </p:nvCxnSpPr>
        <p:spPr>
          <a:xfrm xmlns:a="http://schemas.openxmlformats.org/drawingml/2006/main" flipV="1">
            <a:off x="2571750" y="3114675"/>
            <a:ext cx="238125" cy="95250"/>
          </a:xfrm>
          <a:prstGeom xmlns:a="http://schemas.openxmlformats.org/drawingml/2006/main" prst="straightConnector1">
            <a:avLst/>
          </a:prstGeom>
          <a:ln xmlns:a="http://schemas.openxmlformats.org/drawingml/2006/main" w="19050">
            <a:solidFill>
              <a:srgbClr val="168C88"/>
            </a:solidFill>
            <a:prstDash val="solid"/>
            <a:tailEnd type="triangle" w="sm" len="sm"/>
          </a:ln>
        </p:spPr>
      </p:cxnSp>
      <p:sp>
        <p:nvSpPr>
          <p:cNvPr id="13" name="">
            <a:extLst xmlns:a="http://schemas.openxmlformats.org/drawingml/2006/main">
              <a:ext uri="{FF2B5EF4-FFF2-40B4-BE49-F238E27FC236}">
                <a16:creationId xmlns:a16="http://schemas.microsoft.com/office/drawing/2014/main" id="{77CE487D-7E79-4BCB-9D71-5604781F6F37}"/>
              </a:ext>
            </a:extLst>
          </p:cNvPr>
          <p:cNvSpPr>
            <a:spLocks xmlns:a="http://schemas.openxmlformats.org/drawingml/2006/main" noGrp="1"/>
          </p:cNvSpPr>
          <p:nvPr/>
        </p:nvSpPr>
        <p:spPr>
          <a:xfrm xmlns:a="http://schemas.openxmlformats.org/drawingml/2006/main">
            <a:off x="2905125" y="2628900"/>
            <a:ext cx="1905000" cy="1162050"/>
          </a:xfrm>
          <a:prstGeom xmlns:a="http://schemas.openxmlformats.org/drawingml/2006/main" prst="roundRect">
            <a:avLst>
              <a:gd name="adj" fmla="val 13115"/>
            </a:avLst>
          </a:prstGeom>
          <a:solidFill xmlns:a="http://schemas.openxmlformats.org/drawingml/2006/main">
            <a:srgbClr val="FFF0CF"/>
          </a:solidFill>
          <a:ln xmlns:a="http://schemas.openxmlformats.org/drawingml/2006/main" w="9525">
            <a:solidFill>
              <a:srgbClr val="E5C77E"/>
            </a:solidFill>
            <a:prstDash val="solid"/>
          </a:ln>
        </p:spPr>
      </p:sp>
      <p:sp>
        <p:nvSpPr>
          <p:cNvPr id="14" name="">
            <a:extLst xmlns:a="http://schemas.openxmlformats.org/drawingml/2006/main">
              <a:ext uri="{FF2B5EF4-FFF2-40B4-BE49-F238E27FC236}">
                <a16:creationId xmlns:a16="http://schemas.microsoft.com/office/drawing/2014/main" id="{1F486423-91CB-4E09-87CE-078E3622CB39}"/>
              </a:ext>
            </a:extLst>
          </p:cNvPr>
          <p:cNvSpPr>
            <a:spLocks xmlns:a="http://schemas.openxmlformats.org/drawingml/2006/main" noGrp="1"/>
          </p:cNvSpPr>
          <p:nvPr/>
        </p:nvSpPr>
        <p:spPr>
          <a:xfrm xmlns:a="http://schemas.openxmlformats.org/drawingml/2006/main">
            <a:off x="3076575" y="2743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SEQUENCE 02</a:t>
            </a:r>
          </a:p>
        </p:txBody>
      </p:sp>
      <p:sp>
        <p:nvSpPr>
          <p:cNvPr id="15" name="">
            <a:extLst xmlns:a="http://schemas.openxmlformats.org/drawingml/2006/main">
              <a:ext uri="{FF2B5EF4-FFF2-40B4-BE49-F238E27FC236}">
                <a16:creationId xmlns:a16="http://schemas.microsoft.com/office/drawing/2014/main" id="{239457FF-CBBC-4FBE-B69B-EF25C86239E4}"/>
              </a:ext>
            </a:extLst>
          </p:cNvPr>
          <p:cNvSpPr>
            <a:spLocks xmlns:a="http://schemas.openxmlformats.org/drawingml/2006/main" noGrp="1"/>
          </p:cNvSpPr>
          <p:nvPr/>
        </p:nvSpPr>
        <p:spPr>
          <a:xfrm xmlns:a="http://schemas.openxmlformats.org/drawingml/2006/main">
            <a:off x="3076575" y="2952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B2B36"/>
                </a:solidFill>
                <a:latin typeface="Arial"/>
                <a:ea typeface="Arial"/>
                <a:cs typeface="Arial"/>
              </a:defRPr>
            </a:pPr>
            <a:r>
              <a:rPr sz="1275" b="1">
                <a:solidFill>
                  <a:srgbClr val="1B2B36"/>
                </a:solidFill>
                <a:latin typeface="Arial"/>
                <a:ea typeface="Arial"/>
                <a:cs typeface="Arial"/>
              </a:rPr>
              <a:t>NEXT</a:t>
            </a:r>
          </a:p>
        </p:txBody>
      </p:sp>
      <p:sp>
        <p:nvSpPr>
          <p:cNvPr id="16" name="">
            <a:extLst xmlns:a="http://schemas.openxmlformats.org/drawingml/2006/main">
              <a:ext uri="{FF2B5EF4-FFF2-40B4-BE49-F238E27FC236}">
                <a16:creationId xmlns:a16="http://schemas.microsoft.com/office/drawing/2014/main" id="{AA03B75C-CDC5-482F-85D3-0B0AECFBA772}"/>
              </a:ext>
            </a:extLst>
          </p:cNvPr>
          <p:cNvSpPr>
            <a:spLocks xmlns:a="http://schemas.openxmlformats.org/drawingml/2006/main" noGrp="1"/>
          </p:cNvSpPr>
          <p:nvPr/>
        </p:nvSpPr>
        <p:spPr>
          <a:xfrm xmlns:a="http://schemas.openxmlformats.org/drawingml/2006/main">
            <a:off x="3076575" y="3333750"/>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Real OCR + model evaluation</a:t>
            </a:r>
          </a:p>
        </p:txBody>
      </p:sp>
      <p:sp>
        <p:nvSpPr>
          <p:cNvPr id="17" name="">
            <a:extLst xmlns:a="http://schemas.openxmlformats.org/drawingml/2006/main">
              <a:ext uri="{FF2B5EF4-FFF2-40B4-BE49-F238E27FC236}">
                <a16:creationId xmlns:a16="http://schemas.microsoft.com/office/drawing/2014/main" id="{995DDB0F-7811-4084-ACA2-4227901A4A4F}"/>
              </a:ext>
            </a:extLst>
          </p:cNvPr>
          <p:cNvSpPr>
            <a:spLocks xmlns:a="http://schemas.openxmlformats.org/drawingml/2006/main" noGrp="1"/>
          </p:cNvSpPr>
          <p:nvPr/>
        </p:nvSpPr>
        <p:spPr>
          <a:xfrm xmlns:a="http://schemas.openxmlformats.org/drawingml/2006/main">
            <a:off x="5048250" y="31051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0" name=""/>
          <p:cNvCxnSpPr>
            <a:stCxn xmlns:a="http://schemas.openxmlformats.org/drawingml/2006/main" id="13" idx="3"/>
            <a:endCxn xmlns:a="http://schemas.openxmlformats.org/drawingml/2006/main" id="17" idx="1"/>
          </p:cNvCxnSpPr>
          <p:nvPr/>
        </p:nvCxnSpPr>
        <p:spPr>
          <a:xfrm xmlns:a="http://schemas.openxmlformats.org/drawingml/2006/main" flipV="1">
            <a:off x="4810125" y="3114675"/>
            <a:ext cx="238125" cy="95250"/>
          </a:xfrm>
          <a:prstGeom xmlns:a="http://schemas.openxmlformats.org/drawingml/2006/main" prst="straightConnector1">
            <a:avLst/>
          </a:prstGeom>
          <a:ln xmlns:a="http://schemas.openxmlformats.org/drawingml/2006/main" w="19050">
            <a:solidFill>
              <a:srgbClr val="D79A2B"/>
            </a:solidFill>
            <a:prstDash val="solid"/>
            <a:tailEnd type="triangle" w="sm" len="sm"/>
          </a:ln>
        </p:spPr>
      </p:cxnSp>
      <p:sp>
        <p:nvSpPr>
          <p:cNvPr id="19" name="">
            <a:extLst xmlns:a="http://schemas.openxmlformats.org/drawingml/2006/main">
              <a:ext uri="{FF2B5EF4-FFF2-40B4-BE49-F238E27FC236}">
                <a16:creationId xmlns:a16="http://schemas.microsoft.com/office/drawing/2014/main" id="{79BCA042-93AA-416C-96D5-71DD3DE5CA84}"/>
              </a:ext>
            </a:extLst>
          </p:cNvPr>
          <p:cNvSpPr>
            <a:spLocks xmlns:a="http://schemas.openxmlformats.org/drawingml/2006/main" noGrp="1"/>
          </p:cNvSpPr>
          <p:nvPr/>
        </p:nvSpPr>
        <p:spPr>
          <a:xfrm xmlns:a="http://schemas.openxmlformats.org/drawingml/2006/main">
            <a:off x="5143500" y="2628900"/>
            <a:ext cx="1905000" cy="1162050"/>
          </a:xfrm>
          <a:prstGeom xmlns:a="http://schemas.openxmlformats.org/drawingml/2006/main" prst="roundRect">
            <a:avLst>
              <a:gd name="adj" fmla="val 13115"/>
            </a:avLst>
          </a:prstGeom>
          <a:solidFill xmlns:a="http://schemas.openxmlformats.org/drawingml/2006/main">
            <a:srgbClr val="FFF0CF"/>
          </a:solidFill>
          <a:ln xmlns:a="http://schemas.openxmlformats.org/drawingml/2006/main" w="9525">
            <a:solidFill>
              <a:srgbClr val="E5C77E"/>
            </a:solidFill>
            <a:prstDash val="solid"/>
          </a:ln>
        </p:spPr>
      </p:sp>
      <p:sp>
        <p:nvSpPr>
          <p:cNvPr id="20" name="">
            <a:extLst xmlns:a="http://schemas.openxmlformats.org/drawingml/2006/main">
              <a:ext uri="{FF2B5EF4-FFF2-40B4-BE49-F238E27FC236}">
                <a16:creationId xmlns:a16="http://schemas.microsoft.com/office/drawing/2014/main" id="{1A6EA63C-8E47-4957-A3BB-F01DEB29F7C8}"/>
              </a:ext>
            </a:extLst>
          </p:cNvPr>
          <p:cNvSpPr>
            <a:spLocks xmlns:a="http://schemas.openxmlformats.org/drawingml/2006/main" noGrp="1"/>
          </p:cNvSpPr>
          <p:nvPr/>
        </p:nvSpPr>
        <p:spPr>
          <a:xfrm xmlns:a="http://schemas.openxmlformats.org/drawingml/2006/main">
            <a:off x="5314950" y="2743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SEQUENCE 03</a:t>
            </a:r>
          </a:p>
        </p:txBody>
      </p:sp>
      <p:sp>
        <p:nvSpPr>
          <p:cNvPr id="21" name="">
            <a:extLst xmlns:a="http://schemas.openxmlformats.org/drawingml/2006/main">
              <a:ext uri="{FF2B5EF4-FFF2-40B4-BE49-F238E27FC236}">
                <a16:creationId xmlns:a16="http://schemas.microsoft.com/office/drawing/2014/main" id="{2C4003EB-DB64-4D4F-AE3D-12CD68212790}"/>
              </a:ext>
            </a:extLst>
          </p:cNvPr>
          <p:cNvSpPr>
            <a:spLocks xmlns:a="http://schemas.openxmlformats.org/drawingml/2006/main" noGrp="1"/>
          </p:cNvSpPr>
          <p:nvPr/>
        </p:nvSpPr>
        <p:spPr>
          <a:xfrm xmlns:a="http://schemas.openxmlformats.org/drawingml/2006/main">
            <a:off x="5314950" y="2952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B2B36"/>
                </a:solidFill>
                <a:latin typeface="Arial"/>
                <a:ea typeface="Arial"/>
                <a:cs typeface="Arial"/>
              </a:defRPr>
            </a:pPr>
            <a:r>
              <a:rPr sz="1275" b="1">
                <a:solidFill>
                  <a:srgbClr val="1B2B36"/>
                </a:solidFill>
                <a:latin typeface="Arial"/>
                <a:ea typeface="Arial"/>
                <a:cs typeface="Arial"/>
              </a:rPr>
              <a:t>THEN</a:t>
            </a:r>
          </a:p>
        </p:txBody>
      </p:sp>
      <p:sp>
        <p:nvSpPr>
          <p:cNvPr id="22" name="">
            <a:extLst xmlns:a="http://schemas.openxmlformats.org/drawingml/2006/main">
              <a:ext uri="{FF2B5EF4-FFF2-40B4-BE49-F238E27FC236}">
                <a16:creationId xmlns:a16="http://schemas.microsoft.com/office/drawing/2014/main" id="{979B17BB-9FB5-4C69-A76C-ACA9C93E0E98}"/>
              </a:ext>
            </a:extLst>
          </p:cNvPr>
          <p:cNvSpPr>
            <a:spLocks xmlns:a="http://schemas.openxmlformats.org/drawingml/2006/main" noGrp="1"/>
          </p:cNvSpPr>
          <p:nvPr/>
        </p:nvSpPr>
        <p:spPr>
          <a:xfrm xmlns:a="http://schemas.openxmlformats.org/drawingml/2006/main">
            <a:off x="5314950" y="3333750"/>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Agent ↔ Tool Gateway integration</a:t>
            </a:r>
          </a:p>
        </p:txBody>
      </p:sp>
      <p:sp>
        <p:nvSpPr>
          <p:cNvPr id="23" name="">
            <a:extLst xmlns:a="http://schemas.openxmlformats.org/drawingml/2006/main">
              <a:ext uri="{FF2B5EF4-FFF2-40B4-BE49-F238E27FC236}">
                <a16:creationId xmlns:a16="http://schemas.microsoft.com/office/drawing/2014/main" id="{AE68A45E-03B8-4C10-AF5D-441BFA5E9883}"/>
              </a:ext>
            </a:extLst>
          </p:cNvPr>
          <p:cNvSpPr>
            <a:spLocks xmlns:a="http://schemas.openxmlformats.org/drawingml/2006/main" noGrp="1"/>
          </p:cNvSpPr>
          <p:nvPr/>
        </p:nvSpPr>
        <p:spPr>
          <a:xfrm xmlns:a="http://schemas.openxmlformats.org/drawingml/2006/main">
            <a:off x="7286625" y="31051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6" name=""/>
          <p:cNvCxnSpPr>
            <a:stCxn xmlns:a="http://schemas.openxmlformats.org/drawingml/2006/main" id="19" idx="3"/>
            <a:endCxn xmlns:a="http://schemas.openxmlformats.org/drawingml/2006/main" id="23" idx="1"/>
          </p:cNvCxnSpPr>
          <p:nvPr/>
        </p:nvCxnSpPr>
        <p:spPr>
          <a:xfrm xmlns:a="http://schemas.openxmlformats.org/drawingml/2006/main" flipV="1">
            <a:off x="7048500" y="3114675"/>
            <a:ext cx="238125" cy="95250"/>
          </a:xfrm>
          <a:prstGeom xmlns:a="http://schemas.openxmlformats.org/drawingml/2006/main" prst="straightConnector1">
            <a:avLst/>
          </a:prstGeom>
          <a:ln xmlns:a="http://schemas.openxmlformats.org/drawingml/2006/main" w="19050">
            <a:solidFill>
              <a:srgbClr val="D79A2B"/>
            </a:solidFill>
            <a:prstDash val="solid"/>
            <a:tailEnd type="triangle" w="sm" len="sm"/>
          </a:ln>
        </p:spPr>
      </p:cxnSp>
      <p:sp>
        <p:nvSpPr>
          <p:cNvPr id="25" name="">
            <a:extLst xmlns:a="http://schemas.openxmlformats.org/drawingml/2006/main">
              <a:ext uri="{FF2B5EF4-FFF2-40B4-BE49-F238E27FC236}">
                <a16:creationId xmlns:a16="http://schemas.microsoft.com/office/drawing/2014/main" id="{5E3C9F9A-E159-4BBC-8950-25A00BD492DE}"/>
              </a:ext>
            </a:extLst>
          </p:cNvPr>
          <p:cNvSpPr>
            <a:spLocks xmlns:a="http://schemas.openxmlformats.org/drawingml/2006/main" noGrp="1"/>
          </p:cNvSpPr>
          <p:nvPr/>
        </p:nvSpPr>
        <p:spPr>
          <a:xfrm xmlns:a="http://schemas.openxmlformats.org/drawingml/2006/main">
            <a:off x="7381875" y="2628900"/>
            <a:ext cx="1905000" cy="1162050"/>
          </a:xfrm>
          <a:prstGeom xmlns:a="http://schemas.openxmlformats.org/drawingml/2006/main" prst="roundRect">
            <a:avLst>
              <a:gd name="adj" fmla="val 13115"/>
            </a:avLst>
          </a:prstGeom>
          <a:solidFill xmlns:a="http://schemas.openxmlformats.org/drawingml/2006/main">
            <a:srgbClr val="FFF0CF"/>
          </a:solidFill>
          <a:ln xmlns:a="http://schemas.openxmlformats.org/drawingml/2006/main" w="9525">
            <a:solidFill>
              <a:srgbClr val="E5C77E"/>
            </a:solidFill>
            <a:prstDash val="solid"/>
          </a:ln>
        </p:spPr>
      </p:sp>
      <p:sp>
        <p:nvSpPr>
          <p:cNvPr id="26" name="">
            <a:extLst xmlns:a="http://schemas.openxmlformats.org/drawingml/2006/main">
              <a:ext uri="{FF2B5EF4-FFF2-40B4-BE49-F238E27FC236}">
                <a16:creationId xmlns:a16="http://schemas.microsoft.com/office/drawing/2014/main" id="{EC17498A-2FAD-4BDC-9567-B49BDBBAC67C}"/>
              </a:ext>
            </a:extLst>
          </p:cNvPr>
          <p:cNvSpPr>
            <a:spLocks xmlns:a="http://schemas.openxmlformats.org/drawingml/2006/main" noGrp="1"/>
          </p:cNvSpPr>
          <p:nvPr/>
        </p:nvSpPr>
        <p:spPr>
          <a:xfrm xmlns:a="http://schemas.openxmlformats.org/drawingml/2006/main">
            <a:off x="7553325" y="2743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9A6A12"/>
                </a:solidFill>
                <a:latin typeface="Arial"/>
                <a:ea typeface="Arial"/>
                <a:cs typeface="Arial"/>
              </a:defRPr>
            </a:pPr>
            <a:r>
              <a:rPr sz="975" b="1">
                <a:solidFill>
                  <a:srgbClr val="9A6A12"/>
                </a:solidFill>
                <a:latin typeface="Arial"/>
                <a:ea typeface="Arial"/>
                <a:cs typeface="Arial"/>
              </a:rPr>
              <a:t>SEQUENCE 04</a:t>
            </a:r>
          </a:p>
        </p:txBody>
      </p:sp>
      <p:sp>
        <p:nvSpPr>
          <p:cNvPr id="27" name="">
            <a:extLst xmlns:a="http://schemas.openxmlformats.org/drawingml/2006/main">
              <a:ext uri="{FF2B5EF4-FFF2-40B4-BE49-F238E27FC236}">
                <a16:creationId xmlns:a16="http://schemas.microsoft.com/office/drawing/2014/main" id="{13DE43D9-A29A-409B-BFF9-52FE18D589C1}"/>
              </a:ext>
            </a:extLst>
          </p:cNvPr>
          <p:cNvSpPr>
            <a:spLocks xmlns:a="http://schemas.openxmlformats.org/drawingml/2006/main" noGrp="1"/>
          </p:cNvSpPr>
          <p:nvPr/>
        </p:nvSpPr>
        <p:spPr>
          <a:xfrm xmlns:a="http://schemas.openxmlformats.org/drawingml/2006/main">
            <a:off x="7553325" y="2952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B2B36"/>
                </a:solidFill>
                <a:latin typeface="Arial"/>
                <a:ea typeface="Arial"/>
                <a:cs typeface="Arial"/>
              </a:defRPr>
            </a:pPr>
            <a:r>
              <a:rPr sz="1275" b="1">
                <a:solidFill>
                  <a:srgbClr val="1B2B36"/>
                </a:solidFill>
                <a:latin typeface="Arial"/>
                <a:ea typeface="Arial"/>
                <a:cs typeface="Arial"/>
              </a:rPr>
              <a:t>THEN</a:t>
            </a:r>
          </a:p>
        </p:txBody>
      </p:sp>
      <p:sp>
        <p:nvSpPr>
          <p:cNvPr id="28" name="">
            <a:extLst xmlns:a="http://schemas.openxmlformats.org/drawingml/2006/main">
              <a:ext uri="{FF2B5EF4-FFF2-40B4-BE49-F238E27FC236}">
                <a16:creationId xmlns:a16="http://schemas.microsoft.com/office/drawing/2014/main" id="{F8024AED-6379-4473-9B1B-5E024DF6C01E}"/>
              </a:ext>
            </a:extLst>
          </p:cNvPr>
          <p:cNvSpPr>
            <a:spLocks xmlns:a="http://schemas.openxmlformats.org/drawingml/2006/main" noGrp="1"/>
          </p:cNvSpPr>
          <p:nvPr/>
        </p:nvSpPr>
        <p:spPr>
          <a:xfrm xmlns:a="http://schemas.openxmlformats.org/drawingml/2006/main">
            <a:off x="7553325" y="3333750"/>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Durable processing + retries</a:t>
            </a:r>
          </a:p>
        </p:txBody>
      </p:sp>
      <p:sp>
        <p:nvSpPr>
          <p:cNvPr id="29" name="">
            <a:extLst xmlns:a="http://schemas.openxmlformats.org/drawingml/2006/main">
              <a:ext uri="{FF2B5EF4-FFF2-40B4-BE49-F238E27FC236}">
                <a16:creationId xmlns:a16="http://schemas.microsoft.com/office/drawing/2014/main" id="{A045057B-4895-4802-A214-5E36C70C8BCC}"/>
              </a:ext>
            </a:extLst>
          </p:cNvPr>
          <p:cNvSpPr>
            <a:spLocks xmlns:a="http://schemas.openxmlformats.org/drawingml/2006/main" noGrp="1"/>
          </p:cNvSpPr>
          <p:nvPr/>
        </p:nvSpPr>
        <p:spPr>
          <a:xfrm xmlns:a="http://schemas.openxmlformats.org/drawingml/2006/main">
            <a:off x="9525000" y="31051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72" name=""/>
          <p:cNvCxnSpPr>
            <a:stCxn xmlns:a="http://schemas.openxmlformats.org/drawingml/2006/main" id="25" idx="3"/>
            <a:endCxn xmlns:a="http://schemas.openxmlformats.org/drawingml/2006/main" id="29" idx="1"/>
          </p:cNvCxnSpPr>
          <p:nvPr/>
        </p:nvCxnSpPr>
        <p:spPr>
          <a:xfrm xmlns:a="http://schemas.openxmlformats.org/drawingml/2006/main" flipV="1">
            <a:off x="9286875" y="3114675"/>
            <a:ext cx="238125" cy="95250"/>
          </a:xfrm>
          <a:prstGeom xmlns:a="http://schemas.openxmlformats.org/drawingml/2006/main" prst="straightConnector1">
            <a:avLst/>
          </a:prstGeom>
          <a:ln xmlns:a="http://schemas.openxmlformats.org/drawingml/2006/main" w="19050">
            <a:solidFill>
              <a:srgbClr val="D79A2B"/>
            </a:solidFill>
            <a:prstDash val="solid"/>
            <a:tailEnd type="triangle" w="sm" len="sm"/>
          </a:ln>
        </p:spPr>
      </p:cxnSp>
      <p:sp>
        <p:nvSpPr>
          <p:cNvPr id="31" name="">
            <a:extLst xmlns:a="http://schemas.openxmlformats.org/drawingml/2006/main">
              <a:ext uri="{FF2B5EF4-FFF2-40B4-BE49-F238E27FC236}">
                <a16:creationId xmlns:a16="http://schemas.microsoft.com/office/drawing/2014/main" id="{88E9F252-BA2B-4BCB-97D3-080A0794E68B}"/>
              </a:ext>
            </a:extLst>
          </p:cNvPr>
          <p:cNvSpPr>
            <a:spLocks xmlns:a="http://schemas.openxmlformats.org/drawingml/2006/main" noGrp="1"/>
          </p:cNvSpPr>
          <p:nvPr/>
        </p:nvSpPr>
        <p:spPr>
          <a:xfrm xmlns:a="http://schemas.openxmlformats.org/drawingml/2006/main">
            <a:off x="9620250" y="2628900"/>
            <a:ext cx="1905000" cy="1162050"/>
          </a:xfrm>
          <a:prstGeom xmlns:a="http://schemas.openxmlformats.org/drawingml/2006/main" prst="roundRect">
            <a:avLst>
              <a:gd name="adj" fmla="val 13115"/>
            </a:avLst>
          </a:prstGeom>
          <a:solidFill xmlns:a="http://schemas.openxmlformats.org/drawingml/2006/main">
            <a:srgbClr val="E9EEEC"/>
          </a:solidFill>
          <a:ln xmlns:a="http://schemas.openxmlformats.org/drawingml/2006/main" w="9525">
            <a:solidFill>
              <a:srgbClr val="D8DFDF"/>
            </a:solidFill>
            <a:prstDash val="solid"/>
          </a:ln>
        </p:spPr>
      </p:sp>
      <p:sp>
        <p:nvSpPr>
          <p:cNvPr id="32" name="">
            <a:extLst xmlns:a="http://schemas.openxmlformats.org/drawingml/2006/main">
              <a:ext uri="{FF2B5EF4-FFF2-40B4-BE49-F238E27FC236}">
                <a16:creationId xmlns:a16="http://schemas.microsoft.com/office/drawing/2014/main" id="{BE05E5FD-2E08-411D-92CA-431005185112}"/>
              </a:ext>
            </a:extLst>
          </p:cNvPr>
          <p:cNvSpPr>
            <a:spLocks xmlns:a="http://schemas.openxmlformats.org/drawingml/2006/main" noGrp="1"/>
          </p:cNvSpPr>
          <p:nvPr/>
        </p:nvSpPr>
        <p:spPr>
          <a:xfrm xmlns:a="http://schemas.openxmlformats.org/drawingml/2006/main">
            <a:off x="9791700" y="2743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0263B"/>
                </a:solidFill>
                <a:latin typeface="Arial"/>
                <a:ea typeface="Arial"/>
                <a:cs typeface="Arial"/>
              </a:defRPr>
            </a:pPr>
            <a:r>
              <a:rPr sz="975" b="1">
                <a:solidFill>
                  <a:srgbClr val="10263B"/>
                </a:solidFill>
                <a:latin typeface="Arial"/>
                <a:ea typeface="Arial"/>
                <a:cs typeface="Arial"/>
              </a:rPr>
              <a:t>SEQUENCE 05</a:t>
            </a:r>
          </a:p>
        </p:txBody>
      </p:sp>
      <p:sp>
        <p:nvSpPr>
          <p:cNvPr id="33" name="">
            <a:extLst xmlns:a="http://schemas.openxmlformats.org/drawingml/2006/main">
              <a:ext uri="{FF2B5EF4-FFF2-40B4-BE49-F238E27FC236}">
                <a16:creationId xmlns:a16="http://schemas.microsoft.com/office/drawing/2014/main" id="{699E6AD7-E0AD-436E-9121-98AA72A1EC82}"/>
              </a:ext>
            </a:extLst>
          </p:cNvPr>
          <p:cNvSpPr>
            <a:spLocks xmlns:a="http://schemas.openxmlformats.org/drawingml/2006/main" noGrp="1"/>
          </p:cNvSpPr>
          <p:nvPr/>
        </p:nvSpPr>
        <p:spPr>
          <a:xfrm xmlns:a="http://schemas.openxmlformats.org/drawingml/2006/main">
            <a:off x="9791700" y="2952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1B2B36"/>
                </a:solidFill>
                <a:latin typeface="Arial"/>
                <a:ea typeface="Arial"/>
                <a:cs typeface="Arial"/>
              </a:defRPr>
            </a:pPr>
            <a:r>
              <a:rPr sz="1275" b="1">
                <a:solidFill>
                  <a:srgbClr val="1B2B36"/>
                </a:solidFill>
                <a:latin typeface="Arial"/>
                <a:ea typeface="Arial"/>
                <a:cs typeface="Arial"/>
              </a:rPr>
              <a:t>GOAL</a:t>
            </a:r>
          </a:p>
        </p:txBody>
      </p:sp>
      <p:sp>
        <p:nvSpPr>
          <p:cNvPr id="34" name="">
            <a:extLst xmlns:a="http://schemas.openxmlformats.org/drawingml/2006/main">
              <a:ext uri="{FF2B5EF4-FFF2-40B4-BE49-F238E27FC236}">
                <a16:creationId xmlns:a16="http://schemas.microsoft.com/office/drawing/2014/main" id="{DDC60AA3-FC45-453A-9F46-20E41288CC20}"/>
              </a:ext>
            </a:extLst>
          </p:cNvPr>
          <p:cNvSpPr>
            <a:spLocks xmlns:a="http://schemas.openxmlformats.org/drawingml/2006/main" noGrp="1"/>
          </p:cNvSpPr>
          <p:nvPr/>
        </p:nvSpPr>
        <p:spPr>
          <a:xfrm xmlns:a="http://schemas.openxmlformats.org/drawingml/2006/main">
            <a:off x="9791700" y="3333750"/>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E6C74"/>
                </a:solidFill>
                <a:latin typeface="Arial"/>
                <a:ea typeface="Arial"/>
                <a:cs typeface="Arial"/>
              </a:defRPr>
            </a:pPr>
            <a:r>
              <a:rPr sz="1050" b="0">
                <a:solidFill>
                  <a:srgbClr val="5E6C74"/>
                </a:solidFill>
                <a:latin typeface="Arial"/>
                <a:ea typeface="Arial"/>
                <a:cs typeface="Arial"/>
              </a:rPr>
              <a:t>End-to-end process evaluation</a:t>
            </a:r>
          </a:p>
        </p:txBody>
      </p:sp>
      <p:sp>
        <p:nvSpPr>
          <p:cNvPr id="35" name="">
            <a:extLst xmlns:a="http://schemas.openxmlformats.org/drawingml/2006/main">
              <a:ext uri="{FF2B5EF4-FFF2-40B4-BE49-F238E27FC236}">
                <a16:creationId xmlns:a16="http://schemas.microsoft.com/office/drawing/2014/main" id="{78C43156-DA32-4C20-AC05-E42360F86DFC}"/>
              </a:ext>
            </a:extLst>
          </p:cNvPr>
          <p:cNvSpPr>
            <a:spLocks xmlns:a="http://schemas.openxmlformats.org/drawingml/2006/main" noGrp="1"/>
          </p:cNvSpPr>
          <p:nvPr/>
        </p:nvSpPr>
        <p:spPr>
          <a:xfrm xmlns:a="http://schemas.openxmlformats.org/drawingml/2006/main">
            <a:off x="666750" y="4267200"/>
            <a:ext cx="51911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8DFDF"/>
            </a:solidFill>
            <a:prstDash val="solid"/>
          </a:ln>
        </p:spPr>
      </p:sp>
      <p:sp>
        <p:nvSpPr>
          <p:cNvPr id="36" name="">
            <a:extLst xmlns:a="http://schemas.openxmlformats.org/drawingml/2006/main">
              <a:ext uri="{FF2B5EF4-FFF2-40B4-BE49-F238E27FC236}">
                <a16:creationId xmlns:a16="http://schemas.microsoft.com/office/drawing/2014/main" id="{B5877C8F-23C6-4B7E-B594-E44606E46CA6}"/>
              </a:ext>
            </a:extLst>
          </p:cNvPr>
          <p:cNvSpPr>
            <a:spLocks xmlns:a="http://schemas.openxmlformats.org/drawingml/2006/main" noGrp="1"/>
          </p:cNvSpPr>
          <p:nvPr/>
        </p:nvSpPr>
        <p:spPr>
          <a:xfrm xmlns:a="http://schemas.openxmlformats.org/drawingml/2006/main">
            <a:off x="838200" y="4381500"/>
            <a:ext cx="48482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68C88"/>
                </a:solidFill>
                <a:latin typeface="Arial"/>
                <a:ea typeface="Arial"/>
                <a:cs typeface="Arial"/>
              </a:defRPr>
            </a:pPr>
            <a:r>
              <a:rPr sz="975" b="1">
                <a:solidFill>
                  <a:srgbClr val="168C88"/>
                </a:solidFill>
                <a:latin typeface="Arial"/>
                <a:ea typeface="Arial"/>
                <a:cs typeface="Arial"/>
              </a:rPr>
              <a:t>EVIDENCE BOUNDARY</a:t>
            </a:r>
          </a:p>
        </p:txBody>
      </p:sp>
      <p:sp>
        <p:nvSpPr>
          <p:cNvPr id="37" name="">
            <a:extLst xmlns:a="http://schemas.openxmlformats.org/drawingml/2006/main">
              <a:ext uri="{FF2B5EF4-FFF2-40B4-BE49-F238E27FC236}">
                <a16:creationId xmlns:a16="http://schemas.microsoft.com/office/drawing/2014/main" id="{72E3AAE1-A646-48B0-B7AF-3BA3318D9888}"/>
              </a:ext>
            </a:extLst>
          </p:cNvPr>
          <p:cNvSpPr>
            <a:spLocks xmlns:a="http://schemas.openxmlformats.org/drawingml/2006/main" noGrp="1"/>
          </p:cNvSpPr>
          <p:nvPr/>
        </p:nvSpPr>
        <p:spPr>
          <a:xfrm xmlns:a="http://schemas.openxmlformats.org/drawingml/2006/main">
            <a:off x="838200" y="4591050"/>
            <a:ext cx="4848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B2B36"/>
                </a:solidFill>
                <a:latin typeface="Arial"/>
                <a:ea typeface="Arial"/>
                <a:cs typeface="Arial"/>
              </a:defRPr>
            </a:pPr>
            <a:r>
              <a:rPr sz="1500" b="1">
                <a:solidFill>
                  <a:srgbClr val="1B2B36"/>
                </a:solidFill>
                <a:latin typeface="Arial"/>
                <a:ea typeface="Arial"/>
                <a:cs typeface="Arial"/>
              </a:rPr>
              <a:t>CURRENT LIMITS</a:t>
            </a:r>
          </a:p>
        </p:txBody>
      </p:sp>
      <p:sp>
        <p:nvSpPr>
          <p:cNvPr id="38" name="">
            <a:extLst xmlns:a="http://schemas.openxmlformats.org/drawingml/2006/main">
              <a:ext uri="{FF2B5EF4-FFF2-40B4-BE49-F238E27FC236}">
                <a16:creationId xmlns:a16="http://schemas.microsoft.com/office/drawing/2014/main" id="{87CE455F-AD12-410D-BAF3-73FE1E0C0B46}"/>
              </a:ext>
            </a:extLst>
          </p:cNvPr>
          <p:cNvSpPr>
            <a:spLocks xmlns:a="http://schemas.openxmlformats.org/drawingml/2006/main" noGrp="1"/>
          </p:cNvSpPr>
          <p:nvPr/>
        </p:nvSpPr>
        <p:spPr>
          <a:xfrm xmlns:a="http://schemas.openxmlformats.org/drawingml/2006/main">
            <a:off x="838200" y="5048250"/>
            <a:ext cx="484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06"/>
          </a:bodyPr>
          <a:lstStyle xmlns:a="http://schemas.openxmlformats.org/drawingml/2006/main"/>
          <a:p xmlns:a="http://schemas.openxmlformats.org/drawingml/2006/main">
            <a:pPr algn="l">
              <a:lnSpc>
                <a:spcPct val="112000"/>
              </a:lnSpc>
              <a:buNone/>
              <a:defRPr sz="1200" b="0">
                <a:solidFill>
                  <a:srgbClr val="5E6C74"/>
                </a:solidFill>
                <a:latin typeface="Arial"/>
                <a:ea typeface="Arial"/>
                <a:cs typeface="Arial"/>
              </a:defRPr>
            </a:pPr>
            <a:r>
              <a:rPr sz="1200" b="0">
                <a:solidFill>
                  <a:srgbClr val="5E6C74"/>
                </a:solidFill>
                <a:latin typeface="Arial"/>
                <a:ea typeface="Arial"/>
                <a:cs typeface="Arial"/>
              </a:rPr>
              <a:t>No live Tesseract OCR run; Ollama has not been evaluated on representative documents; the processing endpoint runs inline; agent orchestration is not connected.</a:t>
            </a:r>
          </a:p>
        </p:txBody>
      </p:sp>
      <p:sp>
        <p:nvSpPr>
          <p:cNvPr id="39" name="">
            <a:extLst xmlns:a="http://schemas.openxmlformats.org/drawingml/2006/main">
              <a:ext uri="{FF2B5EF4-FFF2-40B4-BE49-F238E27FC236}">
                <a16:creationId xmlns:a16="http://schemas.microsoft.com/office/drawing/2014/main" id="{355BB34C-FED8-48F6-AA69-F5FB33EE45EF}"/>
              </a:ext>
            </a:extLst>
          </p:cNvPr>
          <p:cNvSpPr>
            <a:spLocks xmlns:a="http://schemas.openxmlformats.org/drawingml/2006/main" noGrp="1"/>
          </p:cNvSpPr>
          <p:nvPr/>
        </p:nvSpPr>
        <p:spPr>
          <a:xfrm xmlns:a="http://schemas.openxmlformats.org/drawingml/2006/main">
            <a:off x="6334125" y="4267200"/>
            <a:ext cx="5191125" cy="1428750"/>
          </a:xfrm>
          <a:prstGeom xmlns:a="http://schemas.openxmlformats.org/drawingml/2006/main" prst="roundRect">
            <a:avLst>
              <a:gd name="adj" fmla="val 10667"/>
            </a:avLst>
          </a:prstGeom>
          <a:solidFill xmlns:a="http://schemas.openxmlformats.org/drawingml/2006/main">
            <a:srgbClr val="10263B"/>
          </a:solidFill>
          <a:ln xmlns:a="http://schemas.openxmlformats.org/drawingml/2006/main" w="9525">
            <a:solidFill>
              <a:srgbClr val="10263B"/>
            </a:solidFill>
            <a:prstDash val="solid"/>
          </a:ln>
        </p:spPr>
      </p:sp>
      <p:sp>
        <p:nvSpPr>
          <p:cNvPr id="40" name="">
            <a:extLst xmlns:a="http://schemas.openxmlformats.org/drawingml/2006/main">
              <a:ext uri="{FF2B5EF4-FFF2-40B4-BE49-F238E27FC236}">
                <a16:creationId xmlns:a16="http://schemas.microsoft.com/office/drawing/2014/main" id="{5DF08593-ACD6-4D65-8A12-DCBC9BEB2DA3}"/>
              </a:ext>
            </a:extLst>
          </p:cNvPr>
          <p:cNvSpPr>
            <a:spLocks xmlns:a="http://schemas.openxmlformats.org/drawingml/2006/main" noGrp="1"/>
          </p:cNvSpPr>
          <p:nvPr/>
        </p:nvSpPr>
        <p:spPr>
          <a:xfrm xmlns:a="http://schemas.openxmlformats.org/drawingml/2006/main">
            <a:off x="6505575" y="4381500"/>
            <a:ext cx="48482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EVALUATION FOCUS</a:t>
            </a:r>
          </a:p>
        </p:txBody>
      </p:sp>
      <p:sp>
        <p:nvSpPr>
          <p:cNvPr id="41" name="">
            <a:extLst xmlns:a="http://schemas.openxmlformats.org/drawingml/2006/main">
              <a:ext uri="{FF2B5EF4-FFF2-40B4-BE49-F238E27FC236}">
                <a16:creationId xmlns:a16="http://schemas.microsoft.com/office/drawing/2014/main" id="{C610A5E1-ED8B-4110-B650-E9BCE4C51B8D}"/>
              </a:ext>
            </a:extLst>
          </p:cNvPr>
          <p:cNvSpPr>
            <a:spLocks xmlns:a="http://schemas.openxmlformats.org/drawingml/2006/main" noGrp="1"/>
          </p:cNvSpPr>
          <p:nvPr/>
        </p:nvSpPr>
        <p:spPr>
          <a:xfrm xmlns:a="http://schemas.openxmlformats.org/drawingml/2006/main">
            <a:off x="6505575" y="4591050"/>
            <a:ext cx="4848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WHY THIS MATTERS</a:t>
            </a:r>
          </a:p>
        </p:txBody>
      </p:sp>
      <p:sp>
        <p:nvSpPr>
          <p:cNvPr id="42" name="">
            <a:extLst xmlns:a="http://schemas.openxmlformats.org/drawingml/2006/main">
              <a:ext uri="{FF2B5EF4-FFF2-40B4-BE49-F238E27FC236}">
                <a16:creationId xmlns:a16="http://schemas.microsoft.com/office/drawing/2014/main" id="{ADB391F4-3FFF-42EC-BBB1-F7A9AB8876F7}"/>
              </a:ext>
            </a:extLst>
          </p:cNvPr>
          <p:cNvSpPr>
            <a:spLocks xmlns:a="http://schemas.openxmlformats.org/drawingml/2006/main" noGrp="1"/>
          </p:cNvSpPr>
          <p:nvPr/>
        </p:nvSpPr>
        <p:spPr>
          <a:xfrm xmlns:a="http://schemas.openxmlformats.org/drawingml/2006/main">
            <a:off x="6505575" y="5048250"/>
            <a:ext cx="484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06"/>
          </a:bodyPr>
          <a:lstStyle xmlns:a="http://schemas.openxmlformats.org/drawingml/2006/main"/>
          <a:p xmlns:a="http://schemas.openxmlformats.org/drawingml/2006/main">
            <a:pPr algn="l">
              <a:lnSpc>
                <a:spcPct val="112000"/>
              </a:lnSpc>
              <a:buNone/>
              <a:defRPr sz="1200" b="0">
                <a:solidFill>
                  <a:srgbClr val="D2DEE3"/>
                </a:solidFill>
                <a:latin typeface="Arial"/>
                <a:ea typeface="Arial"/>
                <a:cs typeface="Arial"/>
              </a:defRPr>
            </a:pPr>
            <a:r>
              <a:rPr sz="1200" b="0">
                <a:solidFill>
                  <a:srgbClr val="D2DEE3"/>
                </a:solidFill>
                <a:latin typeface="Arial"/>
                <a:ea typeface="Arial"/>
                <a:cs typeface="Arial"/>
              </a:rPr>
              <a:t>The target is controlled automation. Validation must measure extraction quality, exception handling, and safe state changes before claiming operational readiness.</a:t>
            </a:r>
          </a:p>
        </p:txBody>
      </p:sp>
    </p:spTree>
    <p:extLst>
      <p:ext uri="{BB962C8B-B14F-4D97-AF65-F5344CB8AC3E}">
        <p14:creationId xmlns:p14="http://schemas.microsoft.com/office/powerpoint/2010/main" val="1702339313"/>
      </p:ext>
    </p:extLst>
  </p:cSld>
</p:sld>
</file>

<file path=ppt/slides/slide12.xml><?xml version="1.0" encoding="utf-8"?>
<p:sld xmlns:p="http://schemas.openxmlformats.org/presentationml/2006/main">
  <p:cSld>
    <p:bg>
      <p:bgPr>
        <a:solidFill xmlns:a="http://schemas.openxmlformats.org/drawingml/2006/main">
          <a:srgbClr val="10263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3C406C-71AA-4C88-BB73-22B4A654CF93}"/>
              </a:ext>
            </a:extLst>
          </p:cNvPr>
          <p:cNvSpPr>
            <a:spLocks xmlns:a="http://schemas.openxmlformats.org/drawingml/2006/main" noGrp="1"/>
          </p:cNvSpPr>
          <p:nvPr/>
        </p:nvSpPr>
        <p:spPr>
          <a:xfrm xmlns:a="http://schemas.openxmlformats.org/drawingml/2006/main">
            <a:off x="704850" y="628650"/>
            <a:ext cx="3381375" cy="285750"/>
          </a:xfrm>
          <a:prstGeom xmlns:a="http://schemas.openxmlformats.org/drawingml/2006/main" prst="roundRect">
            <a:avLst>
              <a:gd name="adj" fmla="val 50000"/>
            </a:avLst>
          </a:prstGeom>
          <a:solidFill xmlns:a="http://schemas.openxmlformats.org/drawingml/2006/main">
            <a:srgbClr val="21445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224AD4-8EEC-45CF-A263-F05111051BB6}"/>
              </a:ext>
            </a:extLst>
          </p:cNvPr>
          <p:cNvSpPr>
            <a:spLocks xmlns:a="http://schemas.openxmlformats.org/drawingml/2006/main" noGrp="1"/>
          </p:cNvSpPr>
          <p:nvPr/>
        </p:nvSpPr>
        <p:spPr>
          <a:xfrm xmlns:a="http://schemas.openxmlformats.org/drawingml/2006/main">
            <a:off x="800100" y="647700"/>
            <a:ext cx="3190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8BCBC4"/>
                </a:solidFill>
                <a:latin typeface="Arial"/>
                <a:ea typeface="Arial"/>
                <a:cs typeface="Arial"/>
              </a:defRPr>
            </a:pPr>
            <a:r>
              <a:rPr sz="975" b="1">
                <a:solidFill>
                  <a:srgbClr val="8BCBC4"/>
                </a:solidFill>
                <a:latin typeface="Arial"/>
                <a:ea typeface="Arial"/>
                <a:cs typeface="Arial"/>
              </a:rPr>
              <a:t>THE DESIGN FOLLOWS THE PROBLEM</a:t>
            </a:r>
          </a:p>
        </p:txBody>
      </p:sp>
      <p:sp>
        <p:nvSpPr>
          <p:cNvPr id="3" name="">
            <a:extLst xmlns:a="http://schemas.openxmlformats.org/drawingml/2006/main">
              <a:ext uri="{FF2B5EF4-FFF2-40B4-BE49-F238E27FC236}">
                <a16:creationId xmlns:a16="http://schemas.microsoft.com/office/drawing/2014/main" id="{69CEBCF3-8683-4E1D-AB46-C80D3C5638CB}"/>
              </a:ext>
            </a:extLst>
          </p:cNvPr>
          <p:cNvSpPr>
            <a:spLocks xmlns:a="http://schemas.openxmlformats.org/drawingml/2006/main" noGrp="1"/>
          </p:cNvSpPr>
          <p:nvPr/>
        </p:nvSpPr>
        <p:spPr>
          <a:xfrm xmlns:a="http://schemas.openxmlformats.org/drawingml/2006/main">
            <a:off x="704850" y="1257300"/>
            <a:ext cx="7429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Reliable automation</a:t>
            </a:r>
          </a:p>
          <a:p xmlns:a="http://schemas.openxmlformats.org/drawingml/2006/main">
            <a:pPr algn="l">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connects four things.</a:t>
            </a:r>
          </a:p>
        </p:txBody>
      </p:sp>
      <p:sp>
        <p:nvSpPr>
          <p:cNvPr id="4" name="">
            <a:extLst xmlns:a="http://schemas.openxmlformats.org/drawingml/2006/main">
              <a:ext uri="{FF2B5EF4-FFF2-40B4-BE49-F238E27FC236}">
                <a16:creationId xmlns:a16="http://schemas.microsoft.com/office/drawing/2014/main" id="{8ECE9646-4C42-467B-8735-5FED50AA7991}"/>
              </a:ext>
            </a:extLst>
          </p:cNvPr>
          <p:cNvSpPr>
            <a:spLocks xmlns:a="http://schemas.openxmlformats.org/drawingml/2006/main" noGrp="1"/>
          </p:cNvSpPr>
          <p:nvPr/>
        </p:nvSpPr>
        <p:spPr>
          <a:xfrm xmlns:a="http://schemas.openxmlformats.org/drawingml/2006/main">
            <a:off x="781050" y="278130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8BCBC4"/>
                </a:solidFill>
                <a:latin typeface="Arial"/>
                <a:ea typeface="Arial"/>
                <a:cs typeface="Arial"/>
              </a:defRPr>
            </a:pPr>
            <a:r>
              <a:rPr sz="1500" b="1">
                <a:solidFill>
                  <a:srgbClr val="8BCB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EC9782A-2082-4138-ABB3-CA9D33662A89}"/>
              </a:ext>
            </a:extLst>
          </p:cNvPr>
          <p:cNvSpPr>
            <a:spLocks xmlns:a="http://schemas.openxmlformats.org/drawingml/2006/main" noGrp="1"/>
          </p:cNvSpPr>
          <p:nvPr/>
        </p:nvSpPr>
        <p:spPr>
          <a:xfrm xmlns:a="http://schemas.openxmlformats.org/drawingml/2006/main">
            <a:off x="1428750" y="27813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UNDERSTANDING</a:t>
            </a:r>
          </a:p>
        </p:txBody>
      </p:sp>
      <p:sp>
        <p:nvSpPr>
          <p:cNvPr id="6" name="">
            <a:extLst xmlns:a="http://schemas.openxmlformats.org/drawingml/2006/main">
              <a:ext uri="{FF2B5EF4-FFF2-40B4-BE49-F238E27FC236}">
                <a16:creationId xmlns:a16="http://schemas.microsoft.com/office/drawing/2014/main" id="{33030BDA-7520-40D7-B55A-37B95BFF115D}"/>
              </a:ext>
            </a:extLst>
          </p:cNvPr>
          <p:cNvSpPr>
            <a:spLocks xmlns:a="http://schemas.openxmlformats.org/drawingml/2006/main" noGrp="1"/>
          </p:cNvSpPr>
          <p:nvPr/>
        </p:nvSpPr>
        <p:spPr>
          <a:xfrm xmlns:a="http://schemas.openxmlformats.org/drawingml/2006/main">
            <a:off x="3905250" y="2781300"/>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B6C9D1"/>
                </a:solidFill>
                <a:latin typeface="Arial"/>
                <a:ea typeface="Arial"/>
                <a:cs typeface="Arial"/>
              </a:defRPr>
            </a:pPr>
            <a:r>
              <a:rPr sz="1350" b="0">
                <a:solidFill>
                  <a:srgbClr val="B6C9D1"/>
                </a:solidFill>
                <a:latin typeface="Arial"/>
                <a:ea typeface="Arial"/>
                <a:cs typeface="Arial"/>
              </a:rPr>
              <a:t>Interpret documents</a:t>
            </a:r>
          </a:p>
        </p:txBody>
      </p:sp>
      <p:sp>
        <p:nvSpPr>
          <p:cNvPr id="7" name="">
            <a:extLst xmlns:a="http://schemas.openxmlformats.org/drawingml/2006/main">
              <a:ext uri="{FF2B5EF4-FFF2-40B4-BE49-F238E27FC236}">
                <a16:creationId xmlns:a16="http://schemas.microsoft.com/office/drawing/2014/main" id="{9DC2ECE9-1F16-428E-9945-A2E6E00CE6AC}"/>
              </a:ext>
            </a:extLst>
          </p:cNvPr>
          <p:cNvSpPr>
            <a:spLocks xmlns:a="http://schemas.openxmlformats.org/drawingml/2006/main" noGrp="1"/>
          </p:cNvSpPr>
          <p:nvPr/>
        </p:nvSpPr>
        <p:spPr>
          <a:xfrm xmlns:a="http://schemas.openxmlformats.org/drawingml/2006/main">
            <a:off x="1428750" y="3238500"/>
            <a:ext cx="7620000" cy="9525"/>
          </a:xfrm>
          <a:prstGeom xmlns:a="http://schemas.openxmlformats.org/drawingml/2006/main" prst="rect">
            <a:avLst/>
          </a:prstGeom>
          <a:solidFill xmlns:a="http://schemas.openxmlformats.org/drawingml/2006/main">
            <a:srgbClr val="35546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0967C5-121F-4A97-8521-6B07531AE523}"/>
              </a:ext>
            </a:extLst>
          </p:cNvPr>
          <p:cNvSpPr>
            <a:spLocks xmlns:a="http://schemas.openxmlformats.org/drawingml/2006/main" noGrp="1"/>
          </p:cNvSpPr>
          <p:nvPr/>
        </p:nvSpPr>
        <p:spPr>
          <a:xfrm xmlns:a="http://schemas.openxmlformats.org/drawingml/2006/main">
            <a:off x="781050" y="35242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8BCBC4"/>
                </a:solidFill>
                <a:latin typeface="Arial"/>
                <a:ea typeface="Arial"/>
                <a:cs typeface="Arial"/>
              </a:defRPr>
            </a:pPr>
            <a:r>
              <a:rPr sz="1500" b="1">
                <a:solidFill>
                  <a:srgbClr val="8BCBC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CBE3A78-63D2-4E33-B8AF-D3E09C0ED4DC}"/>
              </a:ext>
            </a:extLst>
          </p:cNvPr>
          <p:cNvSpPr>
            <a:spLocks xmlns:a="http://schemas.openxmlformats.org/drawingml/2006/main" noGrp="1"/>
          </p:cNvSpPr>
          <p:nvPr/>
        </p:nvSpPr>
        <p:spPr>
          <a:xfrm xmlns:a="http://schemas.openxmlformats.org/drawingml/2006/main">
            <a:off x="1428750" y="35242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EVIDENCE</a:t>
            </a:r>
          </a:p>
        </p:txBody>
      </p:sp>
      <p:sp>
        <p:nvSpPr>
          <p:cNvPr id="10" name="">
            <a:extLst xmlns:a="http://schemas.openxmlformats.org/drawingml/2006/main">
              <a:ext uri="{FF2B5EF4-FFF2-40B4-BE49-F238E27FC236}">
                <a16:creationId xmlns:a16="http://schemas.microsoft.com/office/drawing/2014/main" id="{76B483C3-6714-466C-BE46-AA2DC48B074B}"/>
              </a:ext>
            </a:extLst>
          </p:cNvPr>
          <p:cNvSpPr>
            <a:spLocks xmlns:a="http://schemas.openxmlformats.org/drawingml/2006/main" noGrp="1"/>
          </p:cNvSpPr>
          <p:nvPr/>
        </p:nvSpPr>
        <p:spPr>
          <a:xfrm xmlns:a="http://schemas.openxmlformats.org/drawingml/2006/main">
            <a:off x="3905250" y="3524250"/>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B6C9D1"/>
                </a:solidFill>
                <a:latin typeface="Arial"/>
                <a:ea typeface="Arial"/>
                <a:cs typeface="Arial"/>
              </a:defRPr>
            </a:pPr>
            <a:r>
              <a:rPr sz="1350" b="0">
                <a:solidFill>
                  <a:srgbClr val="B6C9D1"/>
                </a:solidFill>
                <a:latin typeface="Arial"/>
                <a:ea typeface="Arial"/>
                <a:cs typeface="Arial"/>
              </a:rPr>
              <a:t>Preserve sources + validate</a:t>
            </a:r>
          </a:p>
        </p:txBody>
      </p:sp>
      <p:sp>
        <p:nvSpPr>
          <p:cNvPr id="11" name="">
            <a:extLst xmlns:a="http://schemas.openxmlformats.org/drawingml/2006/main">
              <a:ext uri="{FF2B5EF4-FFF2-40B4-BE49-F238E27FC236}">
                <a16:creationId xmlns:a16="http://schemas.microsoft.com/office/drawing/2014/main" id="{6D8BEA53-96A7-4BC5-B582-23206C67C8DD}"/>
              </a:ext>
            </a:extLst>
          </p:cNvPr>
          <p:cNvSpPr>
            <a:spLocks xmlns:a="http://schemas.openxmlformats.org/drawingml/2006/main" noGrp="1"/>
          </p:cNvSpPr>
          <p:nvPr/>
        </p:nvSpPr>
        <p:spPr>
          <a:xfrm xmlns:a="http://schemas.openxmlformats.org/drawingml/2006/main">
            <a:off x="1428750" y="3981450"/>
            <a:ext cx="7620000" cy="9525"/>
          </a:xfrm>
          <a:prstGeom xmlns:a="http://schemas.openxmlformats.org/drawingml/2006/main" prst="rect">
            <a:avLst/>
          </a:prstGeom>
          <a:solidFill xmlns:a="http://schemas.openxmlformats.org/drawingml/2006/main">
            <a:srgbClr val="3554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BEBF35-AEF8-4791-954C-03EB820E21D7}"/>
              </a:ext>
            </a:extLst>
          </p:cNvPr>
          <p:cNvSpPr>
            <a:spLocks xmlns:a="http://schemas.openxmlformats.org/drawingml/2006/main" noGrp="1"/>
          </p:cNvSpPr>
          <p:nvPr/>
        </p:nvSpPr>
        <p:spPr>
          <a:xfrm xmlns:a="http://schemas.openxmlformats.org/drawingml/2006/main">
            <a:off x="781050" y="426720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8BCBC4"/>
                </a:solidFill>
                <a:latin typeface="Arial"/>
                <a:ea typeface="Arial"/>
                <a:cs typeface="Arial"/>
              </a:defRPr>
            </a:pPr>
            <a:r>
              <a:rPr sz="1500" b="1">
                <a:solidFill>
                  <a:srgbClr val="8BCBC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1EBACD2-6089-408F-A411-01D384652ABE}"/>
              </a:ext>
            </a:extLst>
          </p:cNvPr>
          <p:cNvSpPr>
            <a:spLocks xmlns:a="http://schemas.openxmlformats.org/drawingml/2006/main" noGrp="1"/>
          </p:cNvSpPr>
          <p:nvPr/>
        </p:nvSpPr>
        <p:spPr>
          <a:xfrm xmlns:a="http://schemas.openxmlformats.org/drawingml/2006/main">
            <a:off x="1428750" y="42672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CONTROL</a:t>
            </a:r>
          </a:p>
        </p:txBody>
      </p:sp>
      <p:sp>
        <p:nvSpPr>
          <p:cNvPr id="14" name="">
            <a:extLst xmlns:a="http://schemas.openxmlformats.org/drawingml/2006/main">
              <a:ext uri="{FF2B5EF4-FFF2-40B4-BE49-F238E27FC236}">
                <a16:creationId xmlns:a16="http://schemas.microsoft.com/office/drawing/2014/main" id="{8EA641B1-2F97-4141-800A-DB283AA9B9F6}"/>
              </a:ext>
            </a:extLst>
          </p:cNvPr>
          <p:cNvSpPr>
            <a:spLocks xmlns:a="http://schemas.openxmlformats.org/drawingml/2006/main" noGrp="1"/>
          </p:cNvSpPr>
          <p:nvPr/>
        </p:nvSpPr>
        <p:spPr>
          <a:xfrm xmlns:a="http://schemas.openxmlformats.org/drawingml/2006/main">
            <a:off x="3905250" y="4267200"/>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B6C9D1"/>
                </a:solidFill>
                <a:latin typeface="Arial"/>
                <a:ea typeface="Arial"/>
                <a:cs typeface="Arial"/>
              </a:defRPr>
            </a:pPr>
            <a:r>
              <a:rPr sz="1350" b="0">
                <a:solidFill>
                  <a:srgbClr val="B6C9D1"/>
                </a:solidFill>
                <a:latin typeface="Arial"/>
                <a:ea typeface="Arial"/>
                <a:cs typeface="Arial"/>
              </a:rPr>
              <a:t>Limit tools + govern state</a:t>
            </a:r>
          </a:p>
        </p:txBody>
      </p:sp>
      <p:sp>
        <p:nvSpPr>
          <p:cNvPr id="15" name="">
            <a:extLst xmlns:a="http://schemas.openxmlformats.org/drawingml/2006/main">
              <a:ext uri="{FF2B5EF4-FFF2-40B4-BE49-F238E27FC236}">
                <a16:creationId xmlns:a16="http://schemas.microsoft.com/office/drawing/2014/main" id="{49BCA25A-A75B-4599-B523-21EE87E3D97C}"/>
              </a:ext>
            </a:extLst>
          </p:cNvPr>
          <p:cNvSpPr>
            <a:spLocks xmlns:a="http://schemas.openxmlformats.org/drawingml/2006/main" noGrp="1"/>
          </p:cNvSpPr>
          <p:nvPr/>
        </p:nvSpPr>
        <p:spPr>
          <a:xfrm xmlns:a="http://schemas.openxmlformats.org/drawingml/2006/main">
            <a:off x="1428750" y="4724400"/>
            <a:ext cx="7620000" cy="9525"/>
          </a:xfrm>
          <a:prstGeom xmlns:a="http://schemas.openxmlformats.org/drawingml/2006/main" prst="rect">
            <a:avLst/>
          </a:prstGeom>
          <a:solidFill xmlns:a="http://schemas.openxmlformats.org/drawingml/2006/main">
            <a:srgbClr val="3554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E6B96F1-822C-4F9B-9720-D03F8E98380C}"/>
              </a:ext>
            </a:extLst>
          </p:cNvPr>
          <p:cNvSpPr>
            <a:spLocks xmlns:a="http://schemas.openxmlformats.org/drawingml/2006/main" noGrp="1"/>
          </p:cNvSpPr>
          <p:nvPr/>
        </p:nvSpPr>
        <p:spPr>
          <a:xfrm xmlns:a="http://schemas.openxmlformats.org/drawingml/2006/main">
            <a:off x="781050" y="50101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8BCBC4"/>
                </a:solidFill>
                <a:latin typeface="Arial"/>
                <a:ea typeface="Arial"/>
                <a:cs typeface="Arial"/>
              </a:defRPr>
            </a:pPr>
            <a:r>
              <a:rPr sz="1500" b="1">
                <a:solidFill>
                  <a:srgbClr val="8BCBC4"/>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F23A7348-54E4-436A-B238-937B308C7C53}"/>
              </a:ext>
            </a:extLst>
          </p:cNvPr>
          <p:cNvSpPr>
            <a:spLocks xmlns:a="http://schemas.openxmlformats.org/drawingml/2006/main" noGrp="1"/>
          </p:cNvSpPr>
          <p:nvPr/>
        </p:nvSpPr>
        <p:spPr>
          <a:xfrm xmlns:a="http://schemas.openxmlformats.org/drawingml/2006/main">
            <a:off x="1428750" y="50101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JUDGMENT</a:t>
            </a:r>
          </a:p>
        </p:txBody>
      </p:sp>
      <p:sp>
        <p:nvSpPr>
          <p:cNvPr id="18" name="">
            <a:extLst xmlns:a="http://schemas.openxmlformats.org/drawingml/2006/main">
              <a:ext uri="{FF2B5EF4-FFF2-40B4-BE49-F238E27FC236}">
                <a16:creationId xmlns:a16="http://schemas.microsoft.com/office/drawing/2014/main" id="{9C9C9344-3704-4534-8B6A-C006A1C4E1B4}"/>
              </a:ext>
            </a:extLst>
          </p:cNvPr>
          <p:cNvSpPr>
            <a:spLocks xmlns:a="http://schemas.openxmlformats.org/drawingml/2006/main" noGrp="1"/>
          </p:cNvSpPr>
          <p:nvPr/>
        </p:nvSpPr>
        <p:spPr>
          <a:xfrm xmlns:a="http://schemas.openxmlformats.org/drawingml/2006/main">
            <a:off x="3905250" y="5010150"/>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B6C9D1"/>
                </a:solidFill>
                <a:latin typeface="Arial"/>
                <a:ea typeface="Arial"/>
                <a:cs typeface="Arial"/>
              </a:defRPr>
            </a:pPr>
            <a:r>
              <a:rPr sz="1350" b="0">
                <a:solidFill>
                  <a:srgbClr val="B6C9D1"/>
                </a:solidFill>
                <a:latin typeface="Arial"/>
                <a:ea typeface="Arial"/>
                <a:cs typeface="Arial"/>
              </a:rPr>
              <a:t>Route exceptions to people</a:t>
            </a:r>
          </a:p>
        </p:txBody>
      </p:sp>
      <p:sp>
        <p:nvSpPr>
          <p:cNvPr id="19" name="">
            <a:extLst xmlns:a="http://schemas.openxmlformats.org/drawingml/2006/main">
              <a:ext uri="{FF2B5EF4-FFF2-40B4-BE49-F238E27FC236}">
                <a16:creationId xmlns:a16="http://schemas.microsoft.com/office/drawing/2014/main" id="{46904676-F513-4D0E-9F9D-FBCB7FAAAB7A}"/>
              </a:ext>
            </a:extLst>
          </p:cNvPr>
          <p:cNvSpPr>
            <a:spLocks xmlns:a="http://schemas.openxmlformats.org/drawingml/2006/main" noGrp="1"/>
          </p:cNvSpPr>
          <p:nvPr/>
        </p:nvSpPr>
        <p:spPr>
          <a:xfrm xmlns:a="http://schemas.openxmlformats.org/drawingml/2006/main">
            <a:off x="1428750" y="5467350"/>
            <a:ext cx="7620000" cy="9525"/>
          </a:xfrm>
          <a:prstGeom xmlns:a="http://schemas.openxmlformats.org/drawingml/2006/main" prst="rect">
            <a:avLst/>
          </a:prstGeom>
          <a:solidFill xmlns:a="http://schemas.openxmlformats.org/drawingml/2006/main">
            <a:srgbClr val="3554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5F715A-B984-4D52-8A6B-670494D8AC24}"/>
              </a:ext>
            </a:extLst>
          </p:cNvPr>
          <p:cNvSpPr>
            <a:spLocks xmlns:a="http://schemas.openxmlformats.org/drawingml/2006/main" noGrp="1"/>
          </p:cNvSpPr>
          <p:nvPr/>
        </p:nvSpPr>
        <p:spPr>
          <a:xfrm xmlns:a="http://schemas.openxmlformats.org/drawingml/2006/main">
            <a:off x="704850" y="602932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1">
                <a:solidFill>
                  <a:srgbClr val="8BCBC4"/>
                </a:solidFill>
                <a:latin typeface="Arial"/>
                <a:ea typeface="Arial"/>
                <a:cs typeface="Arial"/>
              </a:defRPr>
            </a:pPr>
            <a:r>
              <a:rPr sz="1875" b="1">
                <a:solidFill>
                  <a:srgbClr val="8BCBC4"/>
                </a:solidFill>
                <a:latin typeface="Arial"/>
                <a:ea typeface="Arial"/>
                <a:cs typeface="Arial"/>
              </a:rPr>
              <a:t>What should AI decide—and what should it recommend?</a:t>
            </a:r>
          </a:p>
        </p:txBody>
      </p:sp>
      <p:sp>
        <p:nvSpPr>
          <p:cNvPr id="21" name="">
            <a:extLst xmlns:a="http://schemas.openxmlformats.org/drawingml/2006/main">
              <a:ext uri="{FF2B5EF4-FFF2-40B4-BE49-F238E27FC236}">
                <a16:creationId xmlns:a16="http://schemas.microsoft.com/office/drawing/2014/main" id="{AA9C699A-A02A-4662-88F1-4A4A462ED048}"/>
              </a:ext>
            </a:extLst>
          </p:cNvPr>
          <p:cNvSpPr>
            <a:spLocks xmlns:a="http://schemas.openxmlformats.org/drawingml/2006/main" noGrp="1"/>
          </p:cNvSpPr>
          <p:nvPr/>
        </p:nvSpPr>
        <p:spPr>
          <a:xfrm xmlns:a="http://schemas.openxmlformats.org/drawingml/2006/main">
            <a:off x="70485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1">
                <a:solidFill>
                  <a:srgbClr val="B6C9D1"/>
                </a:solidFill>
                <a:latin typeface="Arial"/>
                <a:ea typeface="Arial"/>
                <a:cs typeface="Arial"/>
              </a:defRPr>
            </a:pPr>
            <a:r>
              <a:rPr sz="900" b="1">
                <a:solidFill>
                  <a:srgbClr val="B6C9D1"/>
                </a:solidFill>
                <a:latin typeface="Arial"/>
                <a:ea typeface="Arial"/>
                <a:cs typeface="Arial"/>
              </a:rPr>
              <a:t>VERIFIA  /  THANK YOU</a:t>
            </a:r>
          </a:p>
        </p:txBody>
      </p:sp>
      <p:sp>
        <p:nvSpPr>
          <p:cNvPr id="22" name="">
            <a:extLst xmlns:a="http://schemas.openxmlformats.org/drawingml/2006/main">
              <a:ext uri="{FF2B5EF4-FFF2-40B4-BE49-F238E27FC236}">
                <a16:creationId xmlns:a16="http://schemas.microsoft.com/office/drawing/2014/main" id="{63C0FA70-CA9B-4452-A14F-274270523E54}"/>
              </a:ext>
            </a:extLst>
          </p:cNvPr>
          <p:cNvSpPr>
            <a:spLocks xmlns:a="http://schemas.openxmlformats.org/drawingml/2006/main" noGrp="1"/>
          </p:cNvSpPr>
          <p:nvPr/>
        </p:nvSpPr>
        <p:spPr>
          <a:xfrm xmlns:a="http://schemas.openxmlformats.org/drawingml/2006/main">
            <a:off x="11144250" y="65151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B6C9D1"/>
                </a:solidFill>
                <a:latin typeface="Arial"/>
                <a:ea typeface="Arial"/>
                <a:cs typeface="Arial"/>
              </a:defRPr>
            </a:pPr>
            <a:r>
              <a:rPr sz="975" b="1">
                <a:solidFill>
                  <a:srgbClr val="B6C9D1"/>
                </a:solidFill>
                <a:latin typeface="Arial"/>
                <a:ea typeface="Arial"/>
                <a:cs typeface="Arial"/>
              </a:rPr>
              <a:t>12</a:t>
            </a:r>
          </a:p>
        </p:txBody>
      </p:sp>
    </p:spTree>
    <p:extLst>
      <p:ext uri="{BB962C8B-B14F-4D97-AF65-F5344CB8AC3E}">
        <p14:creationId xmlns:p14="http://schemas.microsoft.com/office/powerpoint/2010/main" val="1469108599"/>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929581B-231D-4DC9-9F0E-63A23C16BFC5}"/>
              </a:ext>
            </a:extLst>
          </p:cNvPr>
          <p:cNvSpPr>
            <a:spLocks xmlns:a="http://schemas.openxmlformats.org/drawingml/2006/main" noGrp="1"/>
          </p:cNvSpPr>
          <p:nvPr/>
        </p:nvSpPr>
        <p:spPr>
          <a:xfrm xmlns:a="http://schemas.openxmlformats.org/drawingml/2006/main">
            <a:off x="60960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68C88"/>
                </a:solidFill>
                <a:latin typeface="Arial"/>
                <a:ea typeface="Arial"/>
                <a:cs typeface="Arial"/>
              </a:defRPr>
            </a:pPr>
            <a:r>
              <a:rPr sz="1050" b="1">
                <a:solidFill>
                  <a:srgbClr val="168C88"/>
                </a:solidFill>
                <a:latin typeface="Arial"/>
                <a:ea typeface="Arial"/>
                <a:cs typeface="Arial"/>
              </a:rPr>
              <a:t>APPENDIX  /  SOURCE MATERIAL</a:t>
            </a:r>
          </a:p>
        </p:txBody>
      </p:sp>
      <p:sp>
        <p:nvSpPr>
          <p:cNvPr id="2" name="">
            <a:extLst xmlns:a="http://schemas.openxmlformats.org/drawingml/2006/main">
              <a:ext uri="{FF2B5EF4-FFF2-40B4-BE49-F238E27FC236}">
                <a16:creationId xmlns:a16="http://schemas.microsoft.com/office/drawing/2014/main" id="{48EB54A8-75FC-425A-A6E2-AC813CEEE152}"/>
              </a:ext>
            </a:extLst>
          </p:cNvPr>
          <p:cNvSpPr>
            <a:spLocks xmlns:a="http://schemas.openxmlformats.org/drawingml/2006/main" noGrp="1"/>
          </p:cNvSpPr>
          <p:nvPr/>
        </p:nvSpPr>
        <p:spPr>
          <a:xfrm xmlns:a="http://schemas.openxmlformats.org/drawingml/2006/main">
            <a:off x="609600" y="6096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550" b="1">
                <a:solidFill>
                  <a:srgbClr val="10263B"/>
                </a:solidFill>
                <a:latin typeface="Arial"/>
                <a:ea typeface="Arial"/>
                <a:cs typeface="Arial"/>
              </a:defRPr>
            </a:pPr>
            <a:r>
              <a:rPr sz="2550" b="1">
                <a:solidFill>
                  <a:srgbClr val="10263B"/>
                </a:solidFill>
                <a:latin typeface="Arial"/>
                <a:ea typeface="Arial"/>
                <a:cs typeface="Arial"/>
              </a:rPr>
              <a:t>Project references</a:t>
            </a:r>
          </a:p>
        </p:txBody>
      </p:sp>
      <p:sp>
        <p:nvSpPr>
          <p:cNvPr id="3" name="">
            <a:extLst xmlns:a="http://schemas.openxmlformats.org/drawingml/2006/main">
              <a:ext uri="{FF2B5EF4-FFF2-40B4-BE49-F238E27FC236}">
                <a16:creationId xmlns:a16="http://schemas.microsoft.com/office/drawing/2014/main" id="{63D83865-B7C9-4D15-8965-6E0ABC5AA773}"/>
              </a:ext>
            </a:extLst>
          </p:cNvPr>
          <p:cNvSpPr>
            <a:spLocks xmlns:a="http://schemas.openxmlformats.org/drawingml/2006/main" noGrp="1"/>
          </p:cNvSpPr>
          <p:nvPr/>
        </p:nvSpPr>
        <p:spPr>
          <a:xfrm xmlns:a="http://schemas.openxmlformats.org/drawingml/2006/main">
            <a:off x="609600" y="12763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6DB095-9DF4-4F5C-890B-66159416218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DD5733-3D46-49C8-AFC3-113B0CB1D52A}"/>
              </a:ext>
            </a:extLst>
          </p:cNvPr>
          <p:cNvSpPr>
            <a:spLocks xmlns:a="http://schemas.openxmlformats.org/drawingml/2006/main" noGrp="1"/>
          </p:cNvSpPr>
          <p:nvPr/>
        </p:nvSpPr>
        <p:spPr>
          <a:xfrm xmlns:a="http://schemas.openxmlformats.org/drawingml/2006/main">
            <a:off x="609600" y="65151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825" b="1">
                <a:solidFill>
                  <a:srgbClr val="5E6C74"/>
                </a:solidFill>
                <a:latin typeface="Arial"/>
                <a:ea typeface="Arial"/>
                <a:cs typeface="Arial"/>
              </a:defRPr>
            </a:pPr>
            <a:r>
              <a:rPr sz="825" b="1">
                <a:solidFill>
                  <a:srgbClr val="5E6C74"/>
                </a:solidFill>
                <a:latin typeface="Arial"/>
                <a:ea typeface="Arial"/>
                <a:cs typeface="Arial"/>
              </a:rPr>
              <a:t>VERIFIA  /  AGENTIC AI &amp; GENERATIVE AI SYSTEMS</a:t>
            </a:r>
          </a:p>
        </p:txBody>
      </p:sp>
      <p:sp>
        <p:nvSpPr>
          <p:cNvPr id="6" name="">
            <a:extLst xmlns:a="http://schemas.openxmlformats.org/drawingml/2006/main">
              <a:ext uri="{FF2B5EF4-FFF2-40B4-BE49-F238E27FC236}">
                <a16:creationId xmlns:a16="http://schemas.microsoft.com/office/drawing/2014/main" id="{93BCDBB6-62E6-4857-85B4-BC4B22A84FE6}"/>
              </a:ext>
            </a:extLst>
          </p:cNvPr>
          <p:cNvSpPr>
            <a:spLocks xmlns:a="http://schemas.openxmlformats.org/drawingml/2006/main" noGrp="1"/>
          </p:cNvSpPr>
          <p:nvPr/>
        </p:nvSpPr>
        <p:spPr>
          <a:xfrm xmlns:a="http://schemas.openxmlformats.org/drawingml/2006/main">
            <a:off x="11144250" y="64960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5E6C74"/>
                </a:solidFill>
                <a:latin typeface="Arial"/>
                <a:ea typeface="Arial"/>
                <a:cs typeface="Arial"/>
              </a:defRPr>
            </a:pPr>
            <a:r>
              <a:rPr sz="975" b="1">
                <a:solidFill>
                  <a:srgbClr val="5E6C74"/>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B08146CD-B7AA-4BED-AB78-4B5AD1774BEE}"/>
              </a:ext>
            </a:extLst>
          </p:cNvPr>
          <p:cNvSpPr>
            <a:spLocks xmlns:a="http://schemas.openxmlformats.org/drawingml/2006/main" noGrp="1"/>
          </p:cNvSpPr>
          <p:nvPr/>
        </p:nvSpPr>
        <p:spPr>
          <a:xfrm xmlns:a="http://schemas.openxmlformats.org/drawingml/2006/main">
            <a:off x="647700" y="1562100"/>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0">
                <a:solidFill>
                  <a:srgbClr val="5E6C74"/>
                </a:solidFill>
                <a:latin typeface="Arial"/>
                <a:ea typeface="Arial"/>
                <a:cs typeface="Arial"/>
              </a:defRPr>
            </a:pPr>
            <a:r>
              <a:rPr sz="1500" b="0">
                <a:solidFill>
                  <a:srgbClr val="5E6C74"/>
                </a:solidFill>
                <a:latin typeface="Arial"/>
                <a:ea typeface="Arial"/>
                <a:cs typeface="Arial"/>
              </a:rPr>
              <a:t>Use these project documents for the scope, architecture, plan, and implementation status shown in this presentation.</a:t>
            </a:r>
          </a:p>
        </p:txBody>
      </p:sp>
      <p:sp>
        <p:nvSpPr>
          <p:cNvPr id="8" name="">
            <a:extLst xmlns:a="http://schemas.openxmlformats.org/drawingml/2006/main">
              <a:ext uri="{FF2B5EF4-FFF2-40B4-BE49-F238E27FC236}">
                <a16:creationId xmlns:a16="http://schemas.microsoft.com/office/drawing/2014/main" id="{2298B647-286C-4C92-AE63-35684E24EA19}"/>
              </a:ext>
            </a:extLst>
          </p:cNvPr>
          <p:cNvSpPr>
            <a:spLocks xmlns:a="http://schemas.openxmlformats.org/drawingml/2006/main" noGrp="1"/>
          </p:cNvSpPr>
          <p:nvPr/>
        </p:nvSpPr>
        <p:spPr>
          <a:xfrm xmlns:a="http://schemas.openxmlformats.org/drawingml/2006/main">
            <a:off x="742950" y="232410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68C88"/>
                </a:solidFill>
                <a:latin typeface="Arial"/>
                <a:ea typeface="Arial"/>
                <a:cs typeface="Arial"/>
              </a:defRPr>
            </a:pPr>
            <a:r>
              <a:rPr sz="1425" b="1">
                <a:solidFill>
                  <a:srgbClr val="168C88"/>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DA78E28-7F40-4325-9213-EF5BB0D47A60}"/>
              </a:ext>
            </a:extLst>
          </p:cNvPr>
          <p:cNvSpPr>
            <a:spLocks xmlns:a="http://schemas.openxmlformats.org/drawingml/2006/main" noGrp="1"/>
          </p:cNvSpPr>
          <p:nvPr/>
        </p:nvSpPr>
        <p:spPr>
          <a:xfrm xmlns:a="http://schemas.openxmlformats.org/drawingml/2006/main">
            <a:off x="1381125" y="23241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0263B"/>
                </a:solidFill>
                <a:latin typeface="Arial"/>
                <a:ea typeface="Arial"/>
                <a:cs typeface="Arial"/>
              </a:defRPr>
            </a:pPr>
            <a:r>
              <a:rPr sz="1500" b="1">
                <a:solidFill>
                  <a:srgbClr val="10263B"/>
                </a:solidFill>
                <a:latin typeface="Arial"/>
                <a:ea typeface="Arial"/>
                <a:cs typeface="Arial"/>
              </a:rPr>
              <a:t>Product overview</a:t>
            </a:r>
          </a:p>
        </p:txBody>
      </p:sp>
      <p:sp>
        <p:nvSpPr>
          <p:cNvPr id="10" name="">
            <a:extLst xmlns:a="http://schemas.openxmlformats.org/drawingml/2006/main">
              <a:ext uri="{FF2B5EF4-FFF2-40B4-BE49-F238E27FC236}">
                <a16:creationId xmlns:a16="http://schemas.microsoft.com/office/drawing/2014/main" id="{BF55F551-D9F9-4E8B-921A-D843478836B6}"/>
              </a:ext>
            </a:extLst>
          </p:cNvPr>
          <p:cNvSpPr>
            <a:spLocks xmlns:a="http://schemas.openxmlformats.org/drawingml/2006/main" noGrp="1"/>
          </p:cNvSpPr>
          <p:nvPr/>
        </p:nvSpPr>
        <p:spPr>
          <a:xfrm xmlns:a="http://schemas.openxmlformats.org/drawingml/2006/main">
            <a:off x="4953000" y="23241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5E6C74"/>
                </a:solidFill>
                <a:latin typeface="Arial"/>
                <a:ea typeface="Arial"/>
                <a:cs typeface="Arial"/>
              </a:defRPr>
            </a:pPr>
            <a:r>
              <a:rPr sz="1125" b="0">
                <a:solidFill>
                  <a:srgbClr val="5E6C74"/>
                </a:solidFill>
                <a:latin typeface="Arial"/>
                <a:ea typeface="Arial"/>
                <a:cs typeface="Arial"/>
              </a:rPr>
              <a:t>Documentation/01-product-overview.md</a:t>
            </a:r>
          </a:p>
        </p:txBody>
      </p:sp>
      <p:sp>
        <p:nvSpPr>
          <p:cNvPr id="11" name="">
            <a:extLst xmlns:a="http://schemas.openxmlformats.org/drawingml/2006/main">
              <a:ext uri="{FF2B5EF4-FFF2-40B4-BE49-F238E27FC236}">
                <a16:creationId xmlns:a16="http://schemas.microsoft.com/office/drawing/2014/main" id="{7A28095B-55A6-4D13-86C7-7B72208BDBEC}"/>
              </a:ext>
            </a:extLst>
          </p:cNvPr>
          <p:cNvSpPr>
            <a:spLocks xmlns:a="http://schemas.openxmlformats.org/drawingml/2006/main" noGrp="1"/>
          </p:cNvSpPr>
          <p:nvPr/>
        </p:nvSpPr>
        <p:spPr>
          <a:xfrm xmlns:a="http://schemas.openxmlformats.org/drawingml/2006/main">
            <a:off x="1381125" y="26670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E6C74"/>
                </a:solidFill>
                <a:latin typeface="Arial"/>
                <a:ea typeface="Arial"/>
                <a:cs typeface="Arial"/>
              </a:defRPr>
            </a:pPr>
            <a:r>
              <a:rPr sz="1050" b="0">
                <a:solidFill>
                  <a:srgbClr val="5E6C74"/>
                </a:solidFill>
                <a:latin typeface="Arial"/>
                <a:ea typeface="Arial"/>
                <a:cs typeface="Arial"/>
              </a:rPr>
              <a:t>Project goals and scope</a:t>
            </a:r>
          </a:p>
        </p:txBody>
      </p:sp>
      <p:sp>
        <p:nvSpPr>
          <p:cNvPr id="12" name="">
            <a:extLst xmlns:a="http://schemas.openxmlformats.org/drawingml/2006/main">
              <a:ext uri="{FF2B5EF4-FFF2-40B4-BE49-F238E27FC236}">
                <a16:creationId xmlns:a16="http://schemas.microsoft.com/office/drawing/2014/main" id="{9995550C-FCDF-4C3C-89A7-D26388DBA770}"/>
              </a:ext>
            </a:extLst>
          </p:cNvPr>
          <p:cNvSpPr>
            <a:spLocks xmlns:a="http://schemas.openxmlformats.org/drawingml/2006/main" noGrp="1"/>
          </p:cNvSpPr>
          <p:nvPr/>
        </p:nvSpPr>
        <p:spPr>
          <a:xfrm xmlns:a="http://schemas.openxmlformats.org/drawingml/2006/main">
            <a:off x="1381125" y="3009900"/>
            <a:ext cx="9858375"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279D52-17E1-4D75-96B6-61FBE4204B96}"/>
              </a:ext>
            </a:extLst>
          </p:cNvPr>
          <p:cNvSpPr>
            <a:spLocks xmlns:a="http://schemas.openxmlformats.org/drawingml/2006/main" noGrp="1"/>
          </p:cNvSpPr>
          <p:nvPr/>
        </p:nvSpPr>
        <p:spPr>
          <a:xfrm xmlns:a="http://schemas.openxmlformats.org/drawingml/2006/main">
            <a:off x="742950" y="318135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68C88"/>
                </a:solidFill>
                <a:latin typeface="Arial"/>
                <a:ea typeface="Arial"/>
                <a:cs typeface="Arial"/>
              </a:defRPr>
            </a:pPr>
            <a:r>
              <a:rPr sz="1425" b="1">
                <a:solidFill>
                  <a:srgbClr val="168C88"/>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374C8EEC-E49F-4769-9B2B-D993A2B47905}"/>
              </a:ext>
            </a:extLst>
          </p:cNvPr>
          <p:cNvSpPr>
            <a:spLocks xmlns:a="http://schemas.openxmlformats.org/drawingml/2006/main" noGrp="1"/>
          </p:cNvSpPr>
          <p:nvPr/>
        </p:nvSpPr>
        <p:spPr>
          <a:xfrm xmlns:a="http://schemas.openxmlformats.org/drawingml/2006/main">
            <a:off x="1381125" y="31813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0263B"/>
                </a:solidFill>
                <a:latin typeface="Arial"/>
                <a:ea typeface="Arial"/>
                <a:cs typeface="Arial"/>
              </a:defRPr>
            </a:pPr>
            <a:r>
              <a:rPr sz="1500" b="1">
                <a:solidFill>
                  <a:srgbClr val="10263B"/>
                </a:solidFill>
                <a:latin typeface="Arial"/>
                <a:ea typeface="Arial"/>
                <a:cs typeface="Arial"/>
              </a:rPr>
              <a:t>Architecture</a:t>
            </a:r>
          </a:p>
        </p:txBody>
      </p:sp>
      <p:sp>
        <p:nvSpPr>
          <p:cNvPr id="15" name="">
            <a:extLst xmlns:a="http://schemas.openxmlformats.org/drawingml/2006/main">
              <a:ext uri="{FF2B5EF4-FFF2-40B4-BE49-F238E27FC236}">
                <a16:creationId xmlns:a16="http://schemas.microsoft.com/office/drawing/2014/main" id="{35D57A69-F9F1-4BA0-A447-042CA67C37A0}"/>
              </a:ext>
            </a:extLst>
          </p:cNvPr>
          <p:cNvSpPr>
            <a:spLocks xmlns:a="http://schemas.openxmlformats.org/drawingml/2006/main" noGrp="1"/>
          </p:cNvSpPr>
          <p:nvPr/>
        </p:nvSpPr>
        <p:spPr>
          <a:xfrm xmlns:a="http://schemas.openxmlformats.org/drawingml/2006/main">
            <a:off x="4953000" y="31813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5E6C74"/>
                </a:solidFill>
                <a:latin typeface="Arial"/>
                <a:ea typeface="Arial"/>
                <a:cs typeface="Arial"/>
              </a:defRPr>
            </a:pPr>
            <a:r>
              <a:rPr sz="1125" b="0">
                <a:solidFill>
                  <a:srgbClr val="5E6C74"/>
                </a:solidFill>
                <a:latin typeface="Arial"/>
                <a:ea typeface="Arial"/>
                <a:cs typeface="Arial"/>
              </a:rPr>
              <a:t>Documentation/02-architecture.md</a:t>
            </a:r>
          </a:p>
        </p:txBody>
      </p:sp>
      <p:sp>
        <p:nvSpPr>
          <p:cNvPr id="16" name="">
            <a:extLst xmlns:a="http://schemas.openxmlformats.org/drawingml/2006/main">
              <a:ext uri="{FF2B5EF4-FFF2-40B4-BE49-F238E27FC236}">
                <a16:creationId xmlns:a16="http://schemas.microsoft.com/office/drawing/2014/main" id="{2298E7C3-3C57-4903-BD44-88687AE89582}"/>
              </a:ext>
            </a:extLst>
          </p:cNvPr>
          <p:cNvSpPr>
            <a:spLocks xmlns:a="http://schemas.openxmlformats.org/drawingml/2006/main" noGrp="1"/>
          </p:cNvSpPr>
          <p:nvPr/>
        </p:nvSpPr>
        <p:spPr>
          <a:xfrm xmlns:a="http://schemas.openxmlformats.org/drawingml/2006/main">
            <a:off x="1381125" y="35242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E6C74"/>
                </a:solidFill>
                <a:latin typeface="Arial"/>
                <a:ea typeface="Arial"/>
                <a:cs typeface="Arial"/>
              </a:defRPr>
            </a:pPr>
            <a:r>
              <a:rPr sz="1050" b="0">
                <a:solidFill>
                  <a:srgbClr val="5E6C74"/>
                </a:solidFill>
                <a:latin typeface="Arial"/>
                <a:ea typeface="Arial"/>
                <a:cs typeface="Arial"/>
              </a:rPr>
              <a:t>System boundaries and component relationships</a:t>
            </a:r>
          </a:p>
        </p:txBody>
      </p:sp>
      <p:sp>
        <p:nvSpPr>
          <p:cNvPr id="17" name="">
            <a:extLst xmlns:a="http://schemas.openxmlformats.org/drawingml/2006/main">
              <a:ext uri="{FF2B5EF4-FFF2-40B4-BE49-F238E27FC236}">
                <a16:creationId xmlns:a16="http://schemas.microsoft.com/office/drawing/2014/main" id="{DC617CE8-6ABC-452C-B83B-E710DAC30E63}"/>
              </a:ext>
            </a:extLst>
          </p:cNvPr>
          <p:cNvSpPr>
            <a:spLocks xmlns:a="http://schemas.openxmlformats.org/drawingml/2006/main" noGrp="1"/>
          </p:cNvSpPr>
          <p:nvPr/>
        </p:nvSpPr>
        <p:spPr>
          <a:xfrm xmlns:a="http://schemas.openxmlformats.org/drawingml/2006/main">
            <a:off x="1381125" y="3867150"/>
            <a:ext cx="9858375"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DB9D28C-81F9-41DF-91BD-C34582E8B9B4}"/>
              </a:ext>
            </a:extLst>
          </p:cNvPr>
          <p:cNvSpPr>
            <a:spLocks xmlns:a="http://schemas.openxmlformats.org/drawingml/2006/main" noGrp="1"/>
          </p:cNvSpPr>
          <p:nvPr/>
        </p:nvSpPr>
        <p:spPr>
          <a:xfrm xmlns:a="http://schemas.openxmlformats.org/drawingml/2006/main">
            <a:off x="742950" y="403860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68C88"/>
                </a:solidFill>
                <a:latin typeface="Arial"/>
                <a:ea typeface="Arial"/>
                <a:cs typeface="Arial"/>
              </a:defRPr>
            </a:pPr>
            <a:r>
              <a:rPr sz="1425" b="1">
                <a:solidFill>
                  <a:srgbClr val="168C88"/>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1085F1B3-9B3F-4563-9602-02EF176A2C54}"/>
              </a:ext>
            </a:extLst>
          </p:cNvPr>
          <p:cNvSpPr>
            <a:spLocks xmlns:a="http://schemas.openxmlformats.org/drawingml/2006/main" noGrp="1"/>
          </p:cNvSpPr>
          <p:nvPr/>
        </p:nvSpPr>
        <p:spPr>
          <a:xfrm xmlns:a="http://schemas.openxmlformats.org/drawingml/2006/main">
            <a:off x="1381125" y="40386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0263B"/>
                </a:solidFill>
                <a:latin typeface="Arial"/>
                <a:ea typeface="Arial"/>
                <a:cs typeface="Arial"/>
              </a:defRPr>
            </a:pPr>
            <a:r>
              <a:rPr sz="1500" b="1">
                <a:solidFill>
                  <a:srgbClr val="10263B"/>
                </a:solidFill>
                <a:latin typeface="Arial"/>
                <a:ea typeface="Arial"/>
                <a:cs typeface="Arial"/>
              </a:rPr>
              <a:t>Detailed implementation checklist</a:t>
            </a:r>
          </a:p>
        </p:txBody>
      </p:sp>
      <p:sp>
        <p:nvSpPr>
          <p:cNvPr id="20" name="">
            <a:extLst xmlns:a="http://schemas.openxmlformats.org/drawingml/2006/main">
              <a:ext uri="{FF2B5EF4-FFF2-40B4-BE49-F238E27FC236}">
                <a16:creationId xmlns:a16="http://schemas.microsoft.com/office/drawing/2014/main" id="{644A98F6-3DA6-4FE6-8B66-A440C0ECF4EE}"/>
              </a:ext>
            </a:extLst>
          </p:cNvPr>
          <p:cNvSpPr>
            <a:spLocks xmlns:a="http://schemas.openxmlformats.org/drawingml/2006/main" noGrp="1"/>
          </p:cNvSpPr>
          <p:nvPr/>
        </p:nvSpPr>
        <p:spPr>
          <a:xfrm xmlns:a="http://schemas.openxmlformats.org/drawingml/2006/main">
            <a:off x="4953000" y="4038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5E6C74"/>
                </a:solidFill>
                <a:latin typeface="Arial"/>
                <a:ea typeface="Arial"/>
                <a:cs typeface="Arial"/>
              </a:defRPr>
            </a:pPr>
            <a:r>
              <a:rPr sz="1125" b="0">
                <a:solidFill>
                  <a:srgbClr val="5E6C74"/>
                </a:solidFill>
                <a:latin typeface="Arial"/>
                <a:ea typeface="Arial"/>
                <a:cs typeface="Arial"/>
              </a:rPr>
              <a:t>Documentation/Verifia_Detailed_Implementation_Checklist.md</a:t>
            </a:r>
          </a:p>
        </p:txBody>
      </p:sp>
      <p:sp>
        <p:nvSpPr>
          <p:cNvPr id="21" name="">
            <a:extLst xmlns:a="http://schemas.openxmlformats.org/drawingml/2006/main">
              <a:ext uri="{FF2B5EF4-FFF2-40B4-BE49-F238E27FC236}">
                <a16:creationId xmlns:a16="http://schemas.microsoft.com/office/drawing/2014/main" id="{F3CC7062-D955-4726-B9D3-CE68598BFA38}"/>
              </a:ext>
            </a:extLst>
          </p:cNvPr>
          <p:cNvSpPr>
            <a:spLocks xmlns:a="http://schemas.openxmlformats.org/drawingml/2006/main" noGrp="1"/>
          </p:cNvSpPr>
          <p:nvPr/>
        </p:nvSpPr>
        <p:spPr>
          <a:xfrm xmlns:a="http://schemas.openxmlformats.org/drawingml/2006/main">
            <a:off x="1381125" y="43815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E6C74"/>
                </a:solidFill>
                <a:latin typeface="Arial"/>
                <a:ea typeface="Arial"/>
                <a:cs typeface="Arial"/>
              </a:defRPr>
            </a:pPr>
            <a:r>
              <a:rPr sz="1050" b="0">
                <a:solidFill>
                  <a:srgbClr val="5E6C74"/>
                </a:solidFill>
                <a:latin typeface="Arial"/>
                <a:ea typeface="Arial"/>
                <a:cs typeface="Arial"/>
              </a:rPr>
              <a:t>Phases, completion criteria, and current phase status</a:t>
            </a:r>
          </a:p>
        </p:txBody>
      </p:sp>
      <p:sp>
        <p:nvSpPr>
          <p:cNvPr id="22" name="">
            <a:extLst xmlns:a="http://schemas.openxmlformats.org/drawingml/2006/main">
              <a:ext uri="{FF2B5EF4-FFF2-40B4-BE49-F238E27FC236}">
                <a16:creationId xmlns:a16="http://schemas.microsoft.com/office/drawing/2014/main" id="{6F7C0336-F3F6-454C-8A42-7EE028F4DDBB}"/>
              </a:ext>
            </a:extLst>
          </p:cNvPr>
          <p:cNvSpPr>
            <a:spLocks xmlns:a="http://schemas.openxmlformats.org/drawingml/2006/main" noGrp="1"/>
          </p:cNvSpPr>
          <p:nvPr/>
        </p:nvSpPr>
        <p:spPr>
          <a:xfrm xmlns:a="http://schemas.openxmlformats.org/drawingml/2006/main">
            <a:off x="1381125" y="4724400"/>
            <a:ext cx="9858375"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2EDE1D4-4013-4302-9C8B-B255599B5903}"/>
              </a:ext>
            </a:extLst>
          </p:cNvPr>
          <p:cNvSpPr>
            <a:spLocks xmlns:a="http://schemas.openxmlformats.org/drawingml/2006/main" noGrp="1"/>
          </p:cNvSpPr>
          <p:nvPr/>
        </p:nvSpPr>
        <p:spPr>
          <a:xfrm xmlns:a="http://schemas.openxmlformats.org/drawingml/2006/main">
            <a:off x="742950" y="489585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68C88"/>
                </a:solidFill>
                <a:latin typeface="Arial"/>
                <a:ea typeface="Arial"/>
                <a:cs typeface="Arial"/>
              </a:defRPr>
            </a:pPr>
            <a:r>
              <a:rPr sz="1425" b="1">
                <a:solidFill>
                  <a:srgbClr val="168C88"/>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29EFFE7C-6B6B-4931-B673-78BA181C9135}"/>
              </a:ext>
            </a:extLst>
          </p:cNvPr>
          <p:cNvSpPr>
            <a:spLocks xmlns:a="http://schemas.openxmlformats.org/drawingml/2006/main" noGrp="1"/>
          </p:cNvSpPr>
          <p:nvPr/>
        </p:nvSpPr>
        <p:spPr>
          <a:xfrm xmlns:a="http://schemas.openxmlformats.org/drawingml/2006/main">
            <a:off x="1381125" y="48958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10263B"/>
                </a:solidFill>
                <a:latin typeface="Arial"/>
                <a:ea typeface="Arial"/>
                <a:cs typeface="Arial"/>
              </a:defRPr>
            </a:pPr>
            <a:r>
              <a:rPr sz="1500" b="1">
                <a:solidFill>
                  <a:srgbClr val="10263B"/>
                </a:solidFill>
                <a:latin typeface="Arial"/>
                <a:ea typeface="Arial"/>
                <a:cs typeface="Arial"/>
              </a:rPr>
              <a:t>Progress report</a:t>
            </a:r>
          </a:p>
        </p:txBody>
      </p:sp>
      <p:sp>
        <p:nvSpPr>
          <p:cNvPr id="25" name="">
            <a:extLst xmlns:a="http://schemas.openxmlformats.org/drawingml/2006/main">
              <a:ext uri="{FF2B5EF4-FFF2-40B4-BE49-F238E27FC236}">
                <a16:creationId xmlns:a16="http://schemas.microsoft.com/office/drawing/2014/main" id="{C138D4DA-85FC-4597-8579-4338F25E8DD7}"/>
              </a:ext>
            </a:extLst>
          </p:cNvPr>
          <p:cNvSpPr>
            <a:spLocks xmlns:a="http://schemas.openxmlformats.org/drawingml/2006/main" noGrp="1"/>
          </p:cNvSpPr>
          <p:nvPr/>
        </p:nvSpPr>
        <p:spPr>
          <a:xfrm xmlns:a="http://schemas.openxmlformats.org/drawingml/2006/main">
            <a:off x="4953000" y="48958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5E6C74"/>
                </a:solidFill>
                <a:latin typeface="Arial"/>
                <a:ea typeface="Arial"/>
                <a:cs typeface="Arial"/>
              </a:defRPr>
            </a:pPr>
            <a:r>
              <a:rPr sz="1125" b="0">
                <a:solidFill>
                  <a:srgbClr val="5E6C74"/>
                </a:solidFill>
                <a:latin typeface="Arial"/>
                <a:ea typeface="Arial"/>
                <a:cs typeface="Arial"/>
              </a:rPr>
              <a:t>Documentation/progress_report.md</a:t>
            </a:r>
          </a:p>
        </p:txBody>
      </p:sp>
      <p:sp>
        <p:nvSpPr>
          <p:cNvPr id="26" name="">
            <a:extLst xmlns:a="http://schemas.openxmlformats.org/drawingml/2006/main">
              <a:ext uri="{FF2B5EF4-FFF2-40B4-BE49-F238E27FC236}">
                <a16:creationId xmlns:a16="http://schemas.microsoft.com/office/drawing/2014/main" id="{EDEB67BC-EDB1-4A5E-9686-801F60FB78CD}"/>
              </a:ext>
            </a:extLst>
          </p:cNvPr>
          <p:cNvSpPr>
            <a:spLocks xmlns:a="http://schemas.openxmlformats.org/drawingml/2006/main" noGrp="1"/>
          </p:cNvSpPr>
          <p:nvPr/>
        </p:nvSpPr>
        <p:spPr>
          <a:xfrm xmlns:a="http://schemas.openxmlformats.org/drawingml/2006/main">
            <a:off x="1381125" y="52387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E6C74"/>
                </a:solidFill>
                <a:latin typeface="Arial"/>
                <a:ea typeface="Arial"/>
                <a:cs typeface="Arial"/>
              </a:defRPr>
            </a:pPr>
            <a:r>
              <a:rPr sz="1050" b="0">
                <a:solidFill>
                  <a:srgbClr val="5E6C74"/>
                </a:solidFill>
                <a:latin typeface="Arial"/>
                <a:ea typeface="Arial"/>
                <a:cs typeface="Arial"/>
              </a:rPr>
              <a:t>Implemented work and remaining limitations</a:t>
            </a:r>
          </a:p>
        </p:txBody>
      </p:sp>
      <p:sp>
        <p:nvSpPr>
          <p:cNvPr id="27" name="">
            <a:extLst xmlns:a="http://schemas.openxmlformats.org/drawingml/2006/main">
              <a:ext uri="{FF2B5EF4-FFF2-40B4-BE49-F238E27FC236}">
                <a16:creationId xmlns:a16="http://schemas.microsoft.com/office/drawing/2014/main" id="{DAD4994B-0B86-40E1-818D-622E32A21E45}"/>
              </a:ext>
            </a:extLst>
          </p:cNvPr>
          <p:cNvSpPr>
            <a:spLocks xmlns:a="http://schemas.openxmlformats.org/drawingml/2006/main" noGrp="1"/>
          </p:cNvSpPr>
          <p:nvPr/>
        </p:nvSpPr>
        <p:spPr>
          <a:xfrm xmlns:a="http://schemas.openxmlformats.org/drawingml/2006/main">
            <a:off x="1381125" y="5581650"/>
            <a:ext cx="9858375" cy="9525"/>
          </a:xfrm>
          <a:prstGeom xmlns:a="http://schemas.openxmlformats.org/drawingml/2006/main" prst="rect">
            <a:avLst/>
          </a:prstGeom>
          <a:solidFill xmlns:a="http://schemas.openxmlformats.org/drawingml/2006/main">
            <a:srgbClr val="D8DFD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A1E5D82-46D6-46F1-B628-C5ECB77CAB70}"/>
              </a:ext>
            </a:extLst>
          </p:cNvPr>
          <p:cNvSpPr>
            <a:spLocks xmlns:a="http://schemas.openxmlformats.org/drawingml/2006/main" noGrp="1"/>
          </p:cNvSpPr>
          <p:nvPr/>
        </p:nvSpPr>
        <p:spPr>
          <a:xfrm xmlns:a="http://schemas.openxmlformats.org/drawingml/2006/main">
            <a:off x="647700" y="6038850"/>
            <a:ext cx="4191000" cy="285750"/>
          </a:xfrm>
          <a:prstGeom xmlns:a="http://schemas.openxmlformats.org/drawingml/2006/main" prst="roundRect">
            <a:avLst>
              <a:gd name="adj" fmla="val 50000"/>
            </a:avLst>
          </a:prstGeom>
          <a:solidFill xmlns:a="http://schemas.openxmlformats.org/drawingml/2006/main">
            <a:srgbClr val="1026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07BC669-2E0C-4029-87DB-459FB85516C0}"/>
              </a:ext>
            </a:extLst>
          </p:cNvPr>
          <p:cNvSpPr>
            <a:spLocks xmlns:a="http://schemas.openxmlformats.org/drawingml/2006/main" noGrp="1"/>
          </p:cNvSpPr>
          <p:nvPr/>
        </p:nvSpPr>
        <p:spPr>
          <a:xfrm xmlns:a="http://schemas.openxmlformats.org/drawingml/2006/main">
            <a:off x="742950" y="60579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APPENDIX SLIDE • NOT PART OF THE SPOKEN RUN TIME</a:t>
            </a:r>
          </a:p>
        </p:txBody>
      </p:sp>
    </p:spTree>
    <p:extLst>
      <p:ext uri="{BB962C8B-B14F-4D97-AF65-F5344CB8AC3E}">
        <p14:creationId xmlns:p14="http://schemas.microsoft.com/office/powerpoint/2010/main" val="1510328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2026-10-01T11:23:22.4680000Z</dcterms:created>
  <dcterms:modified xsi:type="dcterms:W3CDTF">2026-10-01T11:23:22.4680000Z</dcterms:modified>
</coreProperties>
</file>